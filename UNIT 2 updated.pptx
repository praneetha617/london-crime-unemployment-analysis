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4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345" r:id="rId24"/>
    <p:sldId id="346" r:id="rId25"/>
    <p:sldId id="347" r:id="rId26"/>
    <p:sldId id="278" r:id="rId27"/>
    <p:sldId id="279" r:id="rId28"/>
    <p:sldId id="280" r:id="rId29"/>
    <p:sldId id="281" r:id="rId30"/>
    <p:sldId id="282" r:id="rId31"/>
    <p:sldId id="283" r:id="rId32"/>
    <p:sldId id="284" r:id="rId33"/>
    <p:sldId id="285" r:id="rId34"/>
    <p:sldId id="286" r:id="rId35"/>
    <p:sldId id="287" r:id="rId36"/>
    <p:sldId id="349" r:id="rId37"/>
    <p:sldId id="350" r:id="rId38"/>
    <p:sldId id="351"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7" d="100"/>
          <a:sy n="67" d="100"/>
        </p:scale>
        <p:origin x="66"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136570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11917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8473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3997201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A5B38D-573C-45A8-BB2C-672B58CFFBBE}" type="datetimeFigureOut">
              <a:rPr lang="en-IN" smtClean="0"/>
              <a:t>09-05-2020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00377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A5B38D-573C-45A8-BB2C-672B58CFFBBE}" type="datetimeFigureOut">
              <a:rPr lang="en-IN" smtClean="0"/>
              <a:t>09-05-2020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60995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5B38D-573C-45A8-BB2C-672B58CFFBBE}" type="datetimeFigureOut">
              <a:rPr lang="en-IN" smtClean="0"/>
              <a:t>09-05-2020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20344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08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11044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2662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49829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5B38D-573C-45A8-BB2C-672B58CFFBBE}" type="datetimeFigureOut">
              <a:rPr lang="en-IN" smtClean="0"/>
              <a:t>09-05-2020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F02BB-4F70-4365-85D2-291E36C68A9D}" type="slidenum">
              <a:rPr lang="en-IN" smtClean="0"/>
              <a:t>‹#›</a:t>
            </a:fld>
            <a:endParaRPr lang="en-IN"/>
          </a:p>
        </p:txBody>
      </p:sp>
    </p:spTree>
    <p:extLst>
      <p:ext uri="{BB962C8B-B14F-4D97-AF65-F5344CB8AC3E}">
        <p14:creationId xmlns:p14="http://schemas.microsoft.com/office/powerpoint/2010/main" val="105793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passwordsgenerator.net/md5-hash-generator/"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hyperlink" Target="http://www.webopedia.com/TERM/M/memory.html" TargetMode="External"/><Relationship Id="rId3" Type="http://schemas.openxmlformats.org/officeDocument/2006/relationships/hyperlink" Target="http://www.webopedia.com/TERM/N/network.html" TargetMode="External"/><Relationship Id="rId7" Type="http://schemas.openxmlformats.org/officeDocument/2006/relationships/hyperlink" Target="http://www.webopedia.com/TERM/H/host.html" TargetMode="External"/><Relationship Id="rId2" Type="http://schemas.openxmlformats.org/officeDocument/2006/relationships/hyperlink" Target="http://www.webopedia.com/TERM/D/DOS.html" TargetMode="External"/><Relationship Id="rId1" Type="http://schemas.openxmlformats.org/officeDocument/2006/relationships/slideLayout" Target="../slideLayouts/slideLayout2.xml"/><Relationship Id="rId6" Type="http://schemas.openxmlformats.org/officeDocument/2006/relationships/hyperlink" Target="http://www.webopedia.com/TERM/S/server.html" TargetMode="External"/><Relationship Id="rId5" Type="http://schemas.openxmlformats.org/officeDocument/2006/relationships/hyperlink" Target="http://www.webopedia.com/TERM/P/packet.html" TargetMode="External"/><Relationship Id="rId4" Type="http://schemas.openxmlformats.org/officeDocument/2006/relationships/hyperlink" Target="http://www.webopedia.com/TERM/T/traffic.html" TargetMode="External"/><Relationship Id="rId9" Type="http://schemas.openxmlformats.org/officeDocument/2006/relationships/hyperlink" Target="http://www.webopedia.com/TERM/B/buffer.html"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earchunifiedcommunications.techtarget.com/definition/Internet-Protocol" TargetMode="External"/><Relationship Id="rId2" Type="http://schemas.openxmlformats.org/officeDocument/2006/relationships/hyperlink" Target="http://searchsoftwarequality.techtarget.com/definition/denial-of-service" TargetMode="External"/><Relationship Id="rId1" Type="http://schemas.openxmlformats.org/officeDocument/2006/relationships/slideLayout" Target="../slideLayouts/slideLayout2.xml"/><Relationship Id="rId4" Type="http://schemas.openxmlformats.org/officeDocument/2006/relationships/hyperlink" Target="http://searchnetworking.techtarget.com/definition/protocol"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en.wikipedia.org/wiki/Internet_Control_Message_Protocol" TargetMode="External"/><Relationship Id="rId2" Type="http://schemas.openxmlformats.org/officeDocument/2006/relationships/hyperlink" Target="http://en.wikipedia.org/wiki/Computer_networking" TargetMode="External"/><Relationship Id="rId1" Type="http://schemas.openxmlformats.org/officeDocument/2006/relationships/slideLayout" Target="../slideLayouts/slideLayout2.xml"/><Relationship Id="rId4" Type="http://schemas.openxmlformats.org/officeDocument/2006/relationships/hyperlink" Target="http://en.wikipedia.org/wiki/Ping_(networking_utility)"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en.wikipedia.org/wiki/Heap_(programming)" TargetMode="External"/><Relationship Id="rId2" Type="http://schemas.openxmlformats.org/officeDocument/2006/relationships/hyperlink" Target="http://en.wikipedia.org/wiki/Buffer_overflow" TargetMode="External"/><Relationship Id="rId1" Type="http://schemas.openxmlformats.org/officeDocument/2006/relationships/slideLayout" Target="../slideLayouts/slideLayout2.xml"/><Relationship Id="rId4" Type="http://schemas.openxmlformats.org/officeDocument/2006/relationships/hyperlink" Target="http://en.wikipedia.org/wiki/Stack_overflow" TargetMode="External"/></Relationships>
</file>

<file path=ppt/slides/_rels/slide93.xml.rels><?xml version="1.0" encoding="UTF-8" standalone="yes"?>
<Relationships xmlns="http://schemas.openxmlformats.org/package/2006/relationships"><Relationship Id="rId3" Type="http://schemas.openxmlformats.org/officeDocument/2006/relationships/hyperlink" Target="http://en.wikipedia.org/wiki/Shellcode" TargetMode="External"/><Relationship Id="rId2" Type="http://schemas.openxmlformats.org/officeDocument/2006/relationships/hyperlink" Target="http://en.wikipedia.org/wiki/No-op"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CYBER SECURITY</a:t>
            </a:r>
            <a:endParaRPr lang="en-IN" dirty="0"/>
          </a:p>
        </p:txBody>
      </p:sp>
      <p:sp>
        <p:nvSpPr>
          <p:cNvPr id="3" name="Subtitle 2"/>
          <p:cNvSpPr>
            <a:spLocks noGrp="1"/>
          </p:cNvSpPr>
          <p:nvPr>
            <p:ph type="subTitle" idx="1"/>
          </p:nvPr>
        </p:nvSpPr>
        <p:spPr>
          <a:xfrm>
            <a:off x="1524000" y="3602038"/>
            <a:ext cx="9144000" cy="1655762"/>
          </a:xfrm>
        </p:spPr>
        <p:txBody>
          <a:bodyPr/>
          <a:lstStyle/>
          <a:p>
            <a:r>
              <a:rPr lang="en-IN" dirty="0" smtClean="0"/>
              <a:t>IV B.TECH II SEM</a:t>
            </a:r>
            <a:endParaRPr lang="en-IN" dirty="0"/>
          </a:p>
        </p:txBody>
      </p:sp>
    </p:spTree>
    <p:extLst>
      <p:ext uri="{BB962C8B-B14F-4D97-AF65-F5344CB8AC3E}">
        <p14:creationId xmlns:p14="http://schemas.microsoft.com/office/powerpoint/2010/main" val="15308340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9750" y="2293939"/>
            <a:ext cx="9144000" cy="2387600"/>
          </a:xfrm>
        </p:spPr>
        <p:txBody>
          <a:bodyPr>
            <a:normAutofit fontScale="90000"/>
          </a:bodyPr>
          <a:lstStyle/>
          <a:p>
            <a:r>
              <a:rPr lang="en-US" dirty="0" smtClean="0"/>
              <a:t>Unit-2</a:t>
            </a:r>
            <a:br>
              <a:rPr lang="en-US" dirty="0" smtClean="0"/>
            </a:br>
            <a:r>
              <a:rPr lang="en-US" dirty="0" smtClean="0"/>
              <a:t>Tools and Methods used in Cybercrime</a:t>
            </a:r>
            <a:endParaRPr lang="en-US" dirty="0"/>
          </a:p>
        </p:txBody>
      </p:sp>
    </p:spTree>
    <p:extLst>
      <p:ext uri="{BB962C8B-B14F-4D97-AF65-F5344CB8AC3E}">
        <p14:creationId xmlns:p14="http://schemas.microsoft.com/office/powerpoint/2010/main" val="1740032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978" y="37747"/>
            <a:ext cx="10515600" cy="1325563"/>
          </a:xfrm>
        </p:spPr>
        <p:txBody>
          <a:bodyPr/>
          <a:lstStyle/>
          <a:p>
            <a:r>
              <a:rPr lang="en-IN" dirty="0" smtClean="0"/>
              <a:t>Syllabus</a:t>
            </a:r>
            <a:endParaRPr lang="en-IN" dirty="0"/>
          </a:p>
        </p:txBody>
      </p:sp>
      <p:sp>
        <p:nvSpPr>
          <p:cNvPr id="3" name="Content Placeholder 2"/>
          <p:cNvSpPr>
            <a:spLocks noGrp="1"/>
          </p:cNvSpPr>
          <p:nvPr>
            <p:ph idx="1"/>
          </p:nvPr>
        </p:nvSpPr>
        <p:spPr>
          <a:xfrm>
            <a:off x="1571978" y="1780469"/>
            <a:ext cx="10515600" cy="4351338"/>
          </a:xfrm>
        </p:spPr>
        <p:txBody>
          <a:bodyPr/>
          <a:lstStyle/>
          <a:p>
            <a:pPr marL="0" indent="0" algn="just">
              <a:buNone/>
            </a:pPr>
            <a:r>
              <a:rPr lang="en-US" b="1" dirty="0"/>
              <a:t>UNIT 2: </a:t>
            </a:r>
            <a:r>
              <a:rPr lang="en-US" b="1" dirty="0" smtClean="0"/>
              <a:t>Tools </a:t>
            </a:r>
            <a:r>
              <a:rPr lang="en-US" b="1" dirty="0"/>
              <a:t>and methods used in cyber crime-</a:t>
            </a:r>
            <a:r>
              <a:rPr lang="en-US" dirty="0"/>
              <a:t>Proxy servers and Anonymizers- Phishing Password cracking-Key loggers and Spy wares-Virus and worms-Trojan Horse and Backdoors-Steganography-SQL Injection-Buffer overflow-Attacks on wireless network. Cases</a:t>
            </a:r>
            <a:endParaRPr lang="en-IN" dirty="0"/>
          </a:p>
        </p:txBody>
      </p:sp>
    </p:spTree>
    <p:extLst>
      <p:ext uri="{BB962C8B-B14F-4D97-AF65-F5344CB8AC3E}">
        <p14:creationId xmlns:p14="http://schemas.microsoft.com/office/powerpoint/2010/main" val="25242521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65100"/>
            <a:ext cx="10515600" cy="1325563"/>
          </a:xfrm>
        </p:spPr>
        <p:txBody>
          <a:bodyPr/>
          <a:lstStyle/>
          <a:p>
            <a:r>
              <a:rPr lang="en-US" dirty="0" smtClean="0"/>
              <a:t>Stages of an attack on network</a:t>
            </a:r>
            <a:endParaRPr lang="en-US" dirty="0"/>
          </a:p>
        </p:txBody>
      </p:sp>
      <p:sp>
        <p:nvSpPr>
          <p:cNvPr id="3" name="Content Placeholder 2"/>
          <p:cNvSpPr>
            <a:spLocks noGrp="1"/>
          </p:cNvSpPr>
          <p:nvPr>
            <p:ph idx="1"/>
          </p:nvPr>
        </p:nvSpPr>
        <p:spPr>
          <a:xfrm>
            <a:off x="1676400" y="1639888"/>
            <a:ext cx="10515600" cy="4351338"/>
          </a:xfrm>
        </p:spPr>
        <p:txBody>
          <a:bodyPr>
            <a:normAutofit/>
          </a:bodyPr>
          <a:lstStyle/>
          <a:p>
            <a:pPr marL="596646" indent="-514350">
              <a:buFont typeface="+mj-lt"/>
              <a:buAutoNum type="arabicPeriod"/>
            </a:pPr>
            <a:r>
              <a:rPr lang="en-US" b="1" dirty="0" smtClean="0"/>
              <a:t>Initial covering:  </a:t>
            </a:r>
            <a:r>
              <a:rPr lang="en-US" dirty="0" smtClean="0"/>
              <a:t>two stages </a:t>
            </a:r>
          </a:p>
          <a:p>
            <a:pPr marL="870966" lvl="1" indent="-514350"/>
            <a:r>
              <a:rPr lang="en-US" dirty="0" smtClean="0"/>
              <a:t>Reconnaissance- </a:t>
            </a:r>
            <a:r>
              <a:rPr lang="en-US" dirty="0"/>
              <a:t>social networking websites</a:t>
            </a:r>
          </a:p>
          <a:p>
            <a:pPr marL="870966" lvl="1" indent="-514350"/>
            <a:r>
              <a:rPr lang="en-US" dirty="0" smtClean="0"/>
              <a:t>Uncovers information on company’s IP</a:t>
            </a:r>
          </a:p>
          <a:p>
            <a:pPr marL="596646" indent="-514350">
              <a:buFont typeface="+mj-lt"/>
              <a:buAutoNum type="arabicPeriod"/>
            </a:pPr>
            <a:r>
              <a:rPr lang="en-US" b="1" dirty="0" smtClean="0"/>
              <a:t>Network probe: </a:t>
            </a:r>
          </a:p>
          <a:p>
            <a:pPr marL="870966" lvl="1" indent="-514350"/>
            <a:r>
              <a:rPr lang="en-US" dirty="0" smtClean="0"/>
              <a:t>Ping sweep- seek out potential targets</a:t>
            </a:r>
          </a:p>
          <a:p>
            <a:pPr marL="870966" lvl="1" indent="-514350"/>
            <a:r>
              <a:rPr lang="en-US" dirty="0" smtClean="0"/>
              <a:t>Port scanning</a:t>
            </a:r>
          </a:p>
          <a:p>
            <a:pPr marL="596646" indent="-514350">
              <a:buFont typeface="+mj-lt"/>
              <a:buAutoNum type="arabicPeriod"/>
            </a:pPr>
            <a:r>
              <a:rPr lang="en-US" b="1" dirty="0" smtClean="0"/>
              <a:t>Crossing the line toward electronic crime: </a:t>
            </a:r>
          </a:p>
          <a:p>
            <a:pPr marL="870966" lvl="1" indent="-514350"/>
            <a:r>
              <a:rPr lang="en-US" dirty="0" smtClean="0"/>
              <a:t>Commits computer crime by exploiting possible holes on the target system </a:t>
            </a:r>
            <a:endParaRPr lang="en-US" dirty="0"/>
          </a:p>
        </p:txBody>
      </p:sp>
    </p:spTree>
    <p:extLst>
      <p:ext uri="{BB962C8B-B14F-4D97-AF65-F5344CB8AC3E}">
        <p14:creationId xmlns:p14="http://schemas.microsoft.com/office/powerpoint/2010/main" val="36445770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7826" y="1409700"/>
            <a:ext cx="10544174" cy="5562600"/>
          </a:xfrm>
        </p:spPr>
        <p:txBody>
          <a:bodyPr>
            <a:normAutofit fontScale="92500" lnSpcReduction="10000"/>
          </a:bodyPr>
          <a:lstStyle/>
          <a:p>
            <a:pPr>
              <a:buNone/>
            </a:pPr>
            <a:r>
              <a:rPr lang="en-US" dirty="0" smtClean="0"/>
              <a:t>4</a:t>
            </a:r>
            <a:r>
              <a:rPr lang="en-US" b="1" dirty="0" smtClean="0"/>
              <a:t>. Capturing the network:</a:t>
            </a:r>
          </a:p>
          <a:p>
            <a:pPr>
              <a:buNone/>
            </a:pPr>
            <a:r>
              <a:rPr lang="en-US" dirty="0" smtClean="0"/>
              <a:t>  	- attackers attempts to own the network</a:t>
            </a:r>
          </a:p>
          <a:p>
            <a:pPr>
              <a:buNone/>
            </a:pPr>
            <a:r>
              <a:rPr lang="en-US" dirty="0" smtClean="0"/>
              <a:t>   - uses tools to  remove any evidence of the attack</a:t>
            </a:r>
          </a:p>
          <a:p>
            <a:pPr>
              <a:buNone/>
            </a:pPr>
            <a:r>
              <a:rPr lang="en-US" dirty="0" smtClean="0"/>
              <a:t>   - </a:t>
            </a:r>
            <a:r>
              <a:rPr lang="en-US" dirty="0" err="1" smtClean="0"/>
              <a:t>trojan</a:t>
            </a:r>
            <a:r>
              <a:rPr lang="en-US" dirty="0" smtClean="0"/>
              <a:t> horses, backdoors</a:t>
            </a:r>
          </a:p>
          <a:p>
            <a:pPr>
              <a:buNone/>
            </a:pPr>
            <a:r>
              <a:rPr lang="en-US" dirty="0" smtClean="0"/>
              <a:t>5</a:t>
            </a:r>
            <a:r>
              <a:rPr lang="en-US" b="1" dirty="0" smtClean="0"/>
              <a:t>. Grab the data:</a:t>
            </a:r>
          </a:p>
          <a:p>
            <a:pPr>
              <a:buNone/>
            </a:pPr>
            <a:r>
              <a:rPr lang="en-US" dirty="0" smtClean="0"/>
              <a:t>	- attacker has captured the network</a:t>
            </a:r>
          </a:p>
          <a:p>
            <a:pPr>
              <a:buNone/>
            </a:pPr>
            <a:r>
              <a:rPr lang="en-US" dirty="0" smtClean="0"/>
              <a:t>	- steal confidential data, customer CC information, deface </a:t>
            </a:r>
            <a:r>
              <a:rPr lang="en-US" dirty="0" err="1" smtClean="0"/>
              <a:t>webpages</a:t>
            </a:r>
            <a:r>
              <a:rPr lang="en-US" dirty="0" smtClean="0"/>
              <a:t>…</a:t>
            </a:r>
          </a:p>
          <a:p>
            <a:pPr>
              <a:buNone/>
            </a:pPr>
            <a:r>
              <a:rPr lang="en-US" b="1" dirty="0" smtClean="0"/>
              <a:t>6. Covering the attack:</a:t>
            </a:r>
          </a:p>
          <a:p>
            <a:pPr>
              <a:buNone/>
            </a:pPr>
            <a:r>
              <a:rPr lang="en-US" dirty="0" smtClean="0"/>
              <a:t>	- extend misuse of the attack without being detected.</a:t>
            </a:r>
          </a:p>
          <a:p>
            <a:pPr>
              <a:buNone/>
            </a:pPr>
            <a:r>
              <a:rPr lang="en-US" dirty="0" smtClean="0"/>
              <a:t>	- start a fresh reconnaissance to a related target system</a:t>
            </a:r>
          </a:p>
          <a:p>
            <a:pPr>
              <a:buNone/>
            </a:pPr>
            <a:r>
              <a:rPr lang="en-US" dirty="0" smtClean="0"/>
              <a:t>	- continue use of resources</a:t>
            </a:r>
          </a:p>
          <a:p>
            <a:pPr>
              <a:buNone/>
            </a:pPr>
            <a:r>
              <a:rPr lang="en-US" dirty="0" smtClean="0"/>
              <a:t>	- remove evidence of hacking</a:t>
            </a:r>
          </a:p>
        </p:txBody>
      </p:sp>
      <p:sp>
        <p:nvSpPr>
          <p:cNvPr id="4" name="Title 1"/>
          <p:cNvSpPr txBox="1">
            <a:spLocks/>
          </p:cNvSpPr>
          <p:nvPr/>
        </p:nvSpPr>
        <p:spPr>
          <a:xfrm>
            <a:off x="2895600" y="457200"/>
            <a:ext cx="7498080" cy="1143000"/>
          </a:xfrm>
          <a:prstGeom prst="rect">
            <a:avLst/>
          </a:prstGeom>
        </p:spPr>
        <p:txBody>
          <a:bodyPr anchor="ctr">
            <a:normAutofit/>
          </a:bodyPr>
          <a:lstStyle/>
          <a:p>
            <a:pPr>
              <a:spcBef>
                <a:spcPct val="0"/>
              </a:spcBef>
              <a:defRPr/>
            </a:pPr>
            <a:endParaRPr lang="en-US" sz="430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p:txBody>
      </p:sp>
      <p:sp>
        <p:nvSpPr>
          <p:cNvPr id="5" name="Title 1"/>
          <p:cNvSpPr txBox="1">
            <a:spLocks/>
          </p:cNvSpPr>
          <p:nvPr/>
        </p:nvSpPr>
        <p:spPr>
          <a:xfrm>
            <a:off x="1647826" y="104775"/>
            <a:ext cx="10306050" cy="1143000"/>
          </a:xfrm>
          <a:prstGeom prst="rect">
            <a:avLst/>
          </a:prstGeom>
        </p:spPr>
        <p:txBody>
          <a:bodyPr anchor="ctr">
            <a:normAutofit/>
          </a:bodyPr>
          <a:lstStyle/>
          <a:p>
            <a:pPr algn="r">
              <a:spcBef>
                <a:spcPct val="0"/>
              </a:spcBef>
              <a:defRPr/>
            </a:pPr>
            <a:r>
              <a:rPr lang="en-US" sz="4300" dirty="0" smtClean="0">
                <a:solidFill>
                  <a:schemeClr val="tx2">
                    <a:satMod val="130000"/>
                  </a:schemeClr>
                </a:solidFill>
                <a:effectLst>
                  <a:outerShdw blurRad="50000" dist="30000" dir="5400000" algn="tl" rotWithShape="0">
                    <a:srgbClr val="000000">
                      <a:alpha val="30000"/>
                    </a:srgbClr>
                  </a:outerShdw>
                </a:effectLst>
                <a:latin typeface="+mj-lt"/>
                <a:ea typeface="+mj-ea"/>
                <a:cs typeface="+mj-cs"/>
              </a:rPr>
              <a:t>Contd..</a:t>
            </a:r>
            <a:endParaRPr lang="en-US" sz="4300"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p:txBody>
      </p:sp>
    </p:spTree>
    <p:extLst>
      <p:ext uri="{BB962C8B-B14F-4D97-AF65-F5344CB8AC3E}">
        <p14:creationId xmlns:p14="http://schemas.microsoft.com/office/powerpoint/2010/main" val="539717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0"/>
            <a:ext cx="10515600" cy="1325563"/>
          </a:xfrm>
        </p:spPr>
        <p:txBody>
          <a:bodyPr/>
          <a:lstStyle/>
          <a:p>
            <a:r>
              <a:rPr lang="en-US" dirty="0" smtClean="0"/>
              <a:t>Various tools used for the attack</a:t>
            </a:r>
            <a:endParaRPr lang="en-US" dirty="0"/>
          </a:p>
        </p:txBody>
      </p:sp>
      <p:sp>
        <p:nvSpPr>
          <p:cNvPr id="3" name="Content Placeholder 2"/>
          <p:cNvSpPr>
            <a:spLocks noGrp="1"/>
          </p:cNvSpPr>
          <p:nvPr>
            <p:ph idx="1"/>
          </p:nvPr>
        </p:nvSpPr>
        <p:spPr>
          <a:xfrm>
            <a:off x="1495425" y="1625600"/>
            <a:ext cx="10515600" cy="4351338"/>
          </a:xfrm>
        </p:spPr>
        <p:txBody>
          <a:bodyPr>
            <a:normAutofit fontScale="92500" lnSpcReduction="20000"/>
          </a:bodyPr>
          <a:lstStyle/>
          <a:p>
            <a:r>
              <a:rPr lang="en-US" dirty="0" smtClean="0"/>
              <a:t>Proxy severs and </a:t>
            </a:r>
            <a:r>
              <a:rPr lang="en-US" dirty="0" err="1" smtClean="0"/>
              <a:t>Anonymizers</a:t>
            </a:r>
            <a:endParaRPr lang="en-US" dirty="0" smtClean="0"/>
          </a:p>
          <a:p>
            <a:r>
              <a:rPr lang="en-US" dirty="0" smtClean="0"/>
              <a:t>Phishing </a:t>
            </a:r>
          </a:p>
          <a:p>
            <a:r>
              <a:rPr lang="en-US" dirty="0" smtClean="0"/>
              <a:t>Password cracking</a:t>
            </a:r>
          </a:p>
          <a:p>
            <a:r>
              <a:rPr lang="en-US" dirty="0" err="1" smtClean="0"/>
              <a:t>Keyloggers</a:t>
            </a:r>
            <a:r>
              <a:rPr lang="en-US" dirty="0" smtClean="0"/>
              <a:t> and spywares</a:t>
            </a:r>
          </a:p>
          <a:p>
            <a:r>
              <a:rPr lang="en-US" dirty="0" smtClean="0"/>
              <a:t>Virus and Worms</a:t>
            </a:r>
          </a:p>
          <a:p>
            <a:r>
              <a:rPr lang="en-US" dirty="0" smtClean="0"/>
              <a:t>Trojan horses and Backdoors</a:t>
            </a:r>
          </a:p>
          <a:p>
            <a:r>
              <a:rPr lang="en-US" dirty="0" smtClean="0"/>
              <a:t>Steganography</a:t>
            </a:r>
          </a:p>
          <a:p>
            <a:r>
              <a:rPr lang="en-US" dirty="0" smtClean="0"/>
              <a:t>SQL Injection</a:t>
            </a:r>
          </a:p>
          <a:p>
            <a:r>
              <a:rPr lang="en-US" dirty="0" err="1" smtClean="0"/>
              <a:t>DoS</a:t>
            </a:r>
            <a:r>
              <a:rPr lang="en-US" dirty="0" smtClean="0"/>
              <a:t> and </a:t>
            </a:r>
            <a:r>
              <a:rPr lang="en-US" dirty="0" err="1" smtClean="0"/>
              <a:t>DDoS</a:t>
            </a:r>
            <a:r>
              <a:rPr lang="en-US" dirty="0" smtClean="0"/>
              <a:t> attack tools</a:t>
            </a:r>
          </a:p>
          <a:p>
            <a:r>
              <a:rPr lang="en-US" dirty="0" smtClean="0"/>
              <a:t>Buffer overflow attacks </a:t>
            </a:r>
            <a:endParaRPr lang="en-US" dirty="0"/>
          </a:p>
        </p:txBody>
      </p:sp>
    </p:spTree>
    <p:extLst>
      <p:ext uri="{BB962C8B-B14F-4D97-AF65-F5344CB8AC3E}">
        <p14:creationId xmlns:p14="http://schemas.microsoft.com/office/powerpoint/2010/main" val="34322684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normAutofit/>
          </a:bodyPr>
          <a:lstStyle/>
          <a:p>
            <a:r>
              <a:rPr lang="en-US" dirty="0" smtClean="0"/>
              <a:t>1. Proxy severs and </a:t>
            </a:r>
            <a:r>
              <a:rPr lang="en-US" dirty="0" err="1" smtClean="0"/>
              <a:t>Anonymizers</a:t>
            </a:r>
            <a:endParaRPr lang="en-US" dirty="0"/>
          </a:p>
        </p:txBody>
      </p:sp>
      <p:sp>
        <p:nvSpPr>
          <p:cNvPr id="3" name="Content Placeholder 2"/>
          <p:cNvSpPr>
            <a:spLocks noGrp="1"/>
          </p:cNvSpPr>
          <p:nvPr>
            <p:ph idx="1"/>
          </p:nvPr>
        </p:nvSpPr>
        <p:spPr>
          <a:xfrm>
            <a:off x="1524000" y="1582737"/>
            <a:ext cx="10515600" cy="4351338"/>
          </a:xfrm>
        </p:spPr>
        <p:txBody>
          <a:bodyPr>
            <a:normAutofit/>
          </a:bodyPr>
          <a:lstStyle/>
          <a:p>
            <a:pPr algn="just"/>
            <a:r>
              <a:rPr lang="en-US" dirty="0" smtClean="0"/>
              <a:t>A </a:t>
            </a:r>
            <a:r>
              <a:rPr lang="en-US" b="1" dirty="0" smtClean="0"/>
              <a:t>proxy server</a:t>
            </a:r>
            <a:r>
              <a:rPr lang="en-US" dirty="0" smtClean="0"/>
              <a:t> is a dedicated computer or a software system running on a computer that acts as an intermediary between an endpoint device, such as a computer, and another </a:t>
            </a:r>
            <a:r>
              <a:rPr lang="en-US" b="1" dirty="0" smtClean="0"/>
              <a:t>server</a:t>
            </a:r>
            <a:r>
              <a:rPr lang="en-US" dirty="0" smtClean="0"/>
              <a:t> from which a user or client is requesting a service.</a:t>
            </a:r>
          </a:p>
          <a:p>
            <a:pPr algn="just"/>
            <a:r>
              <a:rPr lang="en-US" dirty="0" smtClean="0"/>
              <a:t>A client connects to the proxy server, requesting some service, such as a file, connection, web page, or other resource available from a different server and the proxy server evaluates the request as a way to simplify and control its complexity.</a:t>
            </a:r>
            <a:endParaRPr lang="en-US" dirty="0"/>
          </a:p>
        </p:txBody>
      </p:sp>
    </p:spTree>
    <p:extLst>
      <p:ext uri="{BB962C8B-B14F-4D97-AF65-F5344CB8AC3E}">
        <p14:creationId xmlns:p14="http://schemas.microsoft.com/office/powerpoint/2010/main" val="10634165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lstStyle/>
          <a:p>
            <a:r>
              <a:rPr lang="en-US" dirty="0" smtClean="0"/>
              <a:t>Purpose of a Proxy </a:t>
            </a:r>
            <a:r>
              <a:rPr lang="en-US" dirty="0"/>
              <a:t>S</a:t>
            </a:r>
            <a:r>
              <a:rPr lang="en-US" dirty="0" smtClean="0"/>
              <a:t>erver</a:t>
            </a:r>
            <a:endParaRPr lang="en-US" dirty="0"/>
          </a:p>
        </p:txBody>
      </p:sp>
      <p:sp>
        <p:nvSpPr>
          <p:cNvPr id="3" name="Content Placeholder 2"/>
          <p:cNvSpPr>
            <a:spLocks noGrp="1"/>
          </p:cNvSpPr>
          <p:nvPr>
            <p:ph idx="1"/>
          </p:nvPr>
        </p:nvSpPr>
        <p:spPr>
          <a:xfrm>
            <a:off x="1676400" y="1625600"/>
            <a:ext cx="10515600" cy="4351338"/>
          </a:xfrm>
        </p:spPr>
        <p:txBody>
          <a:bodyPr>
            <a:normAutofit/>
          </a:bodyPr>
          <a:lstStyle/>
          <a:p>
            <a:r>
              <a:rPr lang="en-US" dirty="0" smtClean="0"/>
              <a:t>Improve Performance</a:t>
            </a:r>
          </a:p>
          <a:p>
            <a:r>
              <a:rPr lang="en-US" dirty="0" smtClean="0"/>
              <a:t>Filter Requests</a:t>
            </a:r>
          </a:p>
          <a:p>
            <a:r>
              <a:rPr lang="en-US" dirty="0" smtClean="0"/>
              <a:t>Keep system behind the curtain</a:t>
            </a:r>
          </a:p>
          <a:p>
            <a:r>
              <a:rPr lang="en-US" dirty="0" smtClean="0"/>
              <a:t>Used as IP address multiplexer</a:t>
            </a:r>
          </a:p>
          <a:p>
            <a:r>
              <a:rPr lang="en-US" smtClean="0"/>
              <a:t>It’s </a:t>
            </a:r>
            <a:r>
              <a:rPr lang="en-US" dirty="0" smtClean="0"/>
              <a:t>Cache memory can serve all users </a:t>
            </a:r>
          </a:p>
          <a:p>
            <a:pPr>
              <a:buNone/>
            </a:pPr>
            <a:r>
              <a:rPr lang="en-US" dirty="0" smtClean="0"/>
              <a:t>Attack on this: the attacker first connects to a proxy server- establishes connection with the target through existing connection with the  proxy.</a:t>
            </a:r>
            <a:endParaRPr lang="en-US" dirty="0"/>
          </a:p>
        </p:txBody>
      </p:sp>
    </p:spTree>
    <p:extLst>
      <p:ext uri="{BB962C8B-B14F-4D97-AF65-F5344CB8AC3E}">
        <p14:creationId xmlns:p14="http://schemas.microsoft.com/office/powerpoint/2010/main" val="7562021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lstStyle/>
          <a:p>
            <a:r>
              <a:rPr lang="en-US" dirty="0" smtClean="0"/>
              <a:t>An </a:t>
            </a:r>
            <a:r>
              <a:rPr lang="en-US" dirty="0" err="1" smtClean="0"/>
              <a:t>Anonymizer</a:t>
            </a:r>
            <a:endParaRPr lang="en-US" dirty="0"/>
          </a:p>
        </p:txBody>
      </p:sp>
      <p:sp>
        <p:nvSpPr>
          <p:cNvPr id="3" name="Content Placeholder 2"/>
          <p:cNvSpPr>
            <a:spLocks noGrp="1"/>
          </p:cNvSpPr>
          <p:nvPr>
            <p:ph idx="1"/>
          </p:nvPr>
        </p:nvSpPr>
        <p:spPr>
          <a:xfrm>
            <a:off x="1524000" y="1639888"/>
            <a:ext cx="10515600" cy="4351338"/>
          </a:xfrm>
        </p:spPr>
        <p:txBody>
          <a:bodyPr>
            <a:normAutofit/>
          </a:bodyPr>
          <a:lstStyle/>
          <a:p>
            <a:pPr algn="just"/>
            <a:r>
              <a:rPr lang="en-US" dirty="0" smtClean="0"/>
              <a:t>An </a:t>
            </a:r>
            <a:r>
              <a:rPr lang="en-US" b="1" dirty="0" err="1" smtClean="0"/>
              <a:t>anonymizer</a:t>
            </a:r>
            <a:r>
              <a:rPr lang="en-US" dirty="0" smtClean="0"/>
              <a:t> or an </a:t>
            </a:r>
            <a:r>
              <a:rPr lang="en-US" b="1" dirty="0" smtClean="0"/>
              <a:t>anonymous proxy</a:t>
            </a:r>
            <a:r>
              <a:rPr lang="en-US" dirty="0" smtClean="0"/>
              <a:t> is a tool that attempts to make activity on the Internet untraceable. </a:t>
            </a:r>
          </a:p>
          <a:p>
            <a:pPr algn="just"/>
            <a:r>
              <a:rPr lang="en-US" dirty="0" smtClean="0"/>
              <a:t>It is a proxy server computer that acts as an intermediary and privacy shield between a client computer and the rest of the Internet. </a:t>
            </a:r>
          </a:p>
          <a:p>
            <a:pPr algn="just"/>
            <a:r>
              <a:rPr lang="en-US" dirty="0" smtClean="0"/>
              <a:t>It accesses the Internet on the user's behalf, protecting personal information by hiding the client computer's identifying information.</a:t>
            </a:r>
          </a:p>
          <a:p>
            <a:pPr algn="just"/>
            <a:r>
              <a:rPr lang="en-US" dirty="0" smtClean="0"/>
              <a:t>For example, large news outlets such as CNN target the viewers according to region and give different information to different populations</a:t>
            </a:r>
            <a:endParaRPr lang="en-US" dirty="0"/>
          </a:p>
        </p:txBody>
      </p:sp>
    </p:spTree>
    <p:extLst>
      <p:ext uri="{BB962C8B-B14F-4D97-AF65-F5344CB8AC3E}">
        <p14:creationId xmlns:p14="http://schemas.microsoft.com/office/powerpoint/2010/main" val="3737826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107950"/>
            <a:ext cx="10515600" cy="1325563"/>
          </a:xfrm>
        </p:spPr>
        <p:txBody>
          <a:bodyPr/>
          <a:lstStyle/>
          <a:p>
            <a:r>
              <a:rPr lang="en-US" dirty="0" smtClean="0"/>
              <a:t>2. Phishing </a:t>
            </a:r>
            <a:endParaRPr lang="en-US" dirty="0"/>
          </a:p>
        </p:txBody>
      </p:sp>
      <p:sp>
        <p:nvSpPr>
          <p:cNvPr id="3" name="Content Placeholder 2"/>
          <p:cNvSpPr>
            <a:spLocks noGrp="1"/>
          </p:cNvSpPr>
          <p:nvPr>
            <p:ph idx="1"/>
          </p:nvPr>
        </p:nvSpPr>
        <p:spPr>
          <a:xfrm>
            <a:off x="1676400" y="1539875"/>
            <a:ext cx="10515600" cy="4351338"/>
          </a:xfrm>
        </p:spPr>
        <p:txBody>
          <a:bodyPr/>
          <a:lstStyle/>
          <a:p>
            <a:r>
              <a:rPr lang="en-US" dirty="0" smtClean="0"/>
              <a:t>Stealing personal and financial data</a:t>
            </a:r>
          </a:p>
          <a:p>
            <a:r>
              <a:rPr lang="en-US" dirty="0" smtClean="0"/>
              <a:t>Also can infect systems with viruses</a:t>
            </a:r>
          </a:p>
          <a:p>
            <a:r>
              <a:rPr lang="en-US" dirty="0" smtClean="0"/>
              <a:t>A method of online ID theft</a:t>
            </a:r>
          </a:p>
          <a:p>
            <a:endParaRPr lang="en-US" dirty="0"/>
          </a:p>
        </p:txBody>
      </p:sp>
    </p:spTree>
    <p:extLst>
      <p:ext uri="{BB962C8B-B14F-4D97-AF65-F5344CB8AC3E}">
        <p14:creationId xmlns:p14="http://schemas.microsoft.com/office/powerpoint/2010/main" val="21419097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0"/>
            <a:ext cx="10515600" cy="1325563"/>
          </a:xfrm>
        </p:spPr>
        <p:txBody>
          <a:bodyPr/>
          <a:lstStyle/>
          <a:p>
            <a:r>
              <a:rPr lang="en-US" dirty="0" smtClean="0"/>
              <a:t>How Phishing works?</a:t>
            </a:r>
            <a:endParaRPr lang="en-US" dirty="0"/>
          </a:p>
        </p:txBody>
      </p:sp>
      <p:sp>
        <p:nvSpPr>
          <p:cNvPr id="3" name="Content Placeholder 2"/>
          <p:cNvSpPr>
            <a:spLocks noGrp="1"/>
          </p:cNvSpPr>
          <p:nvPr>
            <p:ph idx="1"/>
          </p:nvPr>
        </p:nvSpPr>
        <p:spPr>
          <a:xfrm>
            <a:off x="1538288" y="1611312"/>
            <a:ext cx="10515600" cy="4351338"/>
          </a:xfrm>
        </p:spPr>
        <p:txBody>
          <a:bodyPr>
            <a:normAutofit/>
          </a:bodyPr>
          <a:lstStyle/>
          <a:p>
            <a:pPr marL="596646" indent="-514350">
              <a:buFont typeface="+mj-lt"/>
              <a:buAutoNum type="arabicPeriod"/>
            </a:pPr>
            <a:r>
              <a:rPr lang="en-US" dirty="0" smtClean="0"/>
              <a:t>Planning : use mass mailing and address collection techniques- spammers</a:t>
            </a:r>
          </a:p>
          <a:p>
            <a:pPr marL="596646" indent="-514350">
              <a:buFont typeface="+mj-lt"/>
              <a:buAutoNum type="arabicPeriod"/>
            </a:pPr>
            <a:r>
              <a:rPr lang="en-US" dirty="0" smtClean="0"/>
              <a:t>Setup : E-Mail / webpage to collect data about the target</a:t>
            </a:r>
          </a:p>
          <a:p>
            <a:pPr marL="596646" indent="-514350">
              <a:buFont typeface="+mj-lt"/>
              <a:buAutoNum type="arabicPeriod"/>
            </a:pPr>
            <a:r>
              <a:rPr lang="en-US" dirty="0" smtClean="0"/>
              <a:t>Attack : send a phony message to the target</a:t>
            </a:r>
          </a:p>
          <a:p>
            <a:pPr marL="596646" indent="-514350">
              <a:buFont typeface="+mj-lt"/>
              <a:buAutoNum type="arabicPeriod"/>
            </a:pPr>
            <a:r>
              <a:rPr lang="en-US" dirty="0" smtClean="0"/>
              <a:t>Collection: record the information obtained</a:t>
            </a:r>
          </a:p>
          <a:p>
            <a:pPr marL="596646" indent="-514350">
              <a:buFont typeface="+mj-lt"/>
              <a:buAutoNum type="arabicPeriod"/>
            </a:pPr>
            <a:r>
              <a:rPr lang="en-US" dirty="0" smtClean="0"/>
              <a:t>Identity theft and fraud: use information to commit fraud or illegal purchases</a:t>
            </a:r>
            <a:endParaRPr lang="en-US" dirty="0"/>
          </a:p>
        </p:txBody>
      </p:sp>
    </p:spTree>
    <p:extLst>
      <p:ext uri="{BB962C8B-B14F-4D97-AF65-F5344CB8AC3E}">
        <p14:creationId xmlns:p14="http://schemas.microsoft.com/office/powerpoint/2010/main" val="3867433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3. Password Cracking</a:t>
            </a:r>
            <a:endParaRPr lang="en-US" dirty="0"/>
          </a:p>
        </p:txBody>
      </p:sp>
      <p:sp>
        <p:nvSpPr>
          <p:cNvPr id="3" name="Content Placeholder 2"/>
          <p:cNvSpPr>
            <a:spLocks noGrp="1"/>
          </p:cNvSpPr>
          <p:nvPr>
            <p:ph idx="1"/>
          </p:nvPr>
        </p:nvSpPr>
        <p:spPr>
          <a:xfrm>
            <a:off x="1676399" y="1447800"/>
            <a:ext cx="10296525" cy="5181600"/>
          </a:xfrm>
        </p:spPr>
        <p:txBody>
          <a:bodyPr>
            <a:normAutofit/>
          </a:bodyPr>
          <a:lstStyle/>
          <a:p>
            <a:pPr algn="just"/>
            <a:r>
              <a:rPr lang="en-US" b="1" dirty="0" smtClean="0"/>
              <a:t>password cracking</a:t>
            </a:r>
            <a:r>
              <a:rPr lang="en-US" dirty="0" smtClean="0"/>
              <a:t> is the process of recovering passwords from data that have been stored in or transmitted by a computer system. </a:t>
            </a:r>
          </a:p>
          <a:p>
            <a:pPr algn="just"/>
            <a:r>
              <a:rPr lang="en-US" dirty="0" smtClean="0"/>
              <a:t>A common approach (brute-force attack) is to try guesses repeatedly for the password and check them against an available cryptographic hash of the password.</a:t>
            </a:r>
            <a:endParaRPr lang="en-US" baseline="30000" dirty="0" smtClean="0"/>
          </a:p>
          <a:p>
            <a:pPr algn="just"/>
            <a:endParaRPr lang="en-US" dirty="0"/>
          </a:p>
        </p:txBody>
      </p:sp>
    </p:spTree>
    <p:extLst>
      <p:ext uri="{BB962C8B-B14F-4D97-AF65-F5344CB8AC3E}">
        <p14:creationId xmlns:p14="http://schemas.microsoft.com/office/powerpoint/2010/main" val="49071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65100"/>
            <a:ext cx="10515600" cy="1325563"/>
          </a:xfrm>
        </p:spPr>
        <p:txBody>
          <a:bodyPr>
            <a:normAutofit/>
          </a:bodyPr>
          <a:lstStyle/>
          <a:p>
            <a:r>
              <a:rPr lang="en-US" dirty="0" smtClean="0"/>
              <a:t>The purpose of password cracking</a:t>
            </a:r>
            <a:endParaRPr lang="en-US" dirty="0"/>
          </a:p>
        </p:txBody>
      </p:sp>
      <p:sp>
        <p:nvSpPr>
          <p:cNvPr id="3" name="Content Placeholder 2"/>
          <p:cNvSpPr>
            <a:spLocks noGrp="1"/>
          </p:cNvSpPr>
          <p:nvPr>
            <p:ph idx="1"/>
          </p:nvPr>
        </p:nvSpPr>
        <p:spPr>
          <a:xfrm>
            <a:off x="1552575" y="1639888"/>
            <a:ext cx="10515600" cy="4351338"/>
          </a:xfrm>
        </p:spPr>
        <p:txBody>
          <a:bodyPr/>
          <a:lstStyle/>
          <a:p>
            <a:r>
              <a:rPr lang="en-US" dirty="0" smtClean="0"/>
              <a:t>help a user recover a forgotten password </a:t>
            </a:r>
          </a:p>
          <a:p>
            <a:r>
              <a:rPr lang="en-US" dirty="0" smtClean="0"/>
              <a:t>to gain unauthorized access to a system, </a:t>
            </a:r>
          </a:p>
          <a:p>
            <a:r>
              <a:rPr lang="en-US" dirty="0" smtClean="0"/>
              <a:t>As a preventive measure by System Administrators to check for easily </a:t>
            </a:r>
            <a:r>
              <a:rPr lang="en-US" dirty="0" err="1" smtClean="0"/>
              <a:t>crackable</a:t>
            </a:r>
            <a:r>
              <a:rPr lang="en-US" dirty="0" smtClean="0"/>
              <a:t> passwords</a:t>
            </a:r>
          </a:p>
          <a:p>
            <a:endParaRPr lang="en-US" dirty="0"/>
          </a:p>
        </p:txBody>
      </p:sp>
    </p:spTree>
    <p:extLst>
      <p:ext uri="{BB962C8B-B14F-4D97-AF65-F5344CB8AC3E}">
        <p14:creationId xmlns:p14="http://schemas.microsoft.com/office/powerpoint/2010/main" val="32433763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107950"/>
            <a:ext cx="10515600" cy="1325563"/>
          </a:xfrm>
        </p:spPr>
        <p:txBody>
          <a:bodyPr>
            <a:normAutofit/>
          </a:bodyPr>
          <a:lstStyle/>
          <a:p>
            <a:r>
              <a:rPr lang="en-US" dirty="0" smtClean="0"/>
              <a:t>Manual Password Cracking Algorithm</a:t>
            </a:r>
            <a:endParaRPr lang="en-US" dirty="0"/>
          </a:p>
        </p:txBody>
      </p:sp>
      <p:sp>
        <p:nvSpPr>
          <p:cNvPr id="3" name="Content Placeholder 2"/>
          <p:cNvSpPr>
            <a:spLocks noGrp="1"/>
          </p:cNvSpPr>
          <p:nvPr>
            <p:ph idx="1"/>
          </p:nvPr>
        </p:nvSpPr>
        <p:spPr>
          <a:xfrm>
            <a:off x="1676400" y="1654175"/>
            <a:ext cx="10515600" cy="4351338"/>
          </a:xfrm>
        </p:spPr>
        <p:txBody>
          <a:bodyPr/>
          <a:lstStyle/>
          <a:p>
            <a:r>
              <a:rPr lang="en-US" dirty="0" smtClean="0"/>
              <a:t>Find a valid user</a:t>
            </a:r>
            <a:br>
              <a:rPr lang="en-US" dirty="0" smtClean="0"/>
            </a:br>
            <a:r>
              <a:rPr lang="en-US" dirty="0" smtClean="0"/>
              <a:t>•Create a list of possible passwords</a:t>
            </a:r>
            <a:br>
              <a:rPr lang="en-US" dirty="0" smtClean="0"/>
            </a:br>
            <a:r>
              <a:rPr lang="en-US" dirty="0" smtClean="0"/>
              <a:t>•Rank the passwords from high probability to low</a:t>
            </a:r>
            <a:br>
              <a:rPr lang="en-US" dirty="0" smtClean="0"/>
            </a:br>
            <a:r>
              <a:rPr lang="en-US" dirty="0" smtClean="0"/>
              <a:t>•Key in each password</a:t>
            </a:r>
            <a:br>
              <a:rPr lang="en-US" dirty="0" smtClean="0"/>
            </a:br>
            <a:r>
              <a:rPr lang="en-US" dirty="0" smtClean="0"/>
              <a:t>•If the system allows you in - Success</a:t>
            </a:r>
            <a:br>
              <a:rPr lang="en-US" dirty="0" smtClean="0"/>
            </a:br>
            <a:r>
              <a:rPr lang="en-US" dirty="0" smtClean="0"/>
              <a:t>•Else try till success</a:t>
            </a:r>
            <a:endParaRPr lang="en-US" dirty="0"/>
          </a:p>
        </p:txBody>
      </p:sp>
    </p:spTree>
    <p:extLst>
      <p:ext uri="{BB962C8B-B14F-4D97-AF65-F5344CB8AC3E}">
        <p14:creationId xmlns:p14="http://schemas.microsoft.com/office/powerpoint/2010/main" val="40628303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22237"/>
            <a:ext cx="10515600" cy="1325563"/>
          </a:xfrm>
        </p:spPr>
        <p:txBody>
          <a:bodyPr>
            <a:normAutofit/>
          </a:bodyPr>
          <a:lstStyle/>
          <a:p>
            <a:r>
              <a:rPr lang="en-US" dirty="0" smtClean="0"/>
              <a:t>examples of guessable passwords</a:t>
            </a:r>
            <a:endParaRPr lang="en-US" dirty="0"/>
          </a:p>
        </p:txBody>
      </p:sp>
      <p:sp>
        <p:nvSpPr>
          <p:cNvPr id="3" name="Content Placeholder 2"/>
          <p:cNvSpPr>
            <a:spLocks noGrp="1"/>
          </p:cNvSpPr>
          <p:nvPr>
            <p:ph idx="1"/>
          </p:nvPr>
        </p:nvSpPr>
        <p:spPr>
          <a:xfrm>
            <a:off x="1676400" y="1597025"/>
            <a:ext cx="10515600" cy="4351338"/>
          </a:xfrm>
        </p:spPr>
        <p:txBody>
          <a:bodyPr>
            <a:normAutofit lnSpcReduction="10000"/>
          </a:bodyPr>
          <a:lstStyle/>
          <a:p>
            <a:r>
              <a:rPr lang="en-US" dirty="0" smtClean="0"/>
              <a:t>Blank</a:t>
            </a:r>
          </a:p>
          <a:p>
            <a:r>
              <a:rPr lang="en-US" dirty="0" smtClean="0"/>
              <a:t>Words like “</a:t>
            </a:r>
            <a:r>
              <a:rPr lang="en-US" dirty="0" err="1" smtClean="0"/>
              <a:t>passcode</a:t>
            </a:r>
            <a:r>
              <a:rPr lang="en-US" dirty="0" smtClean="0"/>
              <a:t>” ,”password”, “admin”</a:t>
            </a:r>
          </a:p>
          <a:p>
            <a:r>
              <a:rPr lang="en-US" dirty="0" smtClean="0"/>
              <a:t>Series of letters “QWERTY”</a:t>
            </a:r>
          </a:p>
          <a:p>
            <a:r>
              <a:rPr lang="en-US" dirty="0" smtClean="0"/>
              <a:t>User’ s name or login name</a:t>
            </a:r>
          </a:p>
          <a:p>
            <a:r>
              <a:rPr lang="en-US" dirty="0" smtClean="0"/>
              <a:t>Name of the user’s friend/relative/pet</a:t>
            </a:r>
          </a:p>
          <a:p>
            <a:r>
              <a:rPr lang="en-US" dirty="0" smtClean="0"/>
              <a:t>User’s birth place, DOB</a:t>
            </a:r>
          </a:p>
          <a:p>
            <a:r>
              <a:rPr lang="en-US" dirty="0" smtClean="0"/>
              <a:t>Vehicle number, office number ..</a:t>
            </a:r>
          </a:p>
          <a:p>
            <a:r>
              <a:rPr lang="en-US" dirty="0" smtClean="0"/>
              <a:t>Name of celebrity</a:t>
            </a:r>
          </a:p>
          <a:p>
            <a:r>
              <a:rPr lang="en-US" dirty="0" smtClean="0"/>
              <a:t>Simple modification of one of the </a:t>
            </a:r>
            <a:r>
              <a:rPr lang="en-US" dirty="0" err="1" smtClean="0"/>
              <a:t>precedings</a:t>
            </a:r>
            <a:r>
              <a:rPr lang="en-US" dirty="0" smtClean="0"/>
              <a:t>, suffixing 1 …</a:t>
            </a:r>
            <a:endParaRPr lang="en-US" dirty="0"/>
          </a:p>
        </p:txBody>
      </p:sp>
    </p:spTree>
    <p:extLst>
      <p:ext uri="{BB962C8B-B14F-4D97-AF65-F5344CB8AC3E}">
        <p14:creationId xmlns:p14="http://schemas.microsoft.com/office/powerpoint/2010/main" val="1265379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normAutofit/>
          </a:bodyPr>
          <a:lstStyle/>
          <a:p>
            <a:r>
              <a:rPr lang="en-US" dirty="0" smtClean="0"/>
              <a:t>Categories of password cracking attacks:</a:t>
            </a:r>
            <a:endParaRPr lang="en-US" dirty="0"/>
          </a:p>
        </p:txBody>
      </p:sp>
      <p:sp>
        <p:nvSpPr>
          <p:cNvPr id="3" name="Content Placeholder 2"/>
          <p:cNvSpPr>
            <a:spLocks noGrp="1"/>
          </p:cNvSpPr>
          <p:nvPr>
            <p:ph idx="1"/>
          </p:nvPr>
        </p:nvSpPr>
        <p:spPr>
          <a:xfrm>
            <a:off x="1524000" y="1582738"/>
            <a:ext cx="10515600" cy="4351338"/>
          </a:xfrm>
        </p:spPr>
        <p:txBody>
          <a:bodyPr/>
          <a:lstStyle/>
          <a:p>
            <a:r>
              <a:rPr lang="en-US" dirty="0" smtClean="0"/>
              <a:t>Online attacks</a:t>
            </a:r>
          </a:p>
          <a:p>
            <a:r>
              <a:rPr lang="en-US" dirty="0" smtClean="0"/>
              <a:t>Offline attacks</a:t>
            </a:r>
          </a:p>
          <a:p>
            <a:r>
              <a:rPr lang="en-US" dirty="0" smtClean="0"/>
              <a:t>Non-electronic attacks</a:t>
            </a:r>
          </a:p>
          <a:p>
            <a:pPr lvl="1"/>
            <a:r>
              <a:rPr lang="en-US" dirty="0" smtClean="0"/>
              <a:t>Social engineering</a:t>
            </a:r>
          </a:p>
          <a:p>
            <a:pPr lvl="1"/>
            <a:r>
              <a:rPr lang="en-US" dirty="0" smtClean="0"/>
              <a:t>Shoulder surfing</a:t>
            </a:r>
          </a:p>
          <a:p>
            <a:pPr lvl="1"/>
            <a:r>
              <a:rPr lang="en-US" dirty="0" smtClean="0"/>
              <a:t>Dumpster diving</a:t>
            </a:r>
            <a:endParaRPr lang="en-US" dirty="0"/>
          </a:p>
        </p:txBody>
      </p:sp>
    </p:spTree>
    <p:extLst>
      <p:ext uri="{BB962C8B-B14F-4D97-AF65-F5344CB8AC3E}">
        <p14:creationId xmlns:p14="http://schemas.microsoft.com/office/powerpoint/2010/main" val="42094682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lstStyle/>
          <a:p>
            <a:r>
              <a:rPr lang="en-US" dirty="0" smtClean="0"/>
              <a:t>Online attacks</a:t>
            </a:r>
            <a:endParaRPr lang="en-US" dirty="0"/>
          </a:p>
        </p:txBody>
      </p:sp>
      <p:sp>
        <p:nvSpPr>
          <p:cNvPr id="3" name="Content Placeholder 2"/>
          <p:cNvSpPr>
            <a:spLocks noGrp="1"/>
          </p:cNvSpPr>
          <p:nvPr>
            <p:ph idx="1"/>
          </p:nvPr>
        </p:nvSpPr>
        <p:spPr>
          <a:xfrm>
            <a:off x="1676400" y="1597025"/>
            <a:ext cx="10515600" cy="4351338"/>
          </a:xfrm>
        </p:spPr>
        <p:txBody>
          <a:bodyPr>
            <a:normAutofit/>
          </a:bodyPr>
          <a:lstStyle/>
          <a:p>
            <a:r>
              <a:rPr lang="en-US" dirty="0" smtClean="0"/>
              <a:t>An attacker may create a script- automated program- to try each password</a:t>
            </a:r>
          </a:p>
          <a:p>
            <a:r>
              <a:rPr lang="en-US" dirty="0" smtClean="0"/>
              <a:t>Most popular online attack;- man-in-the-middle attack or bucket-brigade attack</a:t>
            </a:r>
          </a:p>
          <a:p>
            <a:r>
              <a:rPr lang="en-US" dirty="0" smtClean="0"/>
              <a:t>Used to obtain passwords for E-mail accounts on public websites like </a:t>
            </a:r>
            <a:r>
              <a:rPr lang="en-US" dirty="0" err="1" smtClean="0"/>
              <a:t>gmail</a:t>
            </a:r>
            <a:r>
              <a:rPr lang="en-US" dirty="0" smtClean="0"/>
              <a:t>, </a:t>
            </a:r>
            <a:r>
              <a:rPr lang="en-US" dirty="0" err="1" smtClean="0"/>
              <a:t>yahoomail</a:t>
            </a:r>
            <a:endParaRPr lang="en-US" dirty="0" smtClean="0"/>
          </a:p>
          <a:p>
            <a:r>
              <a:rPr lang="en-US" dirty="0" smtClean="0"/>
              <a:t>Also to get passwords for financial websites</a:t>
            </a:r>
          </a:p>
          <a:p>
            <a:endParaRPr lang="en-US" dirty="0"/>
          </a:p>
        </p:txBody>
      </p:sp>
    </p:spTree>
    <p:extLst>
      <p:ext uri="{BB962C8B-B14F-4D97-AF65-F5344CB8AC3E}">
        <p14:creationId xmlns:p14="http://schemas.microsoft.com/office/powerpoint/2010/main" val="9419015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3" y="0"/>
            <a:ext cx="10515600" cy="1325563"/>
          </a:xfrm>
        </p:spPr>
        <p:txBody>
          <a:bodyPr/>
          <a:lstStyle/>
          <a:p>
            <a:r>
              <a:rPr lang="en-US" dirty="0" smtClean="0"/>
              <a:t>Offline attacks</a:t>
            </a:r>
            <a:endParaRPr lang="en-US" dirty="0"/>
          </a:p>
        </p:txBody>
      </p:sp>
      <p:sp>
        <p:nvSpPr>
          <p:cNvPr id="3" name="Content Placeholder 2"/>
          <p:cNvSpPr>
            <a:spLocks noGrp="1"/>
          </p:cNvSpPr>
          <p:nvPr>
            <p:ph idx="1"/>
          </p:nvPr>
        </p:nvSpPr>
        <p:spPr>
          <a:xfrm>
            <a:off x="1509713" y="1497013"/>
            <a:ext cx="10515600" cy="4351338"/>
          </a:xfrm>
        </p:spPr>
        <p:txBody>
          <a:bodyPr/>
          <a:lstStyle/>
          <a:p>
            <a:r>
              <a:rPr lang="en-US" dirty="0" smtClean="0"/>
              <a:t>Are performed from a location other than the target where these passwords reside or are used</a:t>
            </a:r>
          </a:p>
          <a:p>
            <a:r>
              <a:rPr lang="en-US" dirty="0" smtClean="0"/>
              <a:t>Require physical access to the computer and copying the password</a:t>
            </a:r>
          </a:p>
          <a:p>
            <a:pPr>
              <a:buNone/>
            </a:pPr>
            <a:endParaRPr lang="en-US" dirty="0"/>
          </a:p>
        </p:txBody>
      </p:sp>
    </p:spTree>
    <p:extLst>
      <p:ext uri="{BB962C8B-B14F-4D97-AF65-F5344CB8AC3E}">
        <p14:creationId xmlns:p14="http://schemas.microsoft.com/office/powerpoint/2010/main" val="20744841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normAutofit/>
          </a:bodyPr>
          <a:lstStyle/>
          <a:p>
            <a:r>
              <a:rPr lang="en-US" b="1" dirty="0" smtClean="0"/>
              <a:t>Types of Password Attacks</a:t>
            </a:r>
            <a:endParaRPr lang="en-US" dirty="0"/>
          </a:p>
        </p:txBody>
      </p:sp>
      <p:sp>
        <p:nvSpPr>
          <p:cNvPr id="3" name="Content Placeholder 2"/>
          <p:cNvSpPr>
            <a:spLocks noGrp="1"/>
          </p:cNvSpPr>
          <p:nvPr>
            <p:ph idx="1"/>
          </p:nvPr>
        </p:nvSpPr>
        <p:spPr>
          <a:xfrm>
            <a:off x="1524000" y="1497013"/>
            <a:ext cx="10515600" cy="4351338"/>
          </a:xfrm>
        </p:spPr>
        <p:txBody>
          <a:bodyPr>
            <a:normAutofit/>
          </a:bodyPr>
          <a:lstStyle/>
          <a:p>
            <a:r>
              <a:rPr lang="en-US" dirty="0" smtClean="0"/>
              <a:t>Password Guessing</a:t>
            </a:r>
          </a:p>
          <a:p>
            <a:pPr lvl="1"/>
            <a:r>
              <a:rPr lang="en-US" dirty="0" smtClean="0"/>
              <a:t>Attackers can guess passwords locally or remotely using either a manual or automated approach</a:t>
            </a:r>
          </a:p>
          <a:p>
            <a:r>
              <a:rPr lang="en-US" dirty="0" smtClean="0"/>
              <a:t>Dictionary attacks</a:t>
            </a:r>
          </a:p>
          <a:p>
            <a:pPr lvl="1"/>
            <a:r>
              <a:rPr lang="en-US" dirty="0" smtClean="0"/>
              <a:t>work on the assumption that most passwords consist of whole words, dates, or numbers taken from a dictionary.</a:t>
            </a:r>
          </a:p>
          <a:p>
            <a:r>
              <a:rPr lang="en-US" dirty="0" smtClean="0"/>
              <a:t>Hybrid password</a:t>
            </a:r>
          </a:p>
          <a:p>
            <a:pPr lvl="1"/>
            <a:r>
              <a:rPr lang="en-US" dirty="0" smtClean="0"/>
              <a:t>assume that network administrators push users to make their passwords at least slightly different from a word that appears in a dictionary.</a:t>
            </a:r>
            <a:endParaRPr lang="en-US" dirty="0"/>
          </a:p>
        </p:txBody>
      </p:sp>
    </p:spTree>
    <p:extLst>
      <p:ext uri="{BB962C8B-B14F-4D97-AF65-F5344CB8AC3E}">
        <p14:creationId xmlns:p14="http://schemas.microsoft.com/office/powerpoint/2010/main" val="795019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Weak passwords</a:t>
            </a:r>
            <a:endParaRPr lang="en-US" dirty="0"/>
          </a:p>
        </p:txBody>
      </p:sp>
      <p:sp>
        <p:nvSpPr>
          <p:cNvPr id="3" name="Content Placeholder 2"/>
          <p:cNvSpPr>
            <a:spLocks noGrp="1"/>
          </p:cNvSpPr>
          <p:nvPr>
            <p:ph idx="1"/>
          </p:nvPr>
        </p:nvSpPr>
        <p:spPr>
          <a:xfrm>
            <a:off x="1676400" y="1611312"/>
            <a:ext cx="10515600" cy="4351338"/>
          </a:xfrm>
        </p:spPr>
        <p:txBody>
          <a:bodyPr>
            <a:normAutofit fontScale="85000" lnSpcReduction="10000"/>
          </a:bodyPr>
          <a:lstStyle/>
          <a:p>
            <a:r>
              <a:rPr lang="en-US" dirty="0" smtClean="0"/>
              <a:t>The password contains less than eight characters </a:t>
            </a:r>
          </a:p>
          <a:p>
            <a:r>
              <a:rPr lang="en-US" dirty="0" smtClean="0"/>
              <a:t>The password is a word found in a dictionary (English or foreign) </a:t>
            </a:r>
          </a:p>
          <a:p>
            <a:r>
              <a:rPr lang="en-US" dirty="0" smtClean="0"/>
              <a:t>The password is a common usage word such as: </a:t>
            </a:r>
          </a:p>
          <a:p>
            <a:r>
              <a:rPr lang="en-US" dirty="0" smtClean="0"/>
              <a:t>Names of family, pets, friends, co-workers, fantasy characters, etc. </a:t>
            </a:r>
          </a:p>
          <a:p>
            <a:r>
              <a:rPr lang="en-US" dirty="0" smtClean="0"/>
              <a:t>Computer terms and names, commands, sites, companies,  hardware,  software. </a:t>
            </a:r>
          </a:p>
          <a:p>
            <a:r>
              <a:rPr lang="en-US" dirty="0" smtClean="0"/>
              <a:t>The words "&lt;Company Name&gt;", "</a:t>
            </a:r>
            <a:r>
              <a:rPr lang="en-US" dirty="0" err="1" smtClean="0"/>
              <a:t>sanjose</a:t>
            </a:r>
            <a:r>
              <a:rPr lang="en-US" dirty="0" smtClean="0"/>
              <a:t>", "</a:t>
            </a:r>
            <a:r>
              <a:rPr lang="en-US" dirty="0" err="1" smtClean="0"/>
              <a:t>sanfran</a:t>
            </a:r>
            <a:r>
              <a:rPr lang="en-US" dirty="0" smtClean="0"/>
              <a:t>" or any derivation. </a:t>
            </a:r>
          </a:p>
          <a:p>
            <a:r>
              <a:rPr lang="en-US" dirty="0" smtClean="0"/>
              <a:t>Birthdays and other personal information such as addresses and phone numbers. </a:t>
            </a:r>
          </a:p>
          <a:p>
            <a:r>
              <a:rPr lang="en-US" dirty="0" smtClean="0"/>
              <a:t>Word or number patterns like </a:t>
            </a:r>
            <a:r>
              <a:rPr lang="en-US" dirty="0" err="1" smtClean="0"/>
              <a:t>aaabbb</a:t>
            </a:r>
            <a:r>
              <a:rPr lang="en-US" dirty="0" smtClean="0"/>
              <a:t>, qwerty, </a:t>
            </a:r>
            <a:r>
              <a:rPr lang="en-US" dirty="0" err="1" smtClean="0"/>
              <a:t>zyxwvuts</a:t>
            </a:r>
            <a:r>
              <a:rPr lang="en-US" dirty="0" smtClean="0"/>
              <a:t>, 123321, etc. </a:t>
            </a:r>
          </a:p>
          <a:p>
            <a:r>
              <a:rPr lang="en-US" dirty="0" smtClean="0"/>
              <a:t>Any of the above spelled backwards. </a:t>
            </a:r>
          </a:p>
          <a:p>
            <a:r>
              <a:rPr lang="en-US" dirty="0" smtClean="0"/>
              <a:t>Any of the above preceded or followed by a digit (e.g., secret1,1secret</a:t>
            </a:r>
            <a:endParaRPr lang="en-US" dirty="0"/>
          </a:p>
        </p:txBody>
      </p:sp>
    </p:spTree>
    <p:extLst>
      <p:ext uri="{BB962C8B-B14F-4D97-AF65-F5344CB8AC3E}">
        <p14:creationId xmlns:p14="http://schemas.microsoft.com/office/powerpoint/2010/main" val="4250750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lstStyle/>
          <a:p>
            <a:r>
              <a:rPr lang="en-US" dirty="0" smtClean="0"/>
              <a:t>Strong Passwords</a:t>
            </a:r>
            <a:endParaRPr lang="en-US" dirty="0"/>
          </a:p>
        </p:txBody>
      </p:sp>
      <p:sp>
        <p:nvSpPr>
          <p:cNvPr id="3" name="Content Placeholder 2"/>
          <p:cNvSpPr>
            <a:spLocks noGrp="1"/>
          </p:cNvSpPr>
          <p:nvPr>
            <p:ph idx="1"/>
          </p:nvPr>
        </p:nvSpPr>
        <p:spPr>
          <a:xfrm>
            <a:off x="1676400" y="1454150"/>
            <a:ext cx="10515600" cy="4351338"/>
          </a:xfrm>
        </p:spPr>
        <p:txBody>
          <a:bodyPr>
            <a:normAutofit fontScale="77500" lnSpcReduction="20000"/>
          </a:bodyPr>
          <a:lstStyle/>
          <a:p>
            <a:r>
              <a:rPr lang="en-US" dirty="0" smtClean="0"/>
              <a:t>Contain both upper and lower case characters (e.g., a-z, A-Z) </a:t>
            </a:r>
          </a:p>
          <a:p>
            <a:r>
              <a:rPr lang="en-US" dirty="0" smtClean="0"/>
              <a:t>Have digits and punctuation characters as well as letters e.g., 0-9, @#$%^&amp;*()_+|~-=\`{}[]:";'&lt;&gt;?,./) </a:t>
            </a:r>
          </a:p>
          <a:p>
            <a:r>
              <a:rPr lang="en-US" dirty="0" smtClean="0"/>
              <a:t>Are at least eight alphanumeric characters long. </a:t>
            </a:r>
          </a:p>
          <a:p>
            <a:r>
              <a:rPr lang="en-US" dirty="0" smtClean="0"/>
              <a:t>Are not a word in any language, slang, dialect,  jargon, etc. </a:t>
            </a:r>
          </a:p>
          <a:p>
            <a:r>
              <a:rPr lang="en-US" dirty="0" smtClean="0"/>
              <a:t>Are not based on personal information, names of family, etc. </a:t>
            </a:r>
          </a:p>
          <a:p>
            <a:r>
              <a:rPr lang="en-US" dirty="0" smtClean="0"/>
              <a:t>Passwords should never be written down or stored on-line. </a:t>
            </a:r>
          </a:p>
          <a:p>
            <a:r>
              <a:rPr lang="en-US" dirty="0" smtClean="0"/>
              <a:t>Try to create passwords that can be easily remembered. </a:t>
            </a:r>
          </a:p>
          <a:p>
            <a:r>
              <a:rPr lang="en-US" dirty="0" smtClean="0"/>
              <a:t>One way to do this is create a password based on a song title, affirmation, or other phrase. </a:t>
            </a:r>
          </a:p>
          <a:p>
            <a:r>
              <a:rPr lang="en-US" dirty="0" smtClean="0"/>
              <a:t>For example,  the phrase might be: "This May Be One Way To Remember" </a:t>
            </a:r>
          </a:p>
          <a:p>
            <a:r>
              <a:rPr lang="en-US" dirty="0" smtClean="0"/>
              <a:t>and the  password could be: "TmB1w2R!" or "Tmb1W&gt;r~" or some other variation. </a:t>
            </a:r>
          </a:p>
          <a:p>
            <a:endParaRPr lang="en-US" dirty="0"/>
          </a:p>
        </p:txBody>
      </p:sp>
    </p:spTree>
    <p:extLst>
      <p:ext uri="{BB962C8B-B14F-4D97-AF65-F5344CB8AC3E}">
        <p14:creationId xmlns:p14="http://schemas.microsoft.com/office/powerpoint/2010/main" val="14110969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Random passwords</a:t>
            </a:r>
            <a:endParaRPr lang="en-US" dirty="0"/>
          </a:p>
        </p:txBody>
      </p:sp>
      <p:sp>
        <p:nvSpPr>
          <p:cNvPr id="3" name="Content Placeholder 2"/>
          <p:cNvSpPr>
            <a:spLocks noGrp="1"/>
          </p:cNvSpPr>
          <p:nvPr>
            <p:ph idx="1"/>
          </p:nvPr>
        </p:nvSpPr>
        <p:spPr>
          <a:xfrm>
            <a:off x="1676400" y="1325563"/>
            <a:ext cx="3638550" cy="4351338"/>
          </a:xfrm>
        </p:spPr>
        <p:txBody>
          <a:bodyPr>
            <a:normAutofit fontScale="25000" lnSpcReduction="20000"/>
          </a:bodyPr>
          <a:lstStyle/>
          <a:p>
            <a:endParaRPr lang="en-US" dirty="0" smtClean="0"/>
          </a:p>
          <a:p>
            <a:r>
              <a:rPr lang="en-US" sz="7200" dirty="0" smtClean="0"/>
              <a:t>Secure Password Generator</a:t>
            </a:r>
          </a:p>
          <a:p>
            <a:r>
              <a:rPr lang="en-US" sz="7200" dirty="0" smtClean="0"/>
              <a:t>Password Length:</a:t>
            </a:r>
          </a:p>
          <a:p>
            <a:r>
              <a:rPr lang="en-US" sz="7200" dirty="0" smtClean="0"/>
              <a:t>Include Symbols:</a:t>
            </a:r>
          </a:p>
          <a:p>
            <a:r>
              <a:rPr lang="en-US" sz="7200" dirty="0" smtClean="0"/>
              <a:t>( e.g. @#$% )</a:t>
            </a:r>
          </a:p>
          <a:p>
            <a:r>
              <a:rPr lang="en-US" sz="7200" dirty="0" smtClean="0"/>
              <a:t>Include Numbers:</a:t>
            </a:r>
          </a:p>
          <a:p>
            <a:r>
              <a:rPr lang="en-US" sz="7200" dirty="0" smtClean="0"/>
              <a:t>( e.g. 123456 )</a:t>
            </a:r>
          </a:p>
          <a:p>
            <a:r>
              <a:rPr lang="en-US" sz="7200" dirty="0" smtClean="0"/>
              <a:t>Include Lowercase Characters:</a:t>
            </a:r>
          </a:p>
          <a:p>
            <a:r>
              <a:rPr lang="en-US" sz="7200" dirty="0" smtClean="0"/>
              <a:t>( e.g. </a:t>
            </a:r>
            <a:r>
              <a:rPr lang="en-US" sz="7200" dirty="0" err="1" smtClean="0"/>
              <a:t>abcdefgh</a:t>
            </a:r>
            <a:r>
              <a:rPr lang="en-US" sz="7200" dirty="0" smtClean="0"/>
              <a:t> )</a:t>
            </a:r>
          </a:p>
          <a:p>
            <a:r>
              <a:rPr lang="en-US" sz="7200" dirty="0" smtClean="0"/>
              <a:t>Include Uppercase Characters:</a:t>
            </a:r>
          </a:p>
          <a:p>
            <a:r>
              <a:rPr lang="en-US" sz="7200" dirty="0" smtClean="0"/>
              <a:t>( e.g. ABCDEFGH )</a:t>
            </a:r>
          </a:p>
          <a:p>
            <a:r>
              <a:rPr lang="en-US" sz="7200" dirty="0" smtClean="0"/>
              <a:t>Exclude Similar Characters:</a:t>
            </a:r>
          </a:p>
          <a:p>
            <a:r>
              <a:rPr lang="en-US" sz="7200" dirty="0" smtClean="0"/>
              <a:t>( e.g. </a:t>
            </a:r>
            <a:r>
              <a:rPr lang="en-US" sz="7200" dirty="0" err="1" smtClean="0"/>
              <a:t>i</a:t>
            </a:r>
            <a:r>
              <a:rPr lang="en-US" sz="7200" dirty="0" smtClean="0"/>
              <a:t>, l, 1, L, o, 0, O )</a:t>
            </a:r>
          </a:p>
          <a:p>
            <a:endParaRPr lang="en-US" sz="7200" dirty="0"/>
          </a:p>
        </p:txBody>
      </p:sp>
      <p:sp>
        <p:nvSpPr>
          <p:cNvPr id="4" name="Content Placeholder 2"/>
          <p:cNvSpPr txBox="1">
            <a:spLocks/>
          </p:cNvSpPr>
          <p:nvPr/>
        </p:nvSpPr>
        <p:spPr>
          <a:xfrm>
            <a:off x="6100763" y="1325563"/>
            <a:ext cx="363855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smtClean="0"/>
          </a:p>
          <a:p>
            <a:r>
              <a:rPr lang="en-US" dirty="0" smtClean="0"/>
              <a:t>Exclude Ambiguous Characters:</a:t>
            </a:r>
          </a:p>
          <a:p>
            <a:r>
              <a:rPr lang="en-US" dirty="0" smtClean="0"/>
              <a:t>( { } [ ] ( ) / \ ' " ` ~ , ; : . &lt; &gt; )</a:t>
            </a:r>
          </a:p>
          <a:p>
            <a:r>
              <a:rPr lang="en-US" dirty="0" smtClean="0"/>
              <a:t>Generate On The Client Side:</a:t>
            </a:r>
          </a:p>
          <a:p>
            <a:r>
              <a:rPr lang="en-US" dirty="0" smtClean="0"/>
              <a:t>( do NOT send across the Internet )</a:t>
            </a:r>
          </a:p>
          <a:p>
            <a:r>
              <a:rPr lang="en-US" dirty="0" smtClean="0"/>
              <a:t>Auto-Select:</a:t>
            </a:r>
          </a:p>
          <a:p>
            <a:r>
              <a:rPr lang="en-US" dirty="0" smtClean="0"/>
              <a:t>( select the password automatically )</a:t>
            </a:r>
          </a:p>
          <a:p>
            <a:r>
              <a:rPr lang="en-US" dirty="0" smtClean="0"/>
              <a:t>Save My Preference:</a:t>
            </a:r>
          </a:p>
          <a:p>
            <a:r>
              <a:rPr lang="en-US" dirty="0" smtClean="0"/>
              <a:t>( save all the settings above for later use )</a:t>
            </a:r>
          </a:p>
          <a:p>
            <a:r>
              <a:rPr lang="en-US" dirty="0" smtClean="0"/>
              <a:t>Load My Settings Anywhere:</a:t>
            </a:r>
            <a:endParaRPr lang="en-US" dirty="0"/>
          </a:p>
        </p:txBody>
      </p:sp>
    </p:spTree>
    <p:extLst>
      <p:ext uri="{BB962C8B-B14F-4D97-AF65-F5344CB8AC3E}">
        <p14:creationId xmlns:p14="http://schemas.microsoft.com/office/powerpoint/2010/main" val="1516042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endParaRPr lang="en-IN" dirty="0"/>
          </a:p>
        </p:txBody>
      </p:sp>
      <p:sp>
        <p:nvSpPr>
          <p:cNvPr id="3" name="Content Placeholder 2"/>
          <p:cNvSpPr>
            <a:spLocks noGrp="1"/>
          </p:cNvSpPr>
          <p:nvPr>
            <p:ph idx="1"/>
          </p:nvPr>
        </p:nvSpPr>
        <p:spPr>
          <a:xfrm>
            <a:off x="1676400" y="1439863"/>
            <a:ext cx="10515600" cy="5118100"/>
          </a:xfrm>
        </p:spPr>
        <p:txBody>
          <a:bodyPr>
            <a:normAutofit fontScale="40000" lnSpcReduction="20000"/>
          </a:bodyPr>
          <a:lstStyle/>
          <a:p>
            <a:r>
              <a:rPr lang="en-US" sz="3400" dirty="0" smtClean="0"/>
              <a:t>URL to load my settings on other computers quickly</a:t>
            </a:r>
          </a:p>
          <a:p>
            <a:r>
              <a:rPr lang="en-US" sz="3400" dirty="0" smtClean="0"/>
              <a:t>Your New Password:</a:t>
            </a:r>
          </a:p>
          <a:p>
            <a:r>
              <a:rPr lang="en-US" sz="3400" dirty="0" smtClean="0"/>
              <a:t>Remember your password:</a:t>
            </a:r>
          </a:p>
          <a:p>
            <a:r>
              <a:rPr lang="en-US" sz="3400" dirty="0" smtClean="0"/>
              <a:t>Remember your password with the first letters of each word in this sentence.</a:t>
            </a:r>
          </a:p>
          <a:p>
            <a:r>
              <a:rPr lang="en-US" sz="3400" dirty="0" smtClean="0"/>
              <a:t>To prevent your passwords from being hacked by social engineering, brute force or dictionary attack method, you should notice that:</a:t>
            </a:r>
          </a:p>
          <a:p>
            <a:r>
              <a:rPr lang="en-US" sz="3400" dirty="0" smtClean="0"/>
              <a:t>1. Do not use the same password for multiple important accounts.</a:t>
            </a:r>
          </a:p>
          <a:p>
            <a:r>
              <a:rPr lang="en-US" sz="3400" dirty="0" smtClean="0"/>
              <a:t>2. Use a password that has at least 16 characters, use at least one number, one uppercase letter, one lowercase letter and one special symbol.</a:t>
            </a:r>
          </a:p>
          <a:p>
            <a:r>
              <a:rPr lang="en-US" sz="3400" dirty="0" smtClean="0"/>
              <a:t>3. Do not use the names of your families, friends or pets in your passwords.</a:t>
            </a:r>
          </a:p>
          <a:p>
            <a:r>
              <a:rPr lang="en-US" sz="3400" dirty="0" smtClean="0"/>
              <a:t>4. Do not use postcodes, house numbers, phone numbers, birthdates, ID card numbers, social security numbers, and so on in your passwords.</a:t>
            </a:r>
          </a:p>
          <a:p>
            <a:r>
              <a:rPr lang="en-US" sz="3400" dirty="0" smtClean="0"/>
              <a:t>5. Do not use any dictionary word in your passwords.</a:t>
            </a:r>
          </a:p>
          <a:p>
            <a:r>
              <a:rPr lang="en-US" sz="3400" dirty="0" smtClean="0"/>
              <a:t>6. Do not use something that can be cloned( but you can't change ) as your passwords, such as your fingerprints.</a:t>
            </a:r>
          </a:p>
          <a:p>
            <a:r>
              <a:rPr lang="en-US" sz="3400" dirty="0" smtClean="0"/>
              <a:t>7. Do not let your Web browsers( </a:t>
            </a:r>
            <a:r>
              <a:rPr lang="en-US" sz="3400" dirty="0" err="1" smtClean="0"/>
              <a:t>FireFox</a:t>
            </a:r>
            <a:r>
              <a:rPr lang="en-US" sz="3400" dirty="0" smtClean="0"/>
              <a:t>, Chrome, Safari, Opera, IE ) store your passwords, since all passwords saved in Web browsers can be revealed easily.</a:t>
            </a:r>
          </a:p>
          <a:p>
            <a:r>
              <a:rPr lang="en-US" sz="3400" dirty="0" smtClean="0"/>
              <a:t>8. Do not log in to important accounts on the computers of others, or when connected to a public Wi-Fi hotspot, Tor, free VPN or web proxy.</a:t>
            </a:r>
          </a:p>
          <a:p>
            <a:r>
              <a:rPr lang="en-US" sz="3400" dirty="0" smtClean="0"/>
              <a:t>9. Do not send sensitive information online via HTTP or FTP connections, because messages in these connections can be sniffed with very little effort. You should use encrypted connections such as HTTPS and SFTP whenever possible.</a:t>
            </a:r>
          </a:p>
          <a:p>
            <a:endParaRPr lang="en-US" dirty="0" smtClean="0"/>
          </a:p>
          <a:p>
            <a:endParaRPr lang="en-IN" dirty="0"/>
          </a:p>
        </p:txBody>
      </p:sp>
    </p:spTree>
    <p:extLst>
      <p:ext uri="{BB962C8B-B14F-4D97-AF65-F5344CB8AC3E}">
        <p14:creationId xmlns:p14="http://schemas.microsoft.com/office/powerpoint/2010/main" val="20331676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3" y="22225"/>
            <a:ext cx="10515600" cy="1325563"/>
          </a:xfrm>
        </p:spPr>
        <p:txBody>
          <a:bodyPr/>
          <a:lstStyle/>
          <a:p>
            <a:endParaRPr lang="en-IN"/>
          </a:p>
        </p:txBody>
      </p:sp>
      <p:sp>
        <p:nvSpPr>
          <p:cNvPr id="3" name="Content Placeholder 2"/>
          <p:cNvSpPr>
            <a:spLocks noGrp="1"/>
          </p:cNvSpPr>
          <p:nvPr>
            <p:ph idx="1"/>
          </p:nvPr>
        </p:nvSpPr>
        <p:spPr>
          <a:xfrm>
            <a:off x="1381125" y="1347788"/>
            <a:ext cx="10515600" cy="5046663"/>
          </a:xfrm>
        </p:spPr>
        <p:txBody>
          <a:bodyPr>
            <a:noAutofit/>
          </a:bodyPr>
          <a:lstStyle/>
          <a:p>
            <a:pPr algn="just"/>
            <a:r>
              <a:rPr lang="en-US" sz="1600" dirty="0" smtClean="0"/>
              <a:t>10. When travelling, you can encrypt your Internet connections before they leave your laptop, tablet, mobile phone or router. For example, you can set up a private VPN on your own server( home computer, dedicated server or VPS ) and connect to it. Alternatively, you can set up an encrypted SSH tunnel between your router and your home computer( or a remote server of your own ) with </a:t>
            </a:r>
            <a:r>
              <a:rPr lang="en-US" sz="1600" dirty="0" err="1" smtClean="0"/>
              <a:t>PuTTY</a:t>
            </a:r>
            <a:r>
              <a:rPr lang="en-US" sz="1600" dirty="0" smtClean="0"/>
              <a:t> and connect your programs( e.g. </a:t>
            </a:r>
            <a:r>
              <a:rPr lang="en-US" sz="1600" dirty="0" err="1" smtClean="0"/>
              <a:t>FireFox</a:t>
            </a:r>
            <a:r>
              <a:rPr lang="en-US" sz="1600" dirty="0" smtClean="0"/>
              <a:t> ) to </a:t>
            </a:r>
            <a:r>
              <a:rPr lang="en-US" sz="1600" dirty="0" err="1" smtClean="0"/>
              <a:t>PuTTY</a:t>
            </a:r>
            <a:r>
              <a:rPr lang="en-US" sz="1600" dirty="0" smtClean="0"/>
              <a:t>. Then even if somebody captures your data as it is transmitted between your device( e.g. laptop, iPhone, iPad ) and your server with a packet sniffer, he'll won't be able to steal your data and passwords from the encrypted streaming data.</a:t>
            </a:r>
          </a:p>
          <a:p>
            <a:pPr algn="just"/>
            <a:r>
              <a:rPr lang="en-US" sz="1600" dirty="0" smtClean="0"/>
              <a:t>11. How secure is my password? Perhaps you believe that your passwords are very strong, difficult to hack. But if a hacker has stolen your username and the MD5 hash value of your password from a company's server, and the rainbow table of the hacker contains this MD5 hash, then your password will be cracked quickly.</a:t>
            </a:r>
          </a:p>
          <a:p>
            <a:pPr algn="just"/>
            <a:r>
              <a:rPr lang="en-US" sz="1600" dirty="0" smtClean="0"/>
              <a:t>     To check the strength of your passwords and know whether they're inside the popular rainbow tables, you can convert your passwords to MD5 hashes on this </a:t>
            </a:r>
            <a:r>
              <a:rPr lang="en-US" sz="1600" dirty="0" smtClean="0">
                <a:hlinkClick r:id="rId2"/>
              </a:rPr>
              <a:t>MD5 hash generator</a:t>
            </a:r>
            <a:r>
              <a:rPr lang="en-US" sz="1600" dirty="0" smtClean="0"/>
              <a:t>, then decrypt your passwords by submitting these hashes to an online MD5 decryption service. For instance, your password is "0123456789A", using the brute-force method, it may take a computer almost one year to crack your password, but if you decrypt it by submitting its MD5 hash( C8E7279CD035B23BB9C0F1F954DFF5B3 ) to a MD5 decryption website, how long will it take to crack it? You can perform the test yourself.</a:t>
            </a:r>
          </a:p>
          <a:p>
            <a:pPr algn="just"/>
            <a:r>
              <a:rPr lang="en-US" sz="1600" dirty="0" smtClean="0"/>
              <a:t>12. It's recommended to change your passwords every 10 weeks.</a:t>
            </a:r>
          </a:p>
          <a:p>
            <a:pPr algn="just"/>
            <a:r>
              <a:rPr lang="en-US" sz="1600" dirty="0" smtClean="0"/>
              <a:t>13. It's recommended that you remember a few master passwords, store other passwords in a plain text file and encrypt this file with 7-Zip, GPG or a disk encryption software such as BitLocker, or manage your passwords with a password management software.</a:t>
            </a:r>
          </a:p>
          <a:p>
            <a:pPr algn="just"/>
            <a:r>
              <a:rPr lang="en-US" sz="1600" dirty="0" smtClean="0"/>
              <a:t>14. Encrypt and backup your passwords to different locations, then if you lost access to your computer or account, you can retrieve your passwords back quickly.</a:t>
            </a:r>
          </a:p>
        </p:txBody>
      </p:sp>
    </p:spTree>
    <p:extLst>
      <p:ext uri="{BB962C8B-B14F-4D97-AF65-F5344CB8AC3E}">
        <p14:creationId xmlns:p14="http://schemas.microsoft.com/office/powerpoint/2010/main" val="2926587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23812"/>
            <a:ext cx="10515600" cy="1325563"/>
          </a:xfrm>
        </p:spPr>
        <p:txBody>
          <a:bodyPr/>
          <a:lstStyle/>
          <a:p>
            <a:endParaRPr lang="en-IN"/>
          </a:p>
        </p:txBody>
      </p:sp>
      <p:sp>
        <p:nvSpPr>
          <p:cNvPr id="3" name="Content Placeholder 2"/>
          <p:cNvSpPr>
            <a:spLocks noGrp="1"/>
          </p:cNvSpPr>
          <p:nvPr>
            <p:ph idx="1"/>
          </p:nvPr>
        </p:nvSpPr>
        <p:spPr>
          <a:xfrm>
            <a:off x="1676400" y="1497013"/>
            <a:ext cx="10515600" cy="4351338"/>
          </a:xfrm>
        </p:spPr>
        <p:txBody>
          <a:bodyPr>
            <a:normAutofit fontScale="70000" lnSpcReduction="20000"/>
          </a:bodyPr>
          <a:lstStyle/>
          <a:p>
            <a:r>
              <a:rPr lang="en-US" dirty="0" smtClean="0"/>
              <a:t>15. Turn on 2-step authentication whenever possible.</a:t>
            </a:r>
          </a:p>
          <a:p>
            <a:r>
              <a:rPr lang="en-US" dirty="0" smtClean="0"/>
              <a:t>16. Do not store your critical passwords in the cloud.</a:t>
            </a:r>
          </a:p>
          <a:p>
            <a:r>
              <a:rPr lang="en-US" dirty="0" smtClean="0"/>
              <a:t>17. Access important websites( e.g. </a:t>
            </a:r>
            <a:r>
              <a:rPr lang="en-US" dirty="0" err="1" smtClean="0"/>
              <a:t>Paypal</a:t>
            </a:r>
            <a:r>
              <a:rPr lang="en-US" dirty="0" smtClean="0"/>
              <a:t> ) from bookmarks directly, otherwise please check its domain name carefully, it's a good idea to check the popularity of a website with Alexa toolbar to ensure that it's not a phishing site before entering your password.</a:t>
            </a:r>
          </a:p>
          <a:p>
            <a:r>
              <a:rPr lang="en-US" dirty="0" smtClean="0"/>
              <a:t>18. Protect your computer with firewall and antivirus software, download software from reputable sites only, and verify the MD5 or SHA1 checksum of the installation package whenever possible.</a:t>
            </a:r>
          </a:p>
          <a:p>
            <a:r>
              <a:rPr lang="en-US" dirty="0" smtClean="0"/>
              <a:t>19. Be careful when using online paste tools and screen capture tools, do not let them to upload your passwords to the cloud.</a:t>
            </a:r>
          </a:p>
          <a:p>
            <a:r>
              <a:rPr lang="en-US" dirty="0" smtClean="0"/>
              <a:t>20. If there are important files on your computer, and it can be accessed by others, check if there are hardware </a:t>
            </a:r>
            <a:r>
              <a:rPr lang="en-US" dirty="0" err="1" smtClean="0"/>
              <a:t>keyloggers</a:t>
            </a:r>
            <a:r>
              <a:rPr lang="en-US" dirty="0" smtClean="0"/>
              <a:t>( e.g. wireless keyboard sniffer ), software </a:t>
            </a:r>
            <a:r>
              <a:rPr lang="en-US" dirty="0" err="1" smtClean="0"/>
              <a:t>keyloggers</a:t>
            </a:r>
            <a:r>
              <a:rPr lang="en-US" dirty="0" smtClean="0"/>
              <a:t> and hidden cameras when you feel it's necessary.</a:t>
            </a:r>
          </a:p>
          <a:p>
            <a:r>
              <a:rPr lang="en-US" dirty="0" smtClean="0"/>
              <a:t>21. If you're a webmaster, do not store the users passwords in the database, you should store the salted hash values of passwords instead.</a:t>
            </a:r>
          </a:p>
          <a:p>
            <a:endParaRPr lang="en-IN" dirty="0" smtClean="0"/>
          </a:p>
          <a:p>
            <a:endParaRPr lang="en-IN" dirty="0"/>
          </a:p>
        </p:txBody>
      </p:sp>
    </p:spTree>
    <p:extLst>
      <p:ext uri="{BB962C8B-B14F-4D97-AF65-F5344CB8AC3E}">
        <p14:creationId xmlns:p14="http://schemas.microsoft.com/office/powerpoint/2010/main" val="16935481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4. </a:t>
            </a:r>
            <a:r>
              <a:rPr lang="en-US" dirty="0" err="1" smtClean="0"/>
              <a:t>keyloggers</a:t>
            </a:r>
            <a:endParaRPr lang="en-US" dirty="0"/>
          </a:p>
        </p:txBody>
      </p:sp>
      <p:sp>
        <p:nvSpPr>
          <p:cNvPr id="3" name="Content Placeholder 2"/>
          <p:cNvSpPr>
            <a:spLocks noGrp="1"/>
          </p:cNvSpPr>
          <p:nvPr>
            <p:ph idx="1"/>
          </p:nvPr>
        </p:nvSpPr>
        <p:spPr>
          <a:xfrm>
            <a:off x="1676400" y="1454150"/>
            <a:ext cx="10515600" cy="4351338"/>
          </a:xfrm>
        </p:spPr>
        <p:txBody>
          <a:bodyPr>
            <a:normAutofit/>
          </a:bodyPr>
          <a:lstStyle/>
          <a:p>
            <a:pPr algn="just"/>
            <a:r>
              <a:rPr lang="en-US" b="1" dirty="0" smtClean="0"/>
              <a:t>Keystroke logging</a:t>
            </a:r>
            <a:r>
              <a:rPr lang="en-US" dirty="0" smtClean="0"/>
              <a:t>, often referred to as </a:t>
            </a:r>
            <a:r>
              <a:rPr lang="en-US" b="1" dirty="0" err="1" smtClean="0"/>
              <a:t>keylogging</a:t>
            </a:r>
            <a:r>
              <a:rPr lang="en-US" dirty="0" smtClean="0"/>
              <a:t> or </a:t>
            </a:r>
            <a:r>
              <a:rPr lang="en-US" b="1" dirty="0" smtClean="0"/>
              <a:t>keyboard capturing</a:t>
            </a:r>
            <a:r>
              <a:rPr lang="en-US" dirty="0" smtClean="0"/>
              <a:t>, is the action of recording (or logging) the keys struck on a keyboard, typically in a covert manner so that the person using the keyboard is unaware that their actions are being monitored.</a:t>
            </a:r>
            <a:endParaRPr lang="en-US" baseline="30000" dirty="0" smtClean="0"/>
          </a:p>
          <a:p>
            <a:pPr algn="just"/>
            <a:r>
              <a:rPr lang="en-US" dirty="0" smtClean="0"/>
              <a:t>It has uses in the study of human–computer interaction. </a:t>
            </a:r>
          </a:p>
          <a:p>
            <a:pPr algn="just"/>
            <a:r>
              <a:rPr lang="en-US" dirty="0" smtClean="0"/>
              <a:t>There are numerous </a:t>
            </a:r>
            <a:r>
              <a:rPr lang="en-US" dirty="0" err="1" smtClean="0"/>
              <a:t>keylogging</a:t>
            </a:r>
            <a:r>
              <a:rPr lang="en-US" dirty="0" smtClean="0"/>
              <a:t> methods, ranging from hardware and software-based approaches to acoustic analysis.</a:t>
            </a:r>
            <a:endParaRPr lang="en-US" dirty="0"/>
          </a:p>
        </p:txBody>
      </p:sp>
    </p:spTree>
    <p:extLst>
      <p:ext uri="{BB962C8B-B14F-4D97-AF65-F5344CB8AC3E}">
        <p14:creationId xmlns:p14="http://schemas.microsoft.com/office/powerpoint/2010/main" val="40298461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0"/>
            <a:ext cx="10515600" cy="1325563"/>
          </a:xfrm>
        </p:spPr>
        <p:txBody>
          <a:bodyPr/>
          <a:lstStyle/>
          <a:p>
            <a:r>
              <a:rPr lang="en-US" dirty="0" smtClean="0"/>
              <a:t>Software-based </a:t>
            </a:r>
            <a:r>
              <a:rPr lang="en-US" dirty="0" err="1" smtClean="0"/>
              <a:t>keyloggers</a:t>
            </a:r>
            <a:endParaRPr lang="en-US" dirty="0"/>
          </a:p>
        </p:txBody>
      </p:sp>
      <p:sp>
        <p:nvSpPr>
          <p:cNvPr id="3" name="Content Placeholder 2"/>
          <p:cNvSpPr>
            <a:spLocks noGrp="1"/>
          </p:cNvSpPr>
          <p:nvPr>
            <p:ph idx="1"/>
          </p:nvPr>
        </p:nvSpPr>
        <p:spPr>
          <a:xfrm>
            <a:off x="1495425" y="1611312"/>
            <a:ext cx="10515600" cy="4351338"/>
          </a:xfrm>
        </p:spPr>
        <p:txBody>
          <a:bodyPr>
            <a:normAutofit lnSpcReduction="10000"/>
          </a:bodyPr>
          <a:lstStyle/>
          <a:p>
            <a:pPr algn="just"/>
            <a:r>
              <a:rPr lang="en-US" dirty="0" smtClean="0"/>
              <a:t>Software-based </a:t>
            </a:r>
            <a:r>
              <a:rPr lang="en-US" dirty="0" err="1" smtClean="0"/>
              <a:t>keyloggers</a:t>
            </a:r>
            <a:r>
              <a:rPr lang="en-US" dirty="0" smtClean="0"/>
              <a:t> use the target computer’s operating system in various ways, including: </a:t>
            </a:r>
          </a:p>
          <a:p>
            <a:pPr lvl="1" algn="just"/>
            <a:r>
              <a:rPr lang="en-US" dirty="0" smtClean="0"/>
              <a:t>imitating a virtual machine, acting as the keyboard driver (kernel-based), </a:t>
            </a:r>
          </a:p>
          <a:p>
            <a:pPr lvl="1" algn="just"/>
            <a:r>
              <a:rPr lang="en-US" dirty="0" smtClean="0"/>
              <a:t>using the application programming interface to watch keyboard strokes (API-based), </a:t>
            </a:r>
          </a:p>
          <a:p>
            <a:pPr lvl="1" algn="just"/>
            <a:r>
              <a:rPr lang="en-US" dirty="0" smtClean="0"/>
              <a:t>recording information submitted on web-based forms (Form Grabber based) or capturing network traffic associated with HTTP POST events to steal passwords (Packet analyzers). </a:t>
            </a:r>
          </a:p>
          <a:p>
            <a:pPr algn="just"/>
            <a:r>
              <a:rPr lang="en-US" dirty="0" smtClean="0"/>
              <a:t>Usually consists of two files DLL and EXE</a:t>
            </a:r>
          </a:p>
          <a:p>
            <a:pPr algn="just"/>
            <a:r>
              <a:rPr lang="en-US" dirty="0" smtClean="0"/>
              <a:t>Examples: SC-</a:t>
            </a:r>
            <a:r>
              <a:rPr lang="en-US" dirty="0" err="1" smtClean="0"/>
              <a:t>keylog</a:t>
            </a:r>
            <a:r>
              <a:rPr lang="en-US" dirty="0" smtClean="0"/>
              <a:t> PRO, All in one </a:t>
            </a:r>
            <a:r>
              <a:rPr lang="en-US" dirty="0" err="1" smtClean="0"/>
              <a:t>Keylogger,spy</a:t>
            </a:r>
            <a:r>
              <a:rPr lang="en-US" dirty="0" smtClean="0"/>
              <a:t> buddy, </a:t>
            </a:r>
            <a:r>
              <a:rPr lang="en-US" dirty="0" err="1" smtClean="0"/>
              <a:t>CyberSpy</a:t>
            </a:r>
            <a:r>
              <a:rPr lang="en-US" dirty="0" smtClean="0"/>
              <a:t> etc.</a:t>
            </a:r>
            <a:endParaRPr lang="en-US" dirty="0"/>
          </a:p>
        </p:txBody>
      </p:sp>
    </p:spTree>
    <p:extLst>
      <p:ext uri="{BB962C8B-B14F-4D97-AF65-F5344CB8AC3E}">
        <p14:creationId xmlns:p14="http://schemas.microsoft.com/office/powerpoint/2010/main" val="42347213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Hardware </a:t>
            </a:r>
            <a:r>
              <a:rPr lang="en-US" dirty="0" err="1" smtClean="0"/>
              <a:t>keyloggers</a:t>
            </a:r>
            <a:endParaRPr lang="en-US" dirty="0"/>
          </a:p>
        </p:txBody>
      </p:sp>
      <p:sp>
        <p:nvSpPr>
          <p:cNvPr id="3" name="Content Placeholder 2"/>
          <p:cNvSpPr>
            <a:spLocks noGrp="1"/>
          </p:cNvSpPr>
          <p:nvPr>
            <p:ph idx="1"/>
          </p:nvPr>
        </p:nvSpPr>
        <p:spPr>
          <a:xfrm>
            <a:off x="1676400" y="1468437"/>
            <a:ext cx="10515600" cy="4351338"/>
          </a:xfrm>
        </p:spPr>
        <p:txBody>
          <a:bodyPr/>
          <a:lstStyle/>
          <a:p>
            <a:r>
              <a:rPr lang="en-US" dirty="0"/>
              <a:t>I</a:t>
            </a:r>
            <a:r>
              <a:rPr lang="en-US" dirty="0" smtClean="0"/>
              <a:t>nstalling a hardware circuit between the keyboard and the computer that logs keyboard stroke activity (keyboard hardware).</a:t>
            </a:r>
          </a:p>
          <a:p>
            <a:r>
              <a:rPr lang="en-US" dirty="0" smtClean="0"/>
              <a:t>Target- ATMs</a:t>
            </a:r>
            <a:endParaRPr lang="en-US" dirty="0"/>
          </a:p>
        </p:txBody>
      </p:sp>
    </p:spTree>
    <p:extLst>
      <p:ext uri="{BB962C8B-B14F-4D97-AF65-F5344CB8AC3E}">
        <p14:creationId xmlns:p14="http://schemas.microsoft.com/office/powerpoint/2010/main" val="25421466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Acoustic </a:t>
            </a:r>
            <a:r>
              <a:rPr lang="en-US" dirty="0" err="1" smtClean="0"/>
              <a:t>keylogging</a:t>
            </a:r>
            <a:endParaRPr lang="en-US" dirty="0"/>
          </a:p>
        </p:txBody>
      </p:sp>
      <p:sp>
        <p:nvSpPr>
          <p:cNvPr id="3" name="Content Placeholder 2"/>
          <p:cNvSpPr>
            <a:spLocks noGrp="1"/>
          </p:cNvSpPr>
          <p:nvPr>
            <p:ph idx="1"/>
          </p:nvPr>
        </p:nvSpPr>
        <p:spPr>
          <a:xfrm>
            <a:off x="1552575" y="1539875"/>
            <a:ext cx="10515600" cy="4351338"/>
          </a:xfrm>
        </p:spPr>
        <p:txBody>
          <a:bodyPr/>
          <a:lstStyle/>
          <a:p>
            <a:r>
              <a:rPr lang="en-US" dirty="0" smtClean="0"/>
              <a:t>Acoustic </a:t>
            </a:r>
            <a:r>
              <a:rPr lang="en-US" dirty="0" err="1" smtClean="0"/>
              <a:t>keylogging</a:t>
            </a:r>
            <a:r>
              <a:rPr lang="en-US" dirty="0" smtClean="0"/>
              <a:t> monitors the sound created by each individual keystroke and uses the subtly different acoustic signature that each key emits to analyze and determine what the target computer’s user is typing.</a:t>
            </a:r>
            <a:endParaRPr lang="en-US" dirty="0"/>
          </a:p>
        </p:txBody>
      </p:sp>
    </p:spTree>
    <p:extLst>
      <p:ext uri="{BB962C8B-B14F-4D97-AF65-F5344CB8AC3E}">
        <p14:creationId xmlns:p14="http://schemas.microsoft.com/office/powerpoint/2010/main" val="21657653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0"/>
            <a:ext cx="10515600" cy="1325563"/>
          </a:xfrm>
        </p:spPr>
        <p:txBody>
          <a:bodyPr/>
          <a:lstStyle/>
          <a:p>
            <a:r>
              <a:rPr lang="en-US" dirty="0" err="1" smtClean="0"/>
              <a:t>AntiKeylogger</a:t>
            </a:r>
            <a:endParaRPr lang="en-US" dirty="0"/>
          </a:p>
        </p:txBody>
      </p:sp>
      <p:sp>
        <p:nvSpPr>
          <p:cNvPr id="3" name="Content Placeholder 2"/>
          <p:cNvSpPr>
            <a:spLocks noGrp="1"/>
          </p:cNvSpPr>
          <p:nvPr>
            <p:ph idx="1"/>
          </p:nvPr>
        </p:nvSpPr>
        <p:spPr>
          <a:xfrm>
            <a:off x="1676400" y="1468438"/>
            <a:ext cx="10515600" cy="4351338"/>
          </a:xfrm>
        </p:spPr>
        <p:txBody>
          <a:bodyPr/>
          <a:lstStyle/>
          <a:p>
            <a:r>
              <a:rPr lang="en-US" dirty="0" smtClean="0"/>
              <a:t>An </a:t>
            </a:r>
            <a:r>
              <a:rPr lang="en-US" b="1" dirty="0" smtClean="0"/>
              <a:t>anti-</a:t>
            </a:r>
            <a:r>
              <a:rPr lang="en-US" b="1" dirty="0" err="1" smtClean="0"/>
              <a:t>keylogger</a:t>
            </a:r>
            <a:r>
              <a:rPr lang="en-US" dirty="0" smtClean="0"/>
              <a:t> (or </a:t>
            </a:r>
            <a:r>
              <a:rPr lang="en-US" b="1" dirty="0" smtClean="0"/>
              <a:t>anti–keystroke logger</a:t>
            </a:r>
            <a:r>
              <a:rPr lang="en-US" dirty="0" smtClean="0"/>
              <a:t>) is a type of software specifically designed for the detection of keystroke logger software; often, such software will also incorporate the ability to delete or at least immobilize hidden keystroke logger software on your computer. </a:t>
            </a:r>
            <a:endParaRPr lang="en-US" dirty="0"/>
          </a:p>
        </p:txBody>
      </p:sp>
    </p:spTree>
    <p:extLst>
      <p:ext uri="{BB962C8B-B14F-4D97-AF65-F5344CB8AC3E}">
        <p14:creationId xmlns:p14="http://schemas.microsoft.com/office/powerpoint/2010/main" val="4578243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lstStyle/>
          <a:p>
            <a:r>
              <a:rPr lang="en-US" dirty="0" smtClean="0"/>
              <a:t>Benefits of </a:t>
            </a:r>
            <a:r>
              <a:rPr lang="en-US" dirty="0" err="1" smtClean="0"/>
              <a:t>Antikeyloggers</a:t>
            </a:r>
            <a:endParaRPr lang="en-US" dirty="0"/>
          </a:p>
        </p:txBody>
      </p:sp>
      <p:pic>
        <p:nvPicPr>
          <p:cNvPr id="1026" name="Picture 2"/>
          <p:cNvPicPr>
            <a:picLocks noChangeAspect="1" noChangeArrowheads="1"/>
          </p:cNvPicPr>
          <p:nvPr/>
        </p:nvPicPr>
        <p:blipFill>
          <a:blip r:embed="rId2"/>
          <a:srcRect/>
          <a:stretch>
            <a:fillRect/>
          </a:stretch>
        </p:blipFill>
        <p:spPr bwMode="auto">
          <a:xfrm>
            <a:off x="1790380" y="1457326"/>
            <a:ext cx="9982840" cy="5056188"/>
          </a:xfrm>
          <a:prstGeom prst="rect">
            <a:avLst/>
          </a:prstGeom>
          <a:noFill/>
          <a:ln w="9525">
            <a:noFill/>
            <a:miter lim="800000"/>
            <a:headEnd/>
            <a:tailEnd/>
          </a:ln>
          <a:effectLst/>
        </p:spPr>
      </p:pic>
    </p:spTree>
    <p:extLst>
      <p:ext uri="{BB962C8B-B14F-4D97-AF65-F5344CB8AC3E}">
        <p14:creationId xmlns:p14="http://schemas.microsoft.com/office/powerpoint/2010/main" val="28483589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Spywares </a:t>
            </a:r>
            <a:endParaRPr lang="en-US" dirty="0"/>
          </a:p>
        </p:txBody>
      </p:sp>
      <p:sp>
        <p:nvSpPr>
          <p:cNvPr id="3" name="Content Placeholder 2"/>
          <p:cNvSpPr>
            <a:spLocks noGrp="1"/>
          </p:cNvSpPr>
          <p:nvPr>
            <p:ph idx="1"/>
          </p:nvPr>
        </p:nvSpPr>
        <p:spPr>
          <a:xfrm>
            <a:off x="1524000" y="1597025"/>
            <a:ext cx="10515600" cy="4351338"/>
          </a:xfrm>
        </p:spPr>
        <p:txBody>
          <a:bodyPr/>
          <a:lstStyle/>
          <a:p>
            <a:pPr algn="just"/>
            <a:r>
              <a:rPr lang="en-US" b="1" dirty="0" smtClean="0"/>
              <a:t>Spyware</a:t>
            </a:r>
            <a:r>
              <a:rPr lang="en-US" dirty="0" smtClean="0"/>
              <a:t> is software that aims to gather information about a person or organization without their knowledge and that may send such information to another entity without the consumer's consent, or that asserts control over a computer without the consumer's knowledge</a:t>
            </a:r>
            <a:endParaRPr lang="en-US" dirty="0"/>
          </a:p>
        </p:txBody>
      </p:sp>
    </p:spTree>
    <p:extLst>
      <p:ext uri="{BB962C8B-B14F-4D97-AF65-F5344CB8AC3E}">
        <p14:creationId xmlns:p14="http://schemas.microsoft.com/office/powerpoint/2010/main" val="1360840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0"/>
            <a:ext cx="10515600" cy="1325563"/>
          </a:xfrm>
        </p:spPr>
        <p:txBody>
          <a:bodyPr/>
          <a:lstStyle/>
          <a:p>
            <a:r>
              <a:rPr lang="en-US" dirty="0" smtClean="0"/>
              <a:t>5. Virus and Worms</a:t>
            </a:r>
            <a:endParaRPr lang="en-US" dirty="0"/>
          </a:p>
        </p:txBody>
      </p:sp>
      <p:sp>
        <p:nvSpPr>
          <p:cNvPr id="3" name="Content Placeholder 2"/>
          <p:cNvSpPr>
            <a:spLocks noGrp="1"/>
          </p:cNvSpPr>
          <p:nvPr>
            <p:ph idx="1"/>
          </p:nvPr>
        </p:nvSpPr>
        <p:spPr>
          <a:xfrm>
            <a:off x="1538288" y="1611312"/>
            <a:ext cx="10515600" cy="4351338"/>
          </a:xfrm>
        </p:spPr>
        <p:txBody>
          <a:bodyPr/>
          <a:lstStyle/>
          <a:p>
            <a:pPr algn="just"/>
            <a:r>
              <a:rPr lang="en-US" dirty="0" smtClean="0"/>
              <a:t>A computer virus is a </a:t>
            </a:r>
            <a:r>
              <a:rPr lang="en-US" b="1" dirty="0" smtClean="0"/>
              <a:t>malware</a:t>
            </a:r>
            <a:r>
              <a:rPr lang="en-US" dirty="0" smtClean="0"/>
              <a:t> program that, when executed, replicates by inserting copies of itself (possibly modified) into other computer programs, data files, or the boot sector of the hard drive; when this replication succeeds, the affected areas are then said to be "</a:t>
            </a:r>
            <a:r>
              <a:rPr lang="en-US" b="1" dirty="0" smtClean="0"/>
              <a:t>infected</a:t>
            </a:r>
            <a:r>
              <a:rPr lang="en-US" dirty="0" smtClean="0"/>
              <a:t>".</a:t>
            </a:r>
            <a:endParaRPr lang="en-US" dirty="0"/>
          </a:p>
        </p:txBody>
      </p:sp>
    </p:spTree>
    <p:extLst>
      <p:ext uri="{BB962C8B-B14F-4D97-AF65-F5344CB8AC3E}">
        <p14:creationId xmlns:p14="http://schemas.microsoft.com/office/powerpoint/2010/main" val="40544827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lstStyle/>
          <a:p>
            <a:r>
              <a:rPr lang="en-US" dirty="0" smtClean="0"/>
              <a:t>Some typical actions by viruses</a:t>
            </a:r>
            <a:endParaRPr lang="en-US" dirty="0"/>
          </a:p>
        </p:txBody>
      </p:sp>
      <p:sp>
        <p:nvSpPr>
          <p:cNvPr id="3" name="Content Placeholder 2"/>
          <p:cNvSpPr>
            <a:spLocks noGrp="1"/>
          </p:cNvSpPr>
          <p:nvPr>
            <p:ph idx="1"/>
          </p:nvPr>
        </p:nvSpPr>
        <p:spPr>
          <a:xfrm>
            <a:off x="1538287" y="1554163"/>
            <a:ext cx="10515600" cy="4351338"/>
          </a:xfrm>
        </p:spPr>
        <p:txBody>
          <a:bodyPr/>
          <a:lstStyle/>
          <a:p>
            <a:r>
              <a:rPr lang="en-US" dirty="0" smtClean="0"/>
              <a:t>Display a message to prompt an action</a:t>
            </a:r>
          </a:p>
          <a:p>
            <a:r>
              <a:rPr lang="en-US" dirty="0" smtClean="0"/>
              <a:t>Delete files in the system</a:t>
            </a:r>
          </a:p>
          <a:p>
            <a:r>
              <a:rPr lang="en-US" dirty="0" smtClean="0"/>
              <a:t>Scramble data on a hard disk</a:t>
            </a:r>
          </a:p>
          <a:p>
            <a:r>
              <a:rPr lang="en-US" dirty="0" smtClean="0"/>
              <a:t>Cause erratic screen behavior</a:t>
            </a:r>
          </a:p>
          <a:p>
            <a:r>
              <a:rPr lang="en-US" dirty="0" smtClean="0"/>
              <a:t>Halt the system</a:t>
            </a:r>
          </a:p>
          <a:p>
            <a:r>
              <a:rPr lang="en-US" dirty="0" smtClean="0"/>
              <a:t>Replicate themselves to propagate further harm</a:t>
            </a:r>
            <a:endParaRPr lang="en-US" dirty="0"/>
          </a:p>
        </p:txBody>
      </p:sp>
    </p:spTree>
    <p:extLst>
      <p:ext uri="{BB962C8B-B14F-4D97-AF65-F5344CB8AC3E}">
        <p14:creationId xmlns:p14="http://schemas.microsoft.com/office/powerpoint/2010/main" val="15772464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Virus spread through</a:t>
            </a:r>
            <a:endParaRPr lang="en-US" dirty="0"/>
          </a:p>
        </p:txBody>
      </p:sp>
      <p:sp>
        <p:nvSpPr>
          <p:cNvPr id="3" name="Content Placeholder 2"/>
          <p:cNvSpPr>
            <a:spLocks noGrp="1"/>
          </p:cNvSpPr>
          <p:nvPr>
            <p:ph idx="1"/>
          </p:nvPr>
        </p:nvSpPr>
        <p:spPr>
          <a:xfrm>
            <a:off x="1676400" y="1597025"/>
            <a:ext cx="10515600" cy="4351338"/>
          </a:xfrm>
        </p:spPr>
        <p:txBody>
          <a:bodyPr/>
          <a:lstStyle/>
          <a:p>
            <a:r>
              <a:rPr lang="en-US" dirty="0" smtClean="0"/>
              <a:t>The internet</a:t>
            </a:r>
          </a:p>
          <a:p>
            <a:r>
              <a:rPr lang="en-US" dirty="0" smtClean="0"/>
              <a:t>A stand alone PC</a:t>
            </a:r>
          </a:p>
          <a:p>
            <a:r>
              <a:rPr lang="en-US" dirty="0" smtClean="0"/>
              <a:t>Local networks</a:t>
            </a:r>
          </a:p>
          <a:p>
            <a:pPr>
              <a:buNone/>
            </a:pPr>
            <a:endParaRPr lang="en-US" dirty="0"/>
          </a:p>
        </p:txBody>
      </p:sp>
    </p:spTree>
    <p:extLst>
      <p:ext uri="{BB962C8B-B14F-4D97-AF65-F5344CB8AC3E}">
        <p14:creationId xmlns:p14="http://schemas.microsoft.com/office/powerpoint/2010/main" val="13208367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689" y="-13934"/>
            <a:ext cx="10515600" cy="1325563"/>
          </a:xfrm>
        </p:spPr>
        <p:txBody>
          <a:bodyPr/>
          <a:lstStyle/>
          <a:p>
            <a:endParaRPr lang="en-IN"/>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99557" y="1819922"/>
            <a:ext cx="6173188" cy="4560947"/>
          </a:xfrm>
        </p:spPr>
      </p:pic>
    </p:spTree>
    <p:extLst>
      <p:ext uri="{BB962C8B-B14F-4D97-AF65-F5344CB8AC3E}">
        <p14:creationId xmlns:p14="http://schemas.microsoft.com/office/powerpoint/2010/main" val="25096956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978" y="-2645"/>
            <a:ext cx="10515600" cy="1325563"/>
          </a:xfrm>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02123" y="1565275"/>
            <a:ext cx="8054604" cy="4351338"/>
          </a:xfrm>
        </p:spPr>
      </p:pic>
    </p:spTree>
    <p:extLst>
      <p:ext uri="{BB962C8B-B14F-4D97-AF65-F5344CB8AC3E}">
        <p14:creationId xmlns:p14="http://schemas.microsoft.com/office/powerpoint/2010/main" val="24163305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5533" y="37747"/>
            <a:ext cx="10515600" cy="1325563"/>
          </a:xfrm>
        </p:spPr>
        <p:txBody>
          <a:bodyPr/>
          <a:lstStyle/>
          <a:p>
            <a:endParaRPr lang="en-IN"/>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78500" y="1589088"/>
            <a:ext cx="5390725" cy="4351337"/>
          </a:xfrm>
        </p:spPr>
      </p:pic>
    </p:spTree>
    <p:extLst>
      <p:ext uri="{BB962C8B-B14F-4D97-AF65-F5344CB8AC3E}">
        <p14:creationId xmlns:p14="http://schemas.microsoft.com/office/powerpoint/2010/main" val="29355792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2" y="100013"/>
            <a:ext cx="7498080" cy="1143000"/>
          </a:xfrm>
        </p:spPr>
        <p:txBody>
          <a:bodyPr>
            <a:normAutofit fontScale="90000"/>
          </a:bodyPr>
          <a:lstStyle/>
          <a:p>
            <a:r>
              <a:rPr lang="en-US" dirty="0" smtClean="0"/>
              <a:t>Difference between virus and worm</a:t>
            </a:r>
            <a:endParaRPr lang="en-US" dirty="0"/>
          </a:p>
        </p:txBody>
      </p:sp>
      <p:pic>
        <p:nvPicPr>
          <p:cNvPr id="2050" name="Picture 2"/>
          <p:cNvPicPr>
            <a:picLocks noChangeAspect="1" noChangeArrowheads="1"/>
          </p:cNvPicPr>
          <p:nvPr/>
        </p:nvPicPr>
        <p:blipFill>
          <a:blip r:embed="rId2"/>
          <a:srcRect/>
          <a:stretch>
            <a:fillRect/>
          </a:stretch>
        </p:blipFill>
        <p:spPr bwMode="auto">
          <a:xfrm>
            <a:off x="2109787" y="1485899"/>
            <a:ext cx="7934325" cy="4891949"/>
          </a:xfrm>
          <a:prstGeom prst="rect">
            <a:avLst/>
          </a:prstGeom>
          <a:noFill/>
          <a:ln w="9525">
            <a:noFill/>
            <a:miter lim="800000"/>
            <a:headEnd/>
            <a:tailEnd/>
          </a:ln>
          <a:effectLst/>
        </p:spPr>
      </p:pic>
    </p:spTree>
    <p:extLst>
      <p:ext uri="{BB962C8B-B14F-4D97-AF65-F5344CB8AC3E}">
        <p14:creationId xmlns:p14="http://schemas.microsoft.com/office/powerpoint/2010/main" val="8421215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07951"/>
            <a:ext cx="10515600" cy="1325563"/>
          </a:xfrm>
        </p:spPr>
        <p:txBody>
          <a:bodyPr/>
          <a:lstStyle/>
          <a:p>
            <a:r>
              <a:rPr lang="en-US" dirty="0" smtClean="0"/>
              <a:t>Types of viruses</a:t>
            </a:r>
            <a:endParaRPr lang="en-US" dirty="0"/>
          </a:p>
        </p:txBody>
      </p:sp>
      <p:sp>
        <p:nvSpPr>
          <p:cNvPr id="3" name="Content Placeholder 2"/>
          <p:cNvSpPr>
            <a:spLocks noGrp="1"/>
          </p:cNvSpPr>
          <p:nvPr>
            <p:ph idx="1"/>
          </p:nvPr>
        </p:nvSpPr>
        <p:spPr>
          <a:xfrm>
            <a:off x="1676400" y="1582737"/>
            <a:ext cx="10515600" cy="4351338"/>
          </a:xfrm>
        </p:spPr>
        <p:txBody>
          <a:bodyPr/>
          <a:lstStyle/>
          <a:p>
            <a:r>
              <a:rPr lang="en-US" dirty="0" smtClean="0"/>
              <a:t>Boot sector viruses</a:t>
            </a:r>
          </a:p>
          <a:p>
            <a:r>
              <a:rPr lang="en-US" dirty="0" smtClean="0"/>
              <a:t>Program viruses</a:t>
            </a:r>
          </a:p>
          <a:p>
            <a:r>
              <a:rPr lang="en-US" dirty="0" smtClean="0"/>
              <a:t>Multipartite viruses</a:t>
            </a:r>
          </a:p>
          <a:p>
            <a:r>
              <a:rPr lang="en-US" dirty="0" smtClean="0"/>
              <a:t>Stealth viruses</a:t>
            </a:r>
          </a:p>
          <a:p>
            <a:r>
              <a:rPr lang="en-US" dirty="0" smtClean="0"/>
              <a:t>Polymorphic viruses</a:t>
            </a:r>
          </a:p>
          <a:p>
            <a:r>
              <a:rPr lang="en-US" dirty="0" err="1" smtClean="0"/>
              <a:t>Macroviruses</a:t>
            </a:r>
            <a:endParaRPr lang="en-US" dirty="0" smtClean="0"/>
          </a:p>
          <a:p>
            <a:r>
              <a:rPr lang="en-US" dirty="0" smtClean="0"/>
              <a:t>Active X and Java control</a:t>
            </a:r>
          </a:p>
        </p:txBody>
      </p:sp>
    </p:spTree>
    <p:extLst>
      <p:ext uri="{BB962C8B-B14F-4D97-AF65-F5344CB8AC3E}">
        <p14:creationId xmlns:p14="http://schemas.microsoft.com/office/powerpoint/2010/main" val="18405135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normAutofit/>
          </a:bodyPr>
          <a:lstStyle/>
          <a:p>
            <a:r>
              <a:rPr lang="en-US" dirty="0" smtClean="0"/>
              <a:t>Boot sector viruses</a:t>
            </a:r>
            <a:endParaRPr lang="en-US" dirty="0"/>
          </a:p>
        </p:txBody>
      </p:sp>
      <p:sp>
        <p:nvSpPr>
          <p:cNvPr id="3" name="Content Placeholder 2"/>
          <p:cNvSpPr>
            <a:spLocks noGrp="1"/>
          </p:cNvSpPr>
          <p:nvPr>
            <p:ph idx="1"/>
          </p:nvPr>
        </p:nvSpPr>
        <p:spPr>
          <a:xfrm>
            <a:off x="1538287" y="1554162"/>
            <a:ext cx="10515600" cy="4351338"/>
          </a:xfrm>
        </p:spPr>
        <p:txBody>
          <a:bodyPr>
            <a:normAutofit fontScale="85000" lnSpcReduction="20000"/>
          </a:bodyPr>
          <a:lstStyle/>
          <a:p>
            <a:r>
              <a:rPr lang="en-US" dirty="0" smtClean="0"/>
              <a:t>A boot sector virus is a computer virus that infects a storage device's master boot record (MBR). </a:t>
            </a:r>
          </a:p>
          <a:p>
            <a:r>
              <a:rPr lang="en-US" dirty="0" smtClean="0"/>
              <a:t>It is not mandatory that a boot sector virus successfully boot the victim's PC to infect it. </a:t>
            </a:r>
          </a:p>
          <a:p>
            <a:r>
              <a:rPr lang="en-US" dirty="0" smtClean="0"/>
              <a:t>As a result, even non-bootable media can trigger the spread of boot sector viruses. </a:t>
            </a:r>
          </a:p>
          <a:p>
            <a:r>
              <a:rPr lang="en-US" dirty="0" smtClean="0"/>
              <a:t>These viruses copy their infected code either to the floppy disk's boot sector or to the hard disk's partition table. During start-up, the virus gets loaded to the computer's memory. As soon as the virus is saved to the memory, it infects the non-infected disks used by the system. </a:t>
            </a:r>
          </a:p>
          <a:p>
            <a:r>
              <a:rPr lang="en-US" dirty="0" smtClean="0"/>
              <a:t>The propagation of boot sector viruses has become very rare since the decline of floppy disks. Also, present-day operating systems include boot-sector safeguards that make it difficult for boot sector viruses to infect them.</a:t>
            </a:r>
          </a:p>
          <a:p>
            <a:endParaRPr lang="en-US" dirty="0"/>
          </a:p>
        </p:txBody>
      </p:sp>
    </p:spTree>
    <p:extLst>
      <p:ext uri="{BB962C8B-B14F-4D97-AF65-F5344CB8AC3E}">
        <p14:creationId xmlns:p14="http://schemas.microsoft.com/office/powerpoint/2010/main" val="9245172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normAutofit/>
          </a:bodyPr>
          <a:lstStyle/>
          <a:p>
            <a:r>
              <a:rPr lang="en-US" dirty="0" smtClean="0"/>
              <a:t>Program viruses</a:t>
            </a:r>
            <a:endParaRPr lang="en-US" dirty="0"/>
          </a:p>
        </p:txBody>
      </p:sp>
      <p:sp>
        <p:nvSpPr>
          <p:cNvPr id="3" name="Content Placeholder 2"/>
          <p:cNvSpPr>
            <a:spLocks noGrp="1"/>
          </p:cNvSpPr>
          <p:nvPr>
            <p:ph idx="1"/>
          </p:nvPr>
        </p:nvSpPr>
        <p:spPr>
          <a:xfrm>
            <a:off x="1552575" y="1682750"/>
            <a:ext cx="10515600" cy="4351338"/>
          </a:xfrm>
        </p:spPr>
        <p:txBody>
          <a:bodyPr/>
          <a:lstStyle/>
          <a:p>
            <a:r>
              <a:rPr lang="en-US" dirty="0" smtClean="0"/>
              <a:t>A program virus becomes active when the program file (usually with extensions .BIN, .COM, .EXE, .OVL, .DRV) carrying the virus is opened. </a:t>
            </a:r>
          </a:p>
          <a:p>
            <a:r>
              <a:rPr lang="en-US" dirty="0" smtClean="0"/>
              <a:t>Once active, the virus will make copies of itself and will infect other programs on the computer. </a:t>
            </a:r>
            <a:endParaRPr lang="en-US" dirty="0"/>
          </a:p>
        </p:txBody>
      </p:sp>
    </p:spTree>
    <p:extLst>
      <p:ext uri="{BB962C8B-B14F-4D97-AF65-F5344CB8AC3E}">
        <p14:creationId xmlns:p14="http://schemas.microsoft.com/office/powerpoint/2010/main" val="30228541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normAutofit/>
          </a:bodyPr>
          <a:lstStyle/>
          <a:p>
            <a:r>
              <a:rPr lang="en-US" dirty="0" smtClean="0"/>
              <a:t>Multipartite viruses</a:t>
            </a:r>
            <a:endParaRPr lang="en-US" dirty="0"/>
          </a:p>
        </p:txBody>
      </p:sp>
      <p:sp>
        <p:nvSpPr>
          <p:cNvPr id="3" name="Content Placeholder 2"/>
          <p:cNvSpPr>
            <a:spLocks noGrp="1"/>
          </p:cNvSpPr>
          <p:nvPr>
            <p:ph idx="1"/>
          </p:nvPr>
        </p:nvSpPr>
        <p:spPr>
          <a:xfrm>
            <a:off x="1552575" y="1597025"/>
            <a:ext cx="10515600" cy="4351338"/>
          </a:xfrm>
        </p:spPr>
        <p:txBody>
          <a:bodyPr>
            <a:normAutofit fontScale="85000" lnSpcReduction="20000"/>
          </a:bodyPr>
          <a:lstStyle/>
          <a:p>
            <a:pPr algn="just"/>
            <a:r>
              <a:rPr lang="en-US" dirty="0" smtClean="0"/>
              <a:t>A multipartite virus is a fast-moving virus that uses file infectors or boot infectors to attack the boot sector and executable files simultaneously. </a:t>
            </a:r>
          </a:p>
          <a:p>
            <a:pPr algn="just"/>
            <a:r>
              <a:rPr lang="en-US" dirty="0" smtClean="0"/>
              <a:t>Most viruses either affect the boot sector, the system or the program files. </a:t>
            </a:r>
          </a:p>
          <a:p>
            <a:pPr algn="just"/>
            <a:r>
              <a:rPr lang="en-US" dirty="0" smtClean="0"/>
              <a:t>The multipartite virus can affect both the boot sector and the program files at the same time, thus causing more damage than any other kind of virus. </a:t>
            </a:r>
          </a:p>
          <a:p>
            <a:pPr algn="just"/>
            <a:r>
              <a:rPr lang="en-US" dirty="0" smtClean="0"/>
              <a:t>When the boot sector is infected, simply turning on the computer will trigger a boot sector virus because it latches on to the hard drive that contains the data that is needed to start the computer. Once the virus has been triggered, destructive payloads are launched throughout the program files.</a:t>
            </a:r>
          </a:p>
          <a:p>
            <a:pPr algn="just"/>
            <a:r>
              <a:rPr lang="en-US" dirty="0" smtClean="0"/>
              <a:t>A multipartite virus infects computer systems multiple times and at different times. In order for it to be eradicated, the entire virus must be removed from the system.</a:t>
            </a:r>
          </a:p>
          <a:p>
            <a:pPr algn="just"/>
            <a:r>
              <a:rPr lang="en-US" dirty="0" smtClean="0"/>
              <a:t>A multipartite virus is also known as a hybrid virus.</a:t>
            </a:r>
            <a:endParaRPr lang="en-US" dirty="0"/>
          </a:p>
        </p:txBody>
      </p:sp>
    </p:spTree>
    <p:extLst>
      <p:ext uri="{BB962C8B-B14F-4D97-AF65-F5344CB8AC3E}">
        <p14:creationId xmlns:p14="http://schemas.microsoft.com/office/powerpoint/2010/main" val="650985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normAutofit/>
          </a:bodyPr>
          <a:lstStyle/>
          <a:p>
            <a:r>
              <a:rPr lang="en-US" dirty="0" smtClean="0"/>
              <a:t>Stealth viruses</a:t>
            </a:r>
            <a:endParaRPr lang="en-US" dirty="0"/>
          </a:p>
        </p:txBody>
      </p:sp>
      <p:sp>
        <p:nvSpPr>
          <p:cNvPr id="3" name="Content Placeholder 2"/>
          <p:cNvSpPr>
            <a:spLocks noGrp="1"/>
          </p:cNvSpPr>
          <p:nvPr>
            <p:ph idx="1"/>
          </p:nvPr>
        </p:nvSpPr>
        <p:spPr>
          <a:xfrm>
            <a:off x="1538287" y="1497012"/>
            <a:ext cx="10515600" cy="4351338"/>
          </a:xfrm>
        </p:spPr>
        <p:txBody>
          <a:bodyPr>
            <a:normAutofit/>
          </a:bodyPr>
          <a:lstStyle/>
          <a:p>
            <a:r>
              <a:rPr lang="en-US" dirty="0" smtClean="0"/>
              <a:t>A stealth virus is a hidden computer virus that attacks operating system processes and adverts typical anti-virus or anti-malware scans. Stealth viruses hide in files, partitions and boot sectors and are adept at deliberately avoiding detection. </a:t>
            </a:r>
            <a:br>
              <a:rPr lang="en-US" dirty="0" smtClean="0"/>
            </a:br>
            <a:r>
              <a:rPr lang="en-US" dirty="0" smtClean="0"/>
              <a:t/>
            </a:r>
            <a:br>
              <a:rPr lang="en-US" dirty="0" smtClean="0"/>
            </a:br>
            <a:r>
              <a:rPr lang="en-US" dirty="0" smtClean="0"/>
              <a:t>Stealth virus eradication requires advanced anti-virus software or a clean system reboot.</a:t>
            </a:r>
          </a:p>
          <a:p>
            <a:r>
              <a:rPr lang="en-US" dirty="0" smtClean="0"/>
              <a:t>First Stealth virus is Brain</a:t>
            </a:r>
            <a:endParaRPr lang="en-US" dirty="0"/>
          </a:p>
        </p:txBody>
      </p:sp>
    </p:spTree>
    <p:extLst>
      <p:ext uri="{BB962C8B-B14F-4D97-AF65-F5344CB8AC3E}">
        <p14:creationId xmlns:p14="http://schemas.microsoft.com/office/powerpoint/2010/main" val="5895699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normAutofit/>
          </a:bodyPr>
          <a:lstStyle/>
          <a:p>
            <a:r>
              <a:rPr lang="en-US" dirty="0" smtClean="0"/>
              <a:t>Polymorphic viruses</a:t>
            </a:r>
            <a:endParaRPr lang="en-US" dirty="0"/>
          </a:p>
        </p:txBody>
      </p:sp>
      <p:sp>
        <p:nvSpPr>
          <p:cNvPr id="3" name="Content Placeholder 2"/>
          <p:cNvSpPr>
            <a:spLocks noGrp="1"/>
          </p:cNvSpPr>
          <p:nvPr>
            <p:ph idx="1"/>
          </p:nvPr>
        </p:nvSpPr>
        <p:spPr>
          <a:xfrm>
            <a:off x="1538287" y="1568450"/>
            <a:ext cx="10515600" cy="4351338"/>
          </a:xfrm>
        </p:spPr>
        <p:txBody>
          <a:bodyPr>
            <a:normAutofit/>
          </a:bodyPr>
          <a:lstStyle/>
          <a:p>
            <a:pPr algn="just"/>
            <a:r>
              <a:rPr lang="en-US" dirty="0" smtClean="0"/>
              <a:t>A polymorphic virus is a complicated computer virus that affects data types and functions. </a:t>
            </a:r>
          </a:p>
          <a:p>
            <a:pPr algn="just"/>
            <a:r>
              <a:rPr lang="en-US" dirty="0" smtClean="0"/>
              <a:t>It is a self-encrypted virus designed to avoid detection by a scanner. </a:t>
            </a:r>
          </a:p>
          <a:p>
            <a:pPr algn="just"/>
            <a:r>
              <a:rPr lang="en-US" dirty="0" smtClean="0"/>
              <a:t>Upon infection, the polymorphic virus duplicates itself by creating usable, albeit slightly modified, copies of itself.</a:t>
            </a:r>
            <a:br>
              <a:rPr lang="en-US" dirty="0" smtClean="0"/>
            </a:br>
            <a:endParaRPr lang="en-US" dirty="0" smtClean="0"/>
          </a:p>
          <a:p>
            <a:pPr algn="just"/>
            <a:r>
              <a:rPr lang="en-US" dirty="0" smtClean="0"/>
              <a:t>Polymorphism, in computing terms, means that a single definition can be used with varying amounts of data. In order for scanners to detect this type of virus, brute-force programs must be written to combat and detect the polymorphic virus with novel variant configurations.</a:t>
            </a:r>
            <a:endParaRPr lang="en-US" dirty="0"/>
          </a:p>
        </p:txBody>
      </p:sp>
    </p:spTree>
    <p:extLst>
      <p:ext uri="{BB962C8B-B14F-4D97-AF65-F5344CB8AC3E}">
        <p14:creationId xmlns:p14="http://schemas.microsoft.com/office/powerpoint/2010/main" val="398133922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normAutofit/>
          </a:bodyPr>
          <a:lstStyle/>
          <a:p>
            <a:r>
              <a:rPr lang="en-US" dirty="0" err="1" smtClean="0"/>
              <a:t>Macroviruses</a:t>
            </a:r>
            <a:endParaRPr lang="en-US" dirty="0"/>
          </a:p>
        </p:txBody>
      </p:sp>
      <p:sp>
        <p:nvSpPr>
          <p:cNvPr id="3" name="Content Placeholder 2"/>
          <p:cNvSpPr>
            <a:spLocks noGrp="1"/>
          </p:cNvSpPr>
          <p:nvPr>
            <p:ph idx="1"/>
          </p:nvPr>
        </p:nvSpPr>
        <p:spPr>
          <a:xfrm>
            <a:off x="1552575" y="1439862"/>
            <a:ext cx="10515600" cy="4351338"/>
          </a:xfrm>
        </p:spPr>
        <p:txBody>
          <a:bodyPr/>
          <a:lstStyle/>
          <a:p>
            <a:pPr algn="just"/>
            <a:r>
              <a:rPr lang="en-US" dirty="0" smtClean="0"/>
              <a:t>A macro virus is a computer virus that "infects" a Microsoft Word or similar application and causes a sequence of actions to be performed automatically when the application is started or something else triggers it.</a:t>
            </a:r>
          </a:p>
          <a:p>
            <a:pPr>
              <a:buNone/>
            </a:pPr>
            <a:endParaRPr lang="en-US" dirty="0"/>
          </a:p>
        </p:txBody>
      </p:sp>
    </p:spTree>
    <p:extLst>
      <p:ext uri="{BB962C8B-B14F-4D97-AF65-F5344CB8AC3E}">
        <p14:creationId xmlns:p14="http://schemas.microsoft.com/office/powerpoint/2010/main" val="19856334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2" y="0"/>
            <a:ext cx="10515600" cy="1325563"/>
          </a:xfrm>
        </p:spPr>
        <p:txBody>
          <a:bodyPr>
            <a:normAutofit/>
          </a:bodyPr>
          <a:lstStyle/>
          <a:p>
            <a:r>
              <a:rPr lang="en-US" dirty="0" smtClean="0"/>
              <a:t>Active X and Java control</a:t>
            </a:r>
            <a:endParaRPr lang="en-US" dirty="0"/>
          </a:p>
        </p:txBody>
      </p:sp>
      <p:sp>
        <p:nvSpPr>
          <p:cNvPr id="3" name="Content Placeholder 2"/>
          <p:cNvSpPr>
            <a:spLocks noGrp="1"/>
          </p:cNvSpPr>
          <p:nvPr>
            <p:ph idx="1"/>
          </p:nvPr>
        </p:nvSpPr>
        <p:spPr>
          <a:xfrm>
            <a:off x="1566862" y="1611312"/>
            <a:ext cx="10515600" cy="4351338"/>
          </a:xfrm>
        </p:spPr>
        <p:txBody>
          <a:bodyPr>
            <a:normAutofit/>
          </a:bodyPr>
          <a:lstStyle/>
          <a:p>
            <a:pPr algn="just"/>
            <a:r>
              <a:rPr lang="en-US" dirty="0" smtClean="0"/>
              <a:t>ActiveX and Java were created for web page designers to incorporate a wide array of impressive effects on web pages, giving movement and added dimension to the previously "flat" web pages.</a:t>
            </a:r>
          </a:p>
          <a:p>
            <a:pPr algn="just"/>
            <a:r>
              <a:rPr lang="en-US" dirty="0" smtClean="0"/>
              <a:t>To operate properly, these ActiveX controls and Java applets need to gain access to your hard disk. Insufficient memory and bandwidth problems necessitate this approach. Although this desktop access provides a wealth of beneficial applications of these controls and applets, malicious code developers have the same access. They are now using it to read and delete or corrupt files, access RAM, and even access files on computers attached via a LAN.</a:t>
            </a:r>
            <a:endParaRPr lang="en-US" dirty="0"/>
          </a:p>
        </p:txBody>
      </p:sp>
    </p:spTree>
    <p:extLst>
      <p:ext uri="{BB962C8B-B14F-4D97-AF65-F5344CB8AC3E}">
        <p14:creationId xmlns:p14="http://schemas.microsoft.com/office/powerpoint/2010/main" val="20188726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gend of the Trojan War (Beware of Greeks Bearing Gifts) Illustration"/>
          <p:cNvPicPr>
            <a:picLocks noChangeAspect="1" noChangeArrowheads="1"/>
          </p:cNvPicPr>
          <p:nvPr/>
        </p:nvPicPr>
        <p:blipFill>
          <a:blip r:embed="rId2"/>
          <a:srcRect/>
          <a:stretch>
            <a:fillRect/>
          </a:stretch>
        </p:blipFill>
        <p:spPr bwMode="auto">
          <a:xfrm>
            <a:off x="8601076" y="3438526"/>
            <a:ext cx="2409825" cy="2438400"/>
          </a:xfrm>
          <a:prstGeom prst="rect">
            <a:avLst/>
          </a:prstGeom>
          <a:noFill/>
        </p:spPr>
      </p:pic>
      <p:sp>
        <p:nvSpPr>
          <p:cNvPr id="2" name="Title 1"/>
          <p:cNvSpPr>
            <a:spLocks noGrp="1"/>
          </p:cNvSpPr>
          <p:nvPr>
            <p:ph type="title"/>
          </p:nvPr>
        </p:nvSpPr>
        <p:spPr>
          <a:xfrm>
            <a:off x="1509712" y="0"/>
            <a:ext cx="10515600" cy="1325563"/>
          </a:xfrm>
        </p:spPr>
        <p:txBody>
          <a:bodyPr/>
          <a:lstStyle/>
          <a:p>
            <a:r>
              <a:rPr lang="en-US" dirty="0" smtClean="0"/>
              <a:t>6. Trojan horses and Backdoors</a:t>
            </a:r>
            <a:endParaRPr lang="en-US" dirty="0"/>
          </a:p>
        </p:txBody>
      </p:sp>
      <p:sp>
        <p:nvSpPr>
          <p:cNvPr id="3" name="Content Placeholder 2"/>
          <p:cNvSpPr>
            <a:spLocks noGrp="1"/>
          </p:cNvSpPr>
          <p:nvPr>
            <p:ph idx="1"/>
          </p:nvPr>
        </p:nvSpPr>
        <p:spPr>
          <a:xfrm>
            <a:off x="1509712" y="1525588"/>
            <a:ext cx="10515600" cy="4351338"/>
          </a:xfrm>
        </p:spPr>
        <p:txBody>
          <a:bodyPr/>
          <a:lstStyle/>
          <a:p>
            <a:r>
              <a:rPr lang="en-US" dirty="0" smtClean="0"/>
              <a:t>A </a:t>
            </a:r>
            <a:r>
              <a:rPr lang="en-US" b="1" dirty="0" smtClean="0"/>
              <a:t>Trojan horse</a:t>
            </a:r>
            <a:r>
              <a:rPr lang="en-US" dirty="0" smtClean="0"/>
              <a:t>, or </a:t>
            </a:r>
            <a:r>
              <a:rPr lang="en-US" b="1" dirty="0" smtClean="0"/>
              <a:t>Trojan</a:t>
            </a:r>
            <a:r>
              <a:rPr lang="en-US" dirty="0" smtClean="0"/>
              <a:t>, in computing is generally a non-self-replicating type of malware program containing malicious code that, when executed, carries out actions determined by the nature of the Trojan, typically causing loss or theft of data, and possible system harm</a:t>
            </a:r>
            <a:endParaRPr lang="en-US" dirty="0"/>
          </a:p>
        </p:txBody>
      </p:sp>
    </p:spTree>
    <p:extLst>
      <p:ext uri="{BB962C8B-B14F-4D97-AF65-F5344CB8AC3E}">
        <p14:creationId xmlns:p14="http://schemas.microsoft.com/office/powerpoint/2010/main" val="25230053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Examples of threats by </a:t>
            </a:r>
            <a:r>
              <a:rPr lang="en-US" dirty="0" err="1" smtClean="0"/>
              <a:t>trojans</a:t>
            </a:r>
            <a:endParaRPr lang="en-US" dirty="0"/>
          </a:p>
        </p:txBody>
      </p:sp>
      <p:sp>
        <p:nvSpPr>
          <p:cNvPr id="3" name="Content Placeholder 2"/>
          <p:cNvSpPr>
            <a:spLocks noGrp="1"/>
          </p:cNvSpPr>
          <p:nvPr>
            <p:ph idx="1"/>
          </p:nvPr>
        </p:nvSpPr>
        <p:spPr>
          <a:xfrm>
            <a:off x="1900237" y="1447800"/>
            <a:ext cx="9744075" cy="5029200"/>
          </a:xfrm>
        </p:spPr>
        <p:txBody>
          <a:bodyPr>
            <a:normAutofit fontScale="92500" lnSpcReduction="10000"/>
          </a:bodyPr>
          <a:lstStyle/>
          <a:p>
            <a:r>
              <a:rPr lang="en-US" dirty="0" smtClean="0"/>
              <a:t>Erase, overwrite or corrupt data on a computer</a:t>
            </a:r>
          </a:p>
          <a:p>
            <a:r>
              <a:rPr lang="en-US" dirty="0" smtClean="0"/>
              <a:t>Help to spread other malware such as viruses- dropper </a:t>
            </a:r>
            <a:r>
              <a:rPr lang="en-US" dirty="0" err="1" smtClean="0"/>
              <a:t>trojan</a:t>
            </a:r>
            <a:endParaRPr lang="en-US" dirty="0" smtClean="0"/>
          </a:p>
          <a:p>
            <a:r>
              <a:rPr lang="en-US" dirty="0" smtClean="0"/>
              <a:t>Deactivate or interface with antivirus and firewall programs</a:t>
            </a:r>
          </a:p>
          <a:p>
            <a:r>
              <a:rPr lang="en-US" dirty="0" smtClean="0"/>
              <a:t>Allow remote access to your computer- remote access </a:t>
            </a:r>
            <a:r>
              <a:rPr lang="en-US" dirty="0" err="1" smtClean="0"/>
              <a:t>trojan</a:t>
            </a:r>
            <a:endParaRPr lang="en-US" dirty="0" smtClean="0"/>
          </a:p>
          <a:p>
            <a:r>
              <a:rPr lang="en-US" dirty="0" smtClean="0"/>
              <a:t>Upload and download files</a:t>
            </a:r>
          </a:p>
          <a:p>
            <a:r>
              <a:rPr lang="en-US" dirty="0" smtClean="0"/>
              <a:t>Gather E-mail address and use for spam</a:t>
            </a:r>
          </a:p>
          <a:p>
            <a:r>
              <a:rPr lang="en-US" dirty="0" smtClean="0"/>
              <a:t>Log keystrokes to steal information – </a:t>
            </a:r>
            <a:r>
              <a:rPr lang="en-US" dirty="0" err="1" smtClean="0"/>
              <a:t>pwds</a:t>
            </a:r>
            <a:r>
              <a:rPr lang="en-US" dirty="0" smtClean="0"/>
              <a:t>, CC numbers</a:t>
            </a:r>
          </a:p>
          <a:p>
            <a:r>
              <a:rPr lang="en-US" dirty="0" smtClean="0"/>
              <a:t>Copy fake links to false websites</a:t>
            </a:r>
          </a:p>
          <a:p>
            <a:r>
              <a:rPr lang="en-US" dirty="0" smtClean="0"/>
              <a:t>slowdown, restart or shutdown the system</a:t>
            </a:r>
          </a:p>
          <a:p>
            <a:r>
              <a:rPr lang="en-US" dirty="0" smtClean="0"/>
              <a:t>Disable task manager</a:t>
            </a:r>
          </a:p>
          <a:p>
            <a:r>
              <a:rPr lang="en-US" dirty="0" smtClean="0"/>
              <a:t>Disable the control panel</a:t>
            </a:r>
            <a:endParaRPr lang="en-US" dirty="0"/>
          </a:p>
        </p:txBody>
      </p:sp>
    </p:spTree>
    <p:extLst>
      <p:ext uri="{BB962C8B-B14F-4D97-AF65-F5344CB8AC3E}">
        <p14:creationId xmlns:p14="http://schemas.microsoft.com/office/powerpoint/2010/main" val="28919092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http://www.security-faqs.com/wp-content/uploads/2010/05/back-door-risks.jpg"/>
          <p:cNvPicPr>
            <a:picLocks noChangeAspect="1" noChangeArrowheads="1"/>
          </p:cNvPicPr>
          <p:nvPr/>
        </p:nvPicPr>
        <p:blipFill>
          <a:blip r:embed="rId2"/>
          <a:srcRect/>
          <a:stretch>
            <a:fillRect/>
          </a:stretch>
        </p:blipFill>
        <p:spPr bwMode="auto">
          <a:xfrm>
            <a:off x="9810750" y="-53863"/>
            <a:ext cx="1790700" cy="1433289"/>
          </a:xfrm>
          <a:prstGeom prst="rect">
            <a:avLst/>
          </a:prstGeom>
          <a:noFill/>
        </p:spPr>
      </p:pic>
      <p:sp>
        <p:nvSpPr>
          <p:cNvPr id="2" name="Title 1"/>
          <p:cNvSpPr>
            <a:spLocks noGrp="1"/>
          </p:cNvSpPr>
          <p:nvPr>
            <p:ph type="title"/>
          </p:nvPr>
        </p:nvSpPr>
        <p:spPr>
          <a:xfrm>
            <a:off x="1566862" y="1"/>
            <a:ext cx="10515600" cy="1325563"/>
          </a:xfrm>
        </p:spPr>
        <p:txBody>
          <a:bodyPr/>
          <a:lstStyle/>
          <a:p>
            <a:r>
              <a:rPr lang="en-US" dirty="0" smtClean="0"/>
              <a:t>Backdoors </a:t>
            </a:r>
            <a:endParaRPr lang="en-US" dirty="0"/>
          </a:p>
        </p:txBody>
      </p:sp>
      <p:sp>
        <p:nvSpPr>
          <p:cNvPr id="3" name="Content Placeholder 2"/>
          <p:cNvSpPr>
            <a:spLocks noGrp="1"/>
          </p:cNvSpPr>
          <p:nvPr>
            <p:ph idx="1"/>
          </p:nvPr>
        </p:nvSpPr>
        <p:spPr>
          <a:xfrm>
            <a:off x="1757363" y="1676400"/>
            <a:ext cx="10325099" cy="4800600"/>
          </a:xfrm>
        </p:spPr>
        <p:txBody>
          <a:bodyPr>
            <a:normAutofit/>
          </a:bodyPr>
          <a:lstStyle/>
          <a:p>
            <a:pPr algn="just"/>
            <a:r>
              <a:rPr lang="en-US" dirty="0" smtClean="0"/>
              <a:t>A </a:t>
            </a:r>
            <a:r>
              <a:rPr lang="en-US" b="1" dirty="0" smtClean="0"/>
              <a:t>backdoor</a:t>
            </a:r>
            <a:r>
              <a:rPr lang="en-US" dirty="0" smtClean="0"/>
              <a:t> in a computer system is a method of bypassing normal authentication, securing unauthorized remote access to a computer, obtaining access to plaintext, and so on, while attempting to remain undetected.</a:t>
            </a:r>
          </a:p>
          <a:p>
            <a:pPr algn="just"/>
            <a:r>
              <a:rPr lang="en-US" dirty="0" smtClean="0"/>
              <a:t>Also called a </a:t>
            </a:r>
            <a:r>
              <a:rPr lang="en-US" i="1" dirty="0" smtClean="0"/>
              <a:t>trapdoor</a:t>
            </a:r>
            <a:r>
              <a:rPr lang="en-US" dirty="0" smtClean="0"/>
              <a:t>. An undocumented way of gaining access to a program, online service or an entire computer system. </a:t>
            </a:r>
          </a:p>
          <a:p>
            <a:pPr algn="just"/>
            <a:r>
              <a:rPr lang="en-US" dirty="0" smtClean="0"/>
              <a:t>The backdoor is written by the programmer who creates the code for the program. It is often only known by the programmer. A backdoor is a potential security risk.</a:t>
            </a:r>
            <a:endParaRPr lang="en-US" dirty="0"/>
          </a:p>
        </p:txBody>
      </p:sp>
    </p:spTree>
    <p:extLst>
      <p:ext uri="{BB962C8B-B14F-4D97-AF65-F5344CB8AC3E}">
        <p14:creationId xmlns:p14="http://schemas.microsoft.com/office/powerpoint/2010/main" val="37750549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0"/>
            <a:ext cx="10515600" cy="1325563"/>
          </a:xfrm>
        </p:spPr>
        <p:txBody>
          <a:bodyPr/>
          <a:lstStyle/>
          <a:p>
            <a:r>
              <a:rPr lang="en-US" dirty="0" smtClean="0"/>
              <a:t>Functions of backdoors</a:t>
            </a:r>
            <a:endParaRPr lang="en-US" dirty="0"/>
          </a:p>
        </p:txBody>
      </p:sp>
      <p:sp>
        <p:nvSpPr>
          <p:cNvPr id="3" name="Content Placeholder 2"/>
          <p:cNvSpPr>
            <a:spLocks noGrp="1"/>
          </p:cNvSpPr>
          <p:nvPr>
            <p:ph idx="1"/>
          </p:nvPr>
        </p:nvSpPr>
        <p:spPr>
          <a:xfrm>
            <a:off x="1676400" y="1439862"/>
            <a:ext cx="10515600" cy="4351338"/>
          </a:xfrm>
        </p:spPr>
        <p:txBody>
          <a:bodyPr>
            <a:normAutofit/>
          </a:bodyPr>
          <a:lstStyle/>
          <a:p>
            <a:pPr>
              <a:buNone/>
            </a:pPr>
            <a:r>
              <a:rPr lang="en-US" dirty="0" smtClean="0"/>
              <a:t>Allows an attacker to </a:t>
            </a:r>
          </a:p>
          <a:p>
            <a:r>
              <a:rPr lang="en-US" dirty="0" smtClean="0"/>
              <a:t>create, delete, rename, copy or edit any file</a:t>
            </a:r>
          </a:p>
          <a:p>
            <a:r>
              <a:rPr lang="en-US" dirty="0" smtClean="0"/>
              <a:t>Execute commands to change system settings</a:t>
            </a:r>
          </a:p>
          <a:p>
            <a:r>
              <a:rPr lang="en-US" dirty="0" smtClean="0"/>
              <a:t>Alter the windows registry</a:t>
            </a:r>
          </a:p>
          <a:p>
            <a:r>
              <a:rPr lang="en-US" dirty="0" smtClean="0"/>
              <a:t>Run, control and terminate applications</a:t>
            </a:r>
          </a:p>
          <a:p>
            <a:r>
              <a:rPr lang="en-US" dirty="0" smtClean="0"/>
              <a:t>Install arbitrary software and parasites</a:t>
            </a:r>
          </a:p>
          <a:p>
            <a:r>
              <a:rPr lang="en-US" dirty="0" smtClean="0"/>
              <a:t>Control computer hardware devices, </a:t>
            </a:r>
          </a:p>
          <a:p>
            <a:r>
              <a:rPr lang="en-US" dirty="0" smtClean="0"/>
              <a:t>Shutdown or restart computer</a:t>
            </a:r>
          </a:p>
          <a:p>
            <a:pPr>
              <a:buNone/>
            </a:pPr>
            <a:endParaRPr lang="en-US" dirty="0"/>
          </a:p>
        </p:txBody>
      </p:sp>
    </p:spTree>
    <p:extLst>
      <p:ext uri="{BB962C8B-B14F-4D97-AF65-F5344CB8AC3E}">
        <p14:creationId xmlns:p14="http://schemas.microsoft.com/office/powerpoint/2010/main" val="21705382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107950"/>
            <a:ext cx="10515600" cy="1325563"/>
          </a:xfrm>
        </p:spPr>
        <p:txBody>
          <a:bodyPr/>
          <a:lstStyle/>
          <a:p>
            <a:r>
              <a:rPr lang="en-US" dirty="0" smtClean="0"/>
              <a:t>Functions of backdoors</a:t>
            </a:r>
            <a:endParaRPr lang="en-US" dirty="0"/>
          </a:p>
        </p:txBody>
      </p:sp>
      <p:sp>
        <p:nvSpPr>
          <p:cNvPr id="3" name="Content Placeholder 2"/>
          <p:cNvSpPr>
            <a:spLocks noGrp="1"/>
          </p:cNvSpPr>
          <p:nvPr>
            <p:ph idx="1"/>
          </p:nvPr>
        </p:nvSpPr>
        <p:spPr>
          <a:xfrm>
            <a:off x="1676400" y="1433513"/>
            <a:ext cx="10515600" cy="4351338"/>
          </a:xfrm>
        </p:spPr>
        <p:txBody>
          <a:bodyPr>
            <a:normAutofit fontScale="92500" lnSpcReduction="10000"/>
          </a:bodyPr>
          <a:lstStyle/>
          <a:p>
            <a:r>
              <a:rPr lang="en-US" dirty="0" smtClean="0"/>
              <a:t>Steals sensitive personal information, valuable documents, passwords, login name…</a:t>
            </a:r>
          </a:p>
          <a:p>
            <a:r>
              <a:rPr lang="en-US" dirty="0" smtClean="0"/>
              <a:t>Records keystrokes, captures screenshots</a:t>
            </a:r>
          </a:p>
          <a:p>
            <a:r>
              <a:rPr lang="en-US" dirty="0" smtClean="0"/>
              <a:t>Sends gathered data to predefined E-mail addresses</a:t>
            </a:r>
          </a:p>
          <a:p>
            <a:r>
              <a:rPr lang="en-US" dirty="0" smtClean="0"/>
              <a:t>Infects files, corrupts installed apps, damages entire system</a:t>
            </a:r>
          </a:p>
          <a:p>
            <a:r>
              <a:rPr lang="en-US" dirty="0" smtClean="0"/>
              <a:t>Distributes infected files to remote computers</a:t>
            </a:r>
          </a:p>
          <a:p>
            <a:r>
              <a:rPr lang="en-US" dirty="0" smtClean="0"/>
              <a:t>Installs hidden FTP server</a:t>
            </a:r>
          </a:p>
          <a:p>
            <a:r>
              <a:rPr lang="en-US" dirty="0" smtClean="0"/>
              <a:t>Degrades internet connection and overall system performance</a:t>
            </a:r>
          </a:p>
          <a:p>
            <a:r>
              <a:rPr lang="en-US" dirty="0" smtClean="0"/>
              <a:t>Decreases system security</a:t>
            </a:r>
          </a:p>
          <a:p>
            <a:r>
              <a:rPr lang="en-US" dirty="0" smtClean="0"/>
              <a:t>Provides no uninstall feature, hides processes, files and other objects</a:t>
            </a:r>
          </a:p>
          <a:p>
            <a:endParaRPr lang="en-US" dirty="0"/>
          </a:p>
        </p:txBody>
      </p:sp>
    </p:spTree>
    <p:extLst>
      <p:ext uri="{BB962C8B-B14F-4D97-AF65-F5344CB8AC3E}">
        <p14:creationId xmlns:p14="http://schemas.microsoft.com/office/powerpoint/2010/main" val="1462717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0"/>
            <a:ext cx="7498080" cy="1143000"/>
          </a:xfrm>
        </p:spPr>
        <p:txBody>
          <a:bodyPr/>
          <a:lstStyle/>
          <a:p>
            <a:r>
              <a:rPr lang="en-US" dirty="0" smtClean="0"/>
              <a:t>Examples of Backdoor </a:t>
            </a:r>
            <a:r>
              <a:rPr lang="en-US" dirty="0" err="1" smtClean="0"/>
              <a:t>trojans</a:t>
            </a:r>
            <a:endParaRPr lang="en-US" dirty="0"/>
          </a:p>
        </p:txBody>
      </p:sp>
      <p:sp>
        <p:nvSpPr>
          <p:cNvPr id="3" name="Content Placeholder 2"/>
          <p:cNvSpPr>
            <a:spLocks noGrp="1"/>
          </p:cNvSpPr>
          <p:nvPr>
            <p:ph idx="1"/>
          </p:nvPr>
        </p:nvSpPr>
        <p:spPr>
          <a:xfrm>
            <a:off x="1804987" y="1485900"/>
            <a:ext cx="10167938" cy="4243388"/>
          </a:xfrm>
        </p:spPr>
        <p:txBody>
          <a:bodyPr>
            <a:normAutofit/>
          </a:bodyPr>
          <a:lstStyle/>
          <a:p>
            <a:pPr algn="just"/>
            <a:r>
              <a:rPr lang="en-US" b="1" dirty="0" smtClean="0"/>
              <a:t>Back Orifice </a:t>
            </a:r>
            <a:r>
              <a:rPr lang="en-US" dirty="0" smtClean="0"/>
              <a:t>: for remote system administration</a:t>
            </a:r>
          </a:p>
          <a:p>
            <a:pPr algn="just"/>
            <a:r>
              <a:rPr lang="en-US" b="1" dirty="0" err="1" smtClean="0"/>
              <a:t>Bifrost</a:t>
            </a:r>
            <a:r>
              <a:rPr lang="en-US" b="1" dirty="0" smtClean="0"/>
              <a:t> </a:t>
            </a:r>
            <a:r>
              <a:rPr lang="en-US" dirty="0" smtClean="0"/>
              <a:t>: can infect Win95 through Vista, execute arbitrary code </a:t>
            </a:r>
          </a:p>
          <a:p>
            <a:pPr algn="just"/>
            <a:r>
              <a:rPr lang="en-US" b="1" dirty="0" smtClean="0"/>
              <a:t>SAP backdoors </a:t>
            </a:r>
            <a:r>
              <a:rPr lang="en-US" dirty="0" smtClean="0"/>
              <a:t>: infects SAP business objects</a:t>
            </a:r>
          </a:p>
          <a:p>
            <a:pPr algn="just"/>
            <a:r>
              <a:rPr lang="en-US" b="1" dirty="0" err="1" smtClean="0"/>
              <a:t>Onapsis</a:t>
            </a:r>
            <a:r>
              <a:rPr lang="en-US" b="1" dirty="0" smtClean="0"/>
              <a:t> </a:t>
            </a:r>
            <a:r>
              <a:rPr lang="en-US" b="1" dirty="0" err="1" smtClean="0"/>
              <a:t>Bizploit</a:t>
            </a:r>
            <a:r>
              <a:rPr lang="en-US" b="1" dirty="0" smtClean="0"/>
              <a:t>: </a:t>
            </a:r>
            <a:r>
              <a:rPr lang="en-US" dirty="0" err="1" smtClean="0"/>
              <a:t>Onapsis</a:t>
            </a:r>
            <a:r>
              <a:rPr lang="en-US" dirty="0" smtClean="0"/>
              <a:t> </a:t>
            </a:r>
            <a:r>
              <a:rPr lang="en-US" dirty="0" err="1" smtClean="0"/>
              <a:t>Bizploit</a:t>
            </a:r>
            <a:r>
              <a:rPr lang="en-US" dirty="0" smtClean="0"/>
              <a:t> is an SAP penetration testing framework to assist security professionals in the discovery, exploration, vulnerability assessment and exploitation phases of specialized SAP security assessment</a:t>
            </a:r>
            <a:endParaRPr lang="en-US" dirty="0"/>
          </a:p>
        </p:txBody>
      </p:sp>
    </p:spTree>
    <p:extLst>
      <p:ext uri="{BB962C8B-B14F-4D97-AF65-F5344CB8AC3E}">
        <p14:creationId xmlns:p14="http://schemas.microsoft.com/office/powerpoint/2010/main" val="103780175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How to protect from Trojan Horses and backdoors</a:t>
            </a:r>
            <a:endParaRPr lang="en-US" dirty="0"/>
          </a:p>
        </p:txBody>
      </p:sp>
      <p:sp>
        <p:nvSpPr>
          <p:cNvPr id="3" name="Content Placeholder 2"/>
          <p:cNvSpPr>
            <a:spLocks noGrp="1"/>
          </p:cNvSpPr>
          <p:nvPr>
            <p:ph idx="1"/>
          </p:nvPr>
        </p:nvSpPr>
        <p:spPr>
          <a:xfrm>
            <a:off x="1800225" y="1485900"/>
            <a:ext cx="9672638" cy="4800600"/>
          </a:xfrm>
        </p:spPr>
        <p:txBody>
          <a:bodyPr/>
          <a:lstStyle/>
          <a:p>
            <a:r>
              <a:rPr lang="en-US" dirty="0" smtClean="0"/>
              <a:t>Stay away from suspect websites/ links</a:t>
            </a:r>
          </a:p>
          <a:p>
            <a:pPr>
              <a:buNone/>
            </a:pPr>
            <a:endParaRPr lang="en-US" dirty="0" smtClean="0"/>
          </a:p>
          <a:p>
            <a:r>
              <a:rPr lang="en-US" dirty="0" smtClean="0"/>
              <a:t>Surf on the web cautiously : avoid P2P networks</a:t>
            </a:r>
          </a:p>
          <a:p>
            <a:pPr>
              <a:buNone/>
            </a:pPr>
            <a:endParaRPr lang="en-US" dirty="0" smtClean="0"/>
          </a:p>
          <a:p>
            <a:r>
              <a:rPr lang="en-US" dirty="0" smtClean="0"/>
              <a:t>Install antivirus/ Trojan remover software</a:t>
            </a:r>
          </a:p>
          <a:p>
            <a:endParaRPr lang="en-US" dirty="0" smtClean="0"/>
          </a:p>
          <a:p>
            <a:endParaRPr lang="en-US" dirty="0"/>
          </a:p>
        </p:txBody>
      </p:sp>
    </p:spTree>
    <p:extLst>
      <p:ext uri="{BB962C8B-B14F-4D97-AF65-F5344CB8AC3E}">
        <p14:creationId xmlns:p14="http://schemas.microsoft.com/office/powerpoint/2010/main" val="39258287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7. Steganography</a:t>
            </a:r>
            <a:endParaRPr lang="en-US" dirty="0"/>
          </a:p>
        </p:txBody>
      </p:sp>
      <p:sp>
        <p:nvSpPr>
          <p:cNvPr id="3" name="Content Placeholder 2"/>
          <p:cNvSpPr>
            <a:spLocks noGrp="1"/>
          </p:cNvSpPr>
          <p:nvPr>
            <p:ph idx="1"/>
          </p:nvPr>
        </p:nvSpPr>
        <p:spPr>
          <a:xfrm>
            <a:off x="1566863" y="1597025"/>
            <a:ext cx="10515600" cy="4351338"/>
          </a:xfrm>
        </p:spPr>
        <p:txBody>
          <a:bodyPr>
            <a:normAutofit/>
          </a:bodyPr>
          <a:lstStyle/>
          <a:p>
            <a:pPr algn="just"/>
            <a:r>
              <a:rPr lang="en-US" dirty="0" smtClean="0"/>
              <a:t>Steganography (from Greek </a:t>
            </a:r>
            <a:r>
              <a:rPr lang="en-US" dirty="0" err="1" smtClean="0"/>
              <a:t>steganos</a:t>
            </a:r>
            <a:r>
              <a:rPr lang="en-US" dirty="0" smtClean="0"/>
              <a:t>, or "covered," </a:t>
            </a:r>
            <a:r>
              <a:rPr lang="en-US" smtClean="0"/>
              <a:t>and graphien, </a:t>
            </a:r>
            <a:r>
              <a:rPr lang="en-US" dirty="0" smtClean="0"/>
              <a:t>or "writing") is the hiding of a secret message within an ordinary message and the extraction of it at its destination.</a:t>
            </a:r>
          </a:p>
          <a:p>
            <a:pPr algn="just"/>
            <a:r>
              <a:rPr lang="en-US" dirty="0" smtClean="0"/>
              <a:t>Steganography takes cryptography a step farther by hiding an encrypted message so that no one suspects it exists. Ideally, anyone scanning your data will fail to know it contains encrypted data.</a:t>
            </a:r>
          </a:p>
          <a:p>
            <a:pPr algn="just"/>
            <a:r>
              <a:rPr lang="en-US" dirty="0" smtClean="0"/>
              <a:t>Other names: data hiding,  information hiding, digital watermarking</a:t>
            </a:r>
          </a:p>
          <a:p>
            <a:endParaRPr lang="en-US" dirty="0"/>
          </a:p>
        </p:txBody>
      </p:sp>
    </p:spTree>
    <p:extLst>
      <p:ext uri="{BB962C8B-B14F-4D97-AF65-F5344CB8AC3E}">
        <p14:creationId xmlns:p14="http://schemas.microsoft.com/office/powerpoint/2010/main" val="19904458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easysector.com/secretlayer/img/stega-per-pics.png"/>
          <p:cNvPicPr>
            <a:picLocks noChangeAspect="1" noChangeArrowheads="1"/>
          </p:cNvPicPr>
          <p:nvPr/>
        </p:nvPicPr>
        <p:blipFill>
          <a:blip r:embed="rId2"/>
          <a:srcRect/>
          <a:stretch>
            <a:fillRect/>
          </a:stretch>
        </p:blipFill>
        <p:spPr bwMode="auto">
          <a:xfrm>
            <a:off x="6488906" y="1906028"/>
            <a:ext cx="4943475" cy="3467100"/>
          </a:xfrm>
          <a:prstGeom prst="rect">
            <a:avLst/>
          </a:prstGeom>
          <a:noFill/>
        </p:spPr>
      </p:pic>
      <p:pic>
        <p:nvPicPr>
          <p:cNvPr id="1028" name="Picture 4" descr="Image result for Steganography"/>
          <p:cNvPicPr>
            <a:picLocks noChangeAspect="1" noChangeArrowheads="1"/>
          </p:cNvPicPr>
          <p:nvPr/>
        </p:nvPicPr>
        <p:blipFill>
          <a:blip r:embed="rId3"/>
          <a:srcRect/>
          <a:stretch>
            <a:fillRect/>
          </a:stretch>
        </p:blipFill>
        <p:spPr bwMode="auto">
          <a:xfrm>
            <a:off x="1643063" y="1568450"/>
            <a:ext cx="4724400" cy="3627906"/>
          </a:xfrm>
          <a:prstGeom prst="rect">
            <a:avLst/>
          </a:prstGeom>
          <a:noFill/>
        </p:spPr>
      </p:pic>
    </p:spTree>
    <p:extLst>
      <p:ext uri="{BB962C8B-B14F-4D97-AF65-F5344CB8AC3E}">
        <p14:creationId xmlns:p14="http://schemas.microsoft.com/office/powerpoint/2010/main" val="13589968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lstStyle/>
          <a:p>
            <a:r>
              <a:rPr lang="en-US" dirty="0" smtClean="0"/>
              <a:t>digital watermarking</a:t>
            </a:r>
            <a:endParaRPr lang="en-US" dirty="0"/>
          </a:p>
        </p:txBody>
      </p:sp>
      <p:sp>
        <p:nvSpPr>
          <p:cNvPr id="3" name="Content Placeholder 2"/>
          <p:cNvSpPr>
            <a:spLocks noGrp="1"/>
          </p:cNvSpPr>
          <p:nvPr>
            <p:ph idx="1"/>
          </p:nvPr>
        </p:nvSpPr>
        <p:spPr>
          <a:xfrm>
            <a:off x="1524000" y="1611313"/>
            <a:ext cx="10515600" cy="4351338"/>
          </a:xfrm>
        </p:spPr>
        <p:txBody>
          <a:bodyPr>
            <a:normAutofit lnSpcReduction="10000"/>
          </a:bodyPr>
          <a:lstStyle/>
          <a:p>
            <a:r>
              <a:rPr lang="en-US" dirty="0" smtClean="0"/>
              <a:t>Digital watermarking is the act of hiding a message (trademark) related to a digital signal (i.e. an image, song, video) within the signal itself. </a:t>
            </a:r>
          </a:p>
          <a:p>
            <a:r>
              <a:rPr lang="en-US" dirty="0" smtClean="0"/>
              <a:t>It is a concept closely related to steganography, in that they both hide a message inside a digital signal. </a:t>
            </a:r>
          </a:p>
          <a:p>
            <a:r>
              <a:rPr lang="en-US" dirty="0" smtClean="0"/>
              <a:t>However, what separates them is their goal. </a:t>
            </a:r>
          </a:p>
          <a:p>
            <a:r>
              <a:rPr lang="en-US" dirty="0" smtClean="0"/>
              <a:t>Watermarking tries to hide a message related to the actual content of the digital signal, </a:t>
            </a:r>
          </a:p>
          <a:p>
            <a:r>
              <a:rPr lang="en-US" dirty="0" smtClean="0"/>
              <a:t>while in steganography the digital signal has no relation to the message, and it is merely used as a cover to hide its existence. </a:t>
            </a:r>
          </a:p>
          <a:p>
            <a:endParaRPr lang="en-US" dirty="0"/>
          </a:p>
        </p:txBody>
      </p:sp>
    </p:spTree>
    <p:extLst>
      <p:ext uri="{BB962C8B-B14F-4D97-AF65-F5344CB8AC3E}">
        <p14:creationId xmlns:p14="http://schemas.microsoft.com/office/powerpoint/2010/main" val="1703072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0"/>
            <a:ext cx="10515600" cy="1325563"/>
          </a:xfrm>
        </p:spPr>
        <p:txBody>
          <a:bodyPr>
            <a:normAutofit/>
          </a:bodyPr>
          <a:lstStyle/>
          <a:p>
            <a:r>
              <a:rPr lang="en-US" dirty="0" smtClean="0"/>
              <a:t>Difference between steganography and </a:t>
            </a:r>
            <a:r>
              <a:rPr lang="en-US" b="1" i="1" dirty="0" smtClean="0"/>
              <a:t>cryptography</a:t>
            </a:r>
            <a:endParaRPr lang="en-US" dirty="0"/>
          </a:p>
        </p:txBody>
      </p:sp>
      <p:sp>
        <p:nvSpPr>
          <p:cNvPr id="3" name="Content Placeholder 2"/>
          <p:cNvSpPr>
            <a:spLocks noGrp="1"/>
          </p:cNvSpPr>
          <p:nvPr>
            <p:ph idx="1"/>
          </p:nvPr>
        </p:nvSpPr>
        <p:spPr>
          <a:xfrm>
            <a:off x="1495425" y="1654175"/>
            <a:ext cx="10515600" cy="4351338"/>
          </a:xfrm>
        </p:spPr>
        <p:txBody>
          <a:bodyPr>
            <a:normAutofit fontScale="92500" lnSpcReduction="20000"/>
          </a:bodyPr>
          <a:lstStyle/>
          <a:p>
            <a:pPr algn="just"/>
            <a:r>
              <a:rPr lang="en-US" dirty="0" smtClean="0"/>
              <a:t>Cryptography is the study of hiding information, while Steganography deals with composing hidden messages so that only the sender and the receiver know that the message even exists. </a:t>
            </a:r>
          </a:p>
          <a:p>
            <a:pPr algn="just"/>
            <a:r>
              <a:rPr lang="en-US" dirty="0" smtClean="0"/>
              <a:t>In Steganography, only the sender and the receiver know the existence of the message, whereas in cryptography the existence of the encrypted message is visible to the world. </a:t>
            </a:r>
          </a:p>
          <a:p>
            <a:pPr algn="just"/>
            <a:r>
              <a:rPr lang="en-US" dirty="0" smtClean="0"/>
              <a:t>Due to this, Steganography removes the unwanted attention coming to the hidden message.</a:t>
            </a:r>
          </a:p>
          <a:p>
            <a:pPr algn="just"/>
            <a:r>
              <a:rPr lang="en-US" dirty="0" smtClean="0"/>
              <a:t>Cryptographic methods try to protect the content of a message, while Steganography uses methods that would hide both the message as well as the content. </a:t>
            </a:r>
          </a:p>
          <a:p>
            <a:pPr algn="just"/>
            <a:r>
              <a:rPr lang="en-US" dirty="0" smtClean="0"/>
              <a:t>By combining Steganography and Cryptography one can achieve better security.</a:t>
            </a:r>
            <a:endParaRPr lang="en-US" dirty="0"/>
          </a:p>
        </p:txBody>
      </p:sp>
    </p:spTree>
    <p:extLst>
      <p:ext uri="{BB962C8B-B14F-4D97-AF65-F5344CB8AC3E}">
        <p14:creationId xmlns:p14="http://schemas.microsoft.com/office/powerpoint/2010/main" val="266146361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err="1" smtClean="0"/>
              <a:t>Steganalysis</a:t>
            </a:r>
            <a:r>
              <a:rPr lang="en-US" dirty="0" smtClean="0"/>
              <a:t> </a:t>
            </a:r>
            <a:endParaRPr lang="en-US" dirty="0"/>
          </a:p>
        </p:txBody>
      </p:sp>
      <p:sp>
        <p:nvSpPr>
          <p:cNvPr id="3" name="Content Placeholder 2"/>
          <p:cNvSpPr>
            <a:spLocks noGrp="1"/>
          </p:cNvSpPr>
          <p:nvPr>
            <p:ph idx="1"/>
          </p:nvPr>
        </p:nvSpPr>
        <p:spPr>
          <a:xfrm>
            <a:off x="1566863" y="1539875"/>
            <a:ext cx="10515600" cy="4351338"/>
          </a:xfrm>
        </p:spPr>
        <p:txBody>
          <a:bodyPr/>
          <a:lstStyle/>
          <a:p>
            <a:pPr algn="just"/>
            <a:r>
              <a:rPr lang="en-US" b="1" dirty="0" err="1" smtClean="0"/>
              <a:t>Steganalysis</a:t>
            </a:r>
            <a:r>
              <a:rPr lang="en-US" dirty="0" smtClean="0"/>
              <a:t> is the study of detecting messages hidden using steganography;</a:t>
            </a:r>
          </a:p>
          <a:p>
            <a:pPr algn="just"/>
            <a:r>
              <a:rPr lang="en-US" dirty="0" smtClean="0"/>
              <a:t>The goal of </a:t>
            </a:r>
            <a:r>
              <a:rPr lang="en-US" dirty="0" err="1" smtClean="0"/>
              <a:t>steganalysis</a:t>
            </a:r>
            <a:r>
              <a:rPr lang="en-US" dirty="0" smtClean="0"/>
              <a:t> is to identify suspected packages, determine whether or not they have a payload encoded into them, and, if possible, recover that payload.</a:t>
            </a:r>
            <a:endParaRPr lang="en-US" dirty="0"/>
          </a:p>
        </p:txBody>
      </p:sp>
    </p:spTree>
    <p:extLst>
      <p:ext uri="{BB962C8B-B14F-4D97-AF65-F5344CB8AC3E}">
        <p14:creationId xmlns:p14="http://schemas.microsoft.com/office/powerpoint/2010/main" val="10919852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2" y="107950"/>
            <a:ext cx="10515600" cy="1325563"/>
          </a:xfrm>
        </p:spPr>
        <p:txBody>
          <a:bodyPr/>
          <a:lstStyle/>
          <a:p>
            <a:r>
              <a:rPr lang="en-US" dirty="0" smtClean="0"/>
              <a:t>8.DoS and </a:t>
            </a:r>
            <a:r>
              <a:rPr lang="en-US" dirty="0" err="1" smtClean="0"/>
              <a:t>DDoS</a:t>
            </a:r>
            <a:r>
              <a:rPr lang="en-US" dirty="0" smtClean="0"/>
              <a:t> attacks</a:t>
            </a:r>
            <a:endParaRPr lang="en-US" dirty="0"/>
          </a:p>
        </p:txBody>
      </p:sp>
      <p:sp>
        <p:nvSpPr>
          <p:cNvPr id="3" name="Content Placeholder 2"/>
          <p:cNvSpPr>
            <a:spLocks noGrp="1"/>
          </p:cNvSpPr>
          <p:nvPr>
            <p:ph idx="1"/>
          </p:nvPr>
        </p:nvSpPr>
        <p:spPr>
          <a:xfrm>
            <a:off x="1509712" y="1433513"/>
            <a:ext cx="10515600" cy="4351338"/>
          </a:xfrm>
        </p:spPr>
        <p:txBody>
          <a:bodyPr/>
          <a:lstStyle/>
          <a:p>
            <a:pPr algn="just"/>
            <a:r>
              <a:rPr lang="en-US" dirty="0" smtClean="0"/>
              <a:t>In computing, a </a:t>
            </a:r>
            <a:r>
              <a:rPr lang="en-US" b="1" dirty="0" smtClean="0"/>
              <a:t>denial-of-service</a:t>
            </a:r>
            <a:r>
              <a:rPr lang="en-US" dirty="0" smtClean="0"/>
              <a:t> (</a:t>
            </a:r>
            <a:r>
              <a:rPr lang="en-US" b="1" dirty="0" err="1" smtClean="0"/>
              <a:t>DoS</a:t>
            </a:r>
            <a:r>
              <a:rPr lang="en-US" dirty="0" smtClean="0"/>
              <a:t>) or distributed </a:t>
            </a:r>
            <a:r>
              <a:rPr lang="en-US" b="1" dirty="0" smtClean="0"/>
              <a:t>denial-of-service</a:t>
            </a:r>
            <a:r>
              <a:rPr lang="en-US" dirty="0" smtClean="0"/>
              <a:t> (</a:t>
            </a:r>
            <a:r>
              <a:rPr lang="en-US" b="1" dirty="0" err="1" smtClean="0"/>
              <a:t>DDoS</a:t>
            </a:r>
            <a:r>
              <a:rPr lang="en-US" dirty="0" smtClean="0"/>
              <a:t>) </a:t>
            </a:r>
            <a:r>
              <a:rPr lang="en-US" b="1" dirty="0" smtClean="0"/>
              <a:t>attack</a:t>
            </a:r>
            <a:r>
              <a:rPr lang="en-US" dirty="0" smtClean="0"/>
              <a:t> is an attempt to make a machine or network resource unavailable to its intended users. </a:t>
            </a:r>
          </a:p>
          <a:p>
            <a:pPr algn="just"/>
            <a:r>
              <a:rPr lang="en-US" dirty="0" smtClean="0"/>
              <a:t>A </a:t>
            </a:r>
            <a:r>
              <a:rPr lang="en-US" b="1" dirty="0" err="1" smtClean="0"/>
              <a:t>DoS</a:t>
            </a:r>
            <a:r>
              <a:rPr lang="en-US" b="1" dirty="0" smtClean="0"/>
              <a:t> attack</a:t>
            </a:r>
            <a:r>
              <a:rPr lang="en-US" dirty="0" smtClean="0"/>
              <a:t> generally consists of efforts to temporarily or indefinitely interrupt or suspend services of a host connected to the Internet.</a:t>
            </a:r>
            <a:endParaRPr lang="en-US" dirty="0"/>
          </a:p>
        </p:txBody>
      </p:sp>
    </p:spTree>
    <p:extLst>
      <p:ext uri="{BB962C8B-B14F-4D97-AF65-F5344CB8AC3E}">
        <p14:creationId xmlns:p14="http://schemas.microsoft.com/office/powerpoint/2010/main" val="348680159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Symptoms of </a:t>
            </a:r>
            <a:r>
              <a:rPr lang="en-US" dirty="0" err="1" smtClean="0"/>
              <a:t>DoS</a:t>
            </a:r>
            <a:r>
              <a:rPr lang="en-US" dirty="0" smtClean="0"/>
              <a:t> attacks</a:t>
            </a:r>
            <a:endParaRPr lang="en-US" dirty="0"/>
          </a:p>
        </p:txBody>
      </p:sp>
      <p:sp>
        <p:nvSpPr>
          <p:cNvPr id="3" name="Content Placeholder 2"/>
          <p:cNvSpPr>
            <a:spLocks noGrp="1"/>
          </p:cNvSpPr>
          <p:nvPr>
            <p:ph idx="1"/>
          </p:nvPr>
        </p:nvSpPr>
        <p:spPr>
          <a:xfrm>
            <a:off x="1566863" y="1611312"/>
            <a:ext cx="10515600" cy="4351338"/>
          </a:xfrm>
        </p:spPr>
        <p:txBody>
          <a:bodyPr/>
          <a:lstStyle/>
          <a:p>
            <a:r>
              <a:rPr lang="en-US" dirty="0" smtClean="0"/>
              <a:t>Slow network performance</a:t>
            </a:r>
          </a:p>
          <a:p>
            <a:r>
              <a:rPr lang="en-US" dirty="0" smtClean="0"/>
              <a:t>Unavailability of a particular website</a:t>
            </a:r>
          </a:p>
          <a:p>
            <a:r>
              <a:rPr lang="en-US" dirty="0" smtClean="0"/>
              <a:t>Inability to access any website</a:t>
            </a:r>
          </a:p>
          <a:p>
            <a:r>
              <a:rPr lang="en-US" dirty="0" smtClean="0"/>
              <a:t>Dramatic increase in number of Spam E-mails received</a:t>
            </a:r>
          </a:p>
          <a:p>
            <a:endParaRPr lang="en-US" dirty="0"/>
          </a:p>
        </p:txBody>
      </p:sp>
    </p:spTree>
    <p:extLst>
      <p:ext uri="{BB962C8B-B14F-4D97-AF65-F5344CB8AC3E}">
        <p14:creationId xmlns:p14="http://schemas.microsoft.com/office/powerpoint/2010/main" val="238058561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A </a:t>
            </a:r>
            <a:r>
              <a:rPr lang="en-US" dirty="0" err="1" smtClean="0"/>
              <a:t>DoS</a:t>
            </a:r>
            <a:r>
              <a:rPr lang="en-US" dirty="0" smtClean="0"/>
              <a:t> attack may do the following</a:t>
            </a:r>
            <a:endParaRPr lang="en-US" dirty="0"/>
          </a:p>
        </p:txBody>
      </p:sp>
      <p:sp>
        <p:nvSpPr>
          <p:cNvPr id="3" name="Content Placeholder 2"/>
          <p:cNvSpPr>
            <a:spLocks noGrp="1"/>
          </p:cNvSpPr>
          <p:nvPr>
            <p:ph idx="1"/>
          </p:nvPr>
        </p:nvSpPr>
        <p:spPr>
          <a:xfrm>
            <a:off x="1566863" y="1539875"/>
            <a:ext cx="10515600" cy="4351338"/>
          </a:xfrm>
        </p:spPr>
        <p:txBody>
          <a:bodyPr/>
          <a:lstStyle/>
          <a:p>
            <a:r>
              <a:rPr lang="en-US" dirty="0" smtClean="0"/>
              <a:t>Flood the traffic, thereby preventing network traffic</a:t>
            </a:r>
          </a:p>
          <a:p>
            <a:r>
              <a:rPr lang="en-US" dirty="0" smtClean="0"/>
              <a:t>Disrupt connections between two systems- preventing access to service</a:t>
            </a:r>
          </a:p>
          <a:p>
            <a:r>
              <a:rPr lang="en-US" dirty="0" smtClean="0"/>
              <a:t>Prevent a particular individual from accessing a service</a:t>
            </a:r>
          </a:p>
          <a:p>
            <a:r>
              <a:rPr lang="en-US" dirty="0" smtClean="0"/>
              <a:t>Disrupt service to a specific system or person</a:t>
            </a:r>
          </a:p>
          <a:p>
            <a:endParaRPr lang="en-US" dirty="0"/>
          </a:p>
        </p:txBody>
      </p:sp>
    </p:spTree>
    <p:extLst>
      <p:ext uri="{BB962C8B-B14F-4D97-AF65-F5344CB8AC3E}">
        <p14:creationId xmlns:p14="http://schemas.microsoft.com/office/powerpoint/2010/main" val="400870016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07950"/>
            <a:ext cx="10515600" cy="1325563"/>
          </a:xfrm>
        </p:spPr>
        <p:txBody>
          <a:bodyPr/>
          <a:lstStyle/>
          <a:p>
            <a:r>
              <a:rPr lang="en-US" dirty="0" smtClean="0"/>
              <a:t>Classification of </a:t>
            </a:r>
            <a:r>
              <a:rPr lang="en-US" dirty="0" err="1" smtClean="0"/>
              <a:t>DoS</a:t>
            </a:r>
            <a:endParaRPr lang="en-US" dirty="0"/>
          </a:p>
        </p:txBody>
      </p:sp>
      <p:sp>
        <p:nvSpPr>
          <p:cNvPr id="3" name="Content Placeholder 2"/>
          <p:cNvSpPr>
            <a:spLocks noGrp="1"/>
          </p:cNvSpPr>
          <p:nvPr>
            <p:ph idx="1"/>
          </p:nvPr>
        </p:nvSpPr>
        <p:spPr>
          <a:xfrm>
            <a:off x="1781175" y="1433513"/>
            <a:ext cx="10515600" cy="4351338"/>
          </a:xfrm>
        </p:spPr>
        <p:txBody>
          <a:bodyPr/>
          <a:lstStyle/>
          <a:p>
            <a:r>
              <a:rPr lang="en-US" dirty="0" smtClean="0"/>
              <a:t>Bandwidth attacks</a:t>
            </a:r>
          </a:p>
          <a:p>
            <a:r>
              <a:rPr lang="en-US" dirty="0" smtClean="0"/>
              <a:t>Logic attacks</a:t>
            </a:r>
          </a:p>
          <a:p>
            <a:r>
              <a:rPr lang="en-US" dirty="0" smtClean="0"/>
              <a:t>Protocol attacks</a:t>
            </a:r>
          </a:p>
          <a:p>
            <a:r>
              <a:rPr lang="en-US" dirty="0" smtClean="0"/>
              <a:t>Unintentional </a:t>
            </a:r>
            <a:r>
              <a:rPr lang="en-US" dirty="0" err="1" smtClean="0"/>
              <a:t>DoS</a:t>
            </a:r>
            <a:r>
              <a:rPr lang="en-US" dirty="0" smtClean="0"/>
              <a:t> attack</a:t>
            </a:r>
            <a:endParaRPr lang="en-US" dirty="0"/>
          </a:p>
        </p:txBody>
      </p:sp>
    </p:spTree>
    <p:extLst>
      <p:ext uri="{BB962C8B-B14F-4D97-AF65-F5344CB8AC3E}">
        <p14:creationId xmlns:p14="http://schemas.microsoft.com/office/powerpoint/2010/main" val="1122726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Bandwidth attacks</a:t>
            </a:r>
            <a:endParaRPr lang="en-US" dirty="0"/>
          </a:p>
        </p:txBody>
      </p:sp>
      <p:sp>
        <p:nvSpPr>
          <p:cNvPr id="3" name="Content Placeholder 2"/>
          <p:cNvSpPr>
            <a:spLocks noGrp="1"/>
          </p:cNvSpPr>
          <p:nvPr>
            <p:ph idx="1"/>
          </p:nvPr>
        </p:nvSpPr>
        <p:spPr>
          <a:xfrm>
            <a:off x="1552575" y="1582737"/>
            <a:ext cx="10515600" cy="4351338"/>
          </a:xfrm>
        </p:spPr>
        <p:txBody>
          <a:bodyPr/>
          <a:lstStyle/>
          <a:p>
            <a:r>
              <a:rPr lang="en-US" dirty="0" smtClean="0"/>
              <a:t>The most common </a:t>
            </a:r>
            <a:r>
              <a:rPr lang="en-US" dirty="0" err="1" smtClean="0"/>
              <a:t>DoS</a:t>
            </a:r>
            <a:r>
              <a:rPr lang="en-US" dirty="0" smtClean="0"/>
              <a:t> attacks</a:t>
            </a:r>
          </a:p>
          <a:p>
            <a:r>
              <a:rPr lang="en-US" dirty="0" smtClean="0"/>
              <a:t>target the computer's network bandwidth or connectivity. </a:t>
            </a:r>
          </a:p>
          <a:p>
            <a:r>
              <a:rPr lang="en-US" dirty="0" smtClean="0"/>
              <a:t>Bandwidth attacks flood the network with such a high volume of traffic, that all available network resources are consumed and legitimate user requests can not get through. </a:t>
            </a:r>
            <a:endParaRPr lang="en-US" dirty="0"/>
          </a:p>
        </p:txBody>
      </p:sp>
    </p:spTree>
    <p:extLst>
      <p:ext uri="{BB962C8B-B14F-4D97-AF65-F5344CB8AC3E}">
        <p14:creationId xmlns:p14="http://schemas.microsoft.com/office/powerpoint/2010/main" val="10336209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Logic attacks</a:t>
            </a:r>
            <a:endParaRPr lang="en-US" b="1" dirty="0"/>
          </a:p>
        </p:txBody>
      </p:sp>
      <p:sp>
        <p:nvSpPr>
          <p:cNvPr id="3" name="Content Placeholder 2"/>
          <p:cNvSpPr>
            <a:spLocks noGrp="1"/>
          </p:cNvSpPr>
          <p:nvPr>
            <p:ph idx="1"/>
          </p:nvPr>
        </p:nvSpPr>
        <p:spPr>
          <a:xfrm>
            <a:off x="1538287" y="1511300"/>
            <a:ext cx="10515600" cy="4351338"/>
          </a:xfrm>
        </p:spPr>
        <p:txBody>
          <a:bodyPr>
            <a:normAutofit/>
          </a:bodyPr>
          <a:lstStyle/>
          <a:p>
            <a:pPr algn="just"/>
            <a:r>
              <a:rPr lang="en-US" dirty="0" smtClean="0"/>
              <a:t>An attacker sends more requests to a server than it can handle, usually in a relentless manner, until the server buckles and gives in to the attacker. Once this type of attack ends, the server can return to normal operation.</a:t>
            </a:r>
          </a:p>
          <a:p>
            <a:pPr algn="just"/>
            <a:r>
              <a:rPr lang="en-US" dirty="0" smtClean="0"/>
              <a:t>Generally, a logic attack requires your server to have a discoverable weakness that the attacker can locate and then use against it. </a:t>
            </a:r>
          </a:p>
          <a:p>
            <a:pPr algn="just"/>
            <a:r>
              <a:rPr lang="en-US" dirty="0" smtClean="0"/>
              <a:t>Because of this prerequisite, it is usually easy to prevent by keeping your server software and hardware up-to-date with the latest security patches and firmware respectively</a:t>
            </a:r>
            <a:br>
              <a:rPr lang="en-US" dirty="0" smtClean="0"/>
            </a:br>
            <a:endParaRPr lang="en-US" dirty="0" smtClean="0"/>
          </a:p>
          <a:p>
            <a:pPr algn="just"/>
            <a:endParaRPr lang="en-US" dirty="0"/>
          </a:p>
        </p:txBody>
      </p:sp>
    </p:spTree>
    <p:extLst>
      <p:ext uri="{BB962C8B-B14F-4D97-AF65-F5344CB8AC3E}">
        <p14:creationId xmlns:p14="http://schemas.microsoft.com/office/powerpoint/2010/main" val="43627393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07950"/>
            <a:ext cx="10515600" cy="1325563"/>
          </a:xfrm>
        </p:spPr>
        <p:txBody>
          <a:bodyPr>
            <a:normAutofit/>
          </a:bodyPr>
          <a:lstStyle/>
          <a:p>
            <a:r>
              <a:rPr lang="en-US" dirty="0" smtClean="0"/>
              <a:t>Protocol attacks</a:t>
            </a:r>
            <a:br>
              <a:rPr lang="en-US" dirty="0" smtClean="0"/>
            </a:br>
            <a:endParaRPr lang="en-US" dirty="0"/>
          </a:p>
        </p:txBody>
      </p:sp>
      <p:sp>
        <p:nvSpPr>
          <p:cNvPr id="3" name="Content Placeholder 2"/>
          <p:cNvSpPr>
            <a:spLocks noGrp="1"/>
          </p:cNvSpPr>
          <p:nvPr>
            <p:ph idx="1"/>
          </p:nvPr>
        </p:nvSpPr>
        <p:spPr>
          <a:xfrm>
            <a:off x="1524000" y="1554163"/>
            <a:ext cx="10515600" cy="4351338"/>
          </a:xfrm>
        </p:spPr>
        <p:txBody>
          <a:bodyPr>
            <a:normAutofit/>
          </a:bodyPr>
          <a:lstStyle/>
          <a:p>
            <a:pPr algn="just"/>
            <a:r>
              <a:rPr lang="en-US" dirty="0" smtClean="0"/>
              <a:t>Denial of service attacks may take advantage of certain standard protocol features.</a:t>
            </a:r>
          </a:p>
          <a:p>
            <a:pPr algn="just"/>
            <a:r>
              <a:rPr lang="en-US" dirty="0" smtClean="0"/>
              <a:t>Several attacks capitalize on the fact that IP source addresses can be spoofed. </a:t>
            </a:r>
          </a:p>
          <a:p>
            <a:pPr algn="just"/>
            <a:r>
              <a:rPr lang="en-US" dirty="0" smtClean="0"/>
              <a:t>In addition, connection depletion attacks take advantage of the fact that many connection-oriented protocols require servers to maintain state information after a connection request is made but before the connection is fully established. </a:t>
            </a:r>
          </a:p>
          <a:p>
            <a:pPr algn="just"/>
            <a:r>
              <a:rPr lang="en-US" dirty="0" smtClean="0"/>
              <a:t>The most common connection depletion attack is SYN flooding</a:t>
            </a:r>
          </a:p>
          <a:p>
            <a:pPr algn="just"/>
            <a:endParaRPr lang="en-US" dirty="0"/>
          </a:p>
        </p:txBody>
      </p:sp>
    </p:spTree>
    <p:extLst>
      <p:ext uri="{BB962C8B-B14F-4D97-AF65-F5344CB8AC3E}">
        <p14:creationId xmlns:p14="http://schemas.microsoft.com/office/powerpoint/2010/main" val="30898781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3" y="0"/>
            <a:ext cx="10515600" cy="1325563"/>
          </a:xfrm>
        </p:spPr>
        <p:txBody>
          <a:bodyPr>
            <a:normAutofit/>
          </a:bodyPr>
          <a:lstStyle/>
          <a:p>
            <a:r>
              <a:rPr lang="en-US" dirty="0" smtClean="0"/>
              <a:t>Unintentional </a:t>
            </a:r>
            <a:r>
              <a:rPr lang="en-US" dirty="0" err="1" smtClean="0"/>
              <a:t>DoS</a:t>
            </a:r>
            <a:r>
              <a:rPr lang="en-US" dirty="0" smtClean="0"/>
              <a:t> attack</a:t>
            </a:r>
            <a:endParaRPr lang="en-US" dirty="0"/>
          </a:p>
        </p:txBody>
      </p:sp>
      <p:sp>
        <p:nvSpPr>
          <p:cNvPr id="3" name="Content Placeholder 2"/>
          <p:cNvSpPr>
            <a:spLocks noGrp="1"/>
          </p:cNvSpPr>
          <p:nvPr>
            <p:ph idx="1"/>
          </p:nvPr>
        </p:nvSpPr>
        <p:spPr>
          <a:xfrm>
            <a:off x="1566863" y="1497012"/>
            <a:ext cx="10515600" cy="4351338"/>
          </a:xfrm>
        </p:spPr>
        <p:txBody>
          <a:bodyPr/>
          <a:lstStyle/>
          <a:p>
            <a:pPr algn="just"/>
            <a:r>
              <a:rPr lang="en-US" dirty="0" smtClean="0"/>
              <a:t>This describes a situation where a website ends up denied, not due to a deliberate attack by a single individual or group of individuals, but simply due to a sudden enormous spike in popularity.</a:t>
            </a:r>
          </a:p>
          <a:p>
            <a:pPr algn="just"/>
            <a:r>
              <a:rPr lang="en-US" dirty="0" smtClean="0"/>
              <a:t> This can happen when an extremely popular website posts a prominent link to a second, less well-prepared site, for example, as part of a news story.</a:t>
            </a:r>
            <a:endParaRPr lang="en-US" dirty="0"/>
          </a:p>
        </p:txBody>
      </p:sp>
    </p:spTree>
    <p:extLst>
      <p:ext uri="{BB962C8B-B14F-4D97-AF65-F5344CB8AC3E}">
        <p14:creationId xmlns:p14="http://schemas.microsoft.com/office/powerpoint/2010/main" val="300708739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Types or levels of </a:t>
            </a:r>
            <a:r>
              <a:rPr lang="en-US" dirty="0" err="1" smtClean="0"/>
              <a:t>DoS</a:t>
            </a:r>
            <a:r>
              <a:rPr lang="en-US" dirty="0" smtClean="0"/>
              <a:t> attacks</a:t>
            </a:r>
            <a:endParaRPr lang="en-US" dirty="0"/>
          </a:p>
        </p:txBody>
      </p:sp>
      <p:sp>
        <p:nvSpPr>
          <p:cNvPr id="3" name="Content Placeholder 2"/>
          <p:cNvSpPr>
            <a:spLocks noGrp="1"/>
          </p:cNvSpPr>
          <p:nvPr>
            <p:ph idx="1"/>
          </p:nvPr>
        </p:nvSpPr>
        <p:spPr>
          <a:xfrm>
            <a:off x="1676400" y="1597025"/>
            <a:ext cx="10515600" cy="4351338"/>
          </a:xfrm>
        </p:spPr>
        <p:txBody>
          <a:bodyPr/>
          <a:lstStyle/>
          <a:p>
            <a:r>
              <a:rPr lang="en-US" dirty="0" smtClean="0"/>
              <a:t>Flood attack</a:t>
            </a:r>
          </a:p>
          <a:p>
            <a:r>
              <a:rPr lang="en-US" dirty="0" smtClean="0"/>
              <a:t>Ping of death attack</a:t>
            </a:r>
          </a:p>
          <a:p>
            <a:r>
              <a:rPr lang="en-US" dirty="0" smtClean="0"/>
              <a:t>SYN attack</a:t>
            </a:r>
          </a:p>
          <a:p>
            <a:r>
              <a:rPr lang="en-US" dirty="0" smtClean="0"/>
              <a:t>Teardrop attack </a:t>
            </a:r>
          </a:p>
          <a:p>
            <a:r>
              <a:rPr lang="en-US" dirty="0" smtClean="0"/>
              <a:t>Smurf attack</a:t>
            </a:r>
          </a:p>
          <a:p>
            <a:r>
              <a:rPr lang="en-US" dirty="0" smtClean="0"/>
              <a:t>nuke</a:t>
            </a:r>
            <a:endParaRPr lang="en-US" dirty="0"/>
          </a:p>
        </p:txBody>
      </p:sp>
    </p:spTree>
    <p:extLst>
      <p:ext uri="{BB962C8B-B14F-4D97-AF65-F5344CB8AC3E}">
        <p14:creationId xmlns:p14="http://schemas.microsoft.com/office/powerpoint/2010/main" val="39937539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36525"/>
            <a:ext cx="10515600" cy="1325563"/>
          </a:xfrm>
        </p:spPr>
        <p:txBody>
          <a:bodyPr>
            <a:normAutofit/>
          </a:bodyPr>
          <a:lstStyle/>
          <a:p>
            <a:r>
              <a:rPr lang="en-US" dirty="0" smtClean="0"/>
              <a:t>Flood attack</a:t>
            </a:r>
            <a:br>
              <a:rPr lang="en-US" dirty="0" smtClean="0"/>
            </a:br>
            <a:endParaRPr lang="en-US" dirty="0"/>
          </a:p>
        </p:txBody>
      </p:sp>
      <p:sp>
        <p:nvSpPr>
          <p:cNvPr id="3" name="Content Placeholder 2"/>
          <p:cNvSpPr>
            <a:spLocks noGrp="1"/>
          </p:cNvSpPr>
          <p:nvPr>
            <p:ph idx="1"/>
          </p:nvPr>
        </p:nvSpPr>
        <p:spPr>
          <a:xfrm>
            <a:off x="1676400" y="1462088"/>
            <a:ext cx="10320337" cy="5257800"/>
          </a:xfrm>
        </p:spPr>
        <p:txBody>
          <a:bodyPr>
            <a:normAutofit/>
          </a:bodyPr>
          <a:lstStyle/>
          <a:p>
            <a:pPr algn="just"/>
            <a:r>
              <a:rPr lang="en-US" dirty="0" smtClean="0"/>
              <a:t>Flooding is a </a:t>
            </a:r>
            <a:r>
              <a:rPr lang="en-US" dirty="0" smtClean="0">
                <a:hlinkClick r:id="rId2"/>
              </a:rPr>
              <a:t>Denial of Service</a:t>
            </a:r>
            <a:r>
              <a:rPr lang="en-US" dirty="0" smtClean="0"/>
              <a:t> (</a:t>
            </a:r>
            <a:r>
              <a:rPr lang="en-US" dirty="0" err="1" smtClean="0"/>
              <a:t>DoS</a:t>
            </a:r>
            <a:r>
              <a:rPr lang="en-US" dirty="0" smtClean="0"/>
              <a:t>) attack that is designed to bring a </a:t>
            </a:r>
            <a:r>
              <a:rPr lang="en-US" dirty="0" smtClean="0">
                <a:hlinkClick r:id="rId3"/>
              </a:rPr>
              <a:t>network</a:t>
            </a:r>
            <a:r>
              <a:rPr lang="en-US" dirty="0" smtClean="0"/>
              <a:t> or service down by flooding it with large amounts of </a:t>
            </a:r>
            <a:r>
              <a:rPr lang="en-US" dirty="0" smtClean="0">
                <a:hlinkClick r:id="rId4"/>
              </a:rPr>
              <a:t>traffic</a:t>
            </a:r>
            <a:r>
              <a:rPr lang="en-US" dirty="0" smtClean="0"/>
              <a:t>. </a:t>
            </a:r>
          </a:p>
          <a:p>
            <a:pPr algn="just"/>
            <a:r>
              <a:rPr lang="en-US" dirty="0" smtClean="0"/>
              <a:t>Flood attacks occur when a network or service becomes so weighed down with </a:t>
            </a:r>
            <a:r>
              <a:rPr lang="en-US" dirty="0" smtClean="0">
                <a:hlinkClick r:id="rId5"/>
              </a:rPr>
              <a:t>packets</a:t>
            </a:r>
            <a:r>
              <a:rPr lang="en-US" dirty="0" smtClean="0"/>
              <a:t> initiating incomplete connection requests that it can no longer process genuine connection requests. </a:t>
            </a:r>
          </a:p>
          <a:p>
            <a:pPr algn="just"/>
            <a:r>
              <a:rPr lang="en-US" dirty="0" smtClean="0"/>
              <a:t>By flooding a </a:t>
            </a:r>
            <a:r>
              <a:rPr lang="en-US" dirty="0" smtClean="0">
                <a:hlinkClick r:id="rId6"/>
              </a:rPr>
              <a:t>server</a:t>
            </a:r>
            <a:r>
              <a:rPr lang="en-US" dirty="0" smtClean="0"/>
              <a:t> or </a:t>
            </a:r>
            <a:r>
              <a:rPr lang="en-US" dirty="0" smtClean="0">
                <a:hlinkClick r:id="rId7"/>
              </a:rPr>
              <a:t>host</a:t>
            </a:r>
            <a:r>
              <a:rPr lang="en-US" dirty="0" smtClean="0"/>
              <a:t> with connections that cannot be completed, the flood attack eventually fills the hosts </a:t>
            </a:r>
            <a:r>
              <a:rPr lang="en-US" dirty="0" smtClean="0">
                <a:hlinkClick r:id="rId8"/>
              </a:rPr>
              <a:t>memory</a:t>
            </a:r>
            <a:r>
              <a:rPr lang="en-US" dirty="0" smtClean="0"/>
              <a:t> </a:t>
            </a:r>
            <a:r>
              <a:rPr lang="en-US" dirty="0" smtClean="0">
                <a:hlinkClick r:id="rId9"/>
              </a:rPr>
              <a:t>buffer</a:t>
            </a:r>
            <a:r>
              <a:rPr lang="en-US" dirty="0" smtClean="0"/>
              <a:t>. Once this buffer is full no further connections can be made, and the result is a Denial of Service.</a:t>
            </a:r>
            <a:endParaRPr lang="en-US" dirty="0"/>
          </a:p>
        </p:txBody>
      </p:sp>
    </p:spTree>
    <p:extLst>
      <p:ext uri="{BB962C8B-B14F-4D97-AF65-F5344CB8AC3E}">
        <p14:creationId xmlns:p14="http://schemas.microsoft.com/office/powerpoint/2010/main" val="411318893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b="1" dirty="0" smtClean="0"/>
              <a:t>ping of death attack</a:t>
            </a:r>
            <a:endParaRPr lang="en-US" dirty="0"/>
          </a:p>
        </p:txBody>
      </p:sp>
      <p:sp>
        <p:nvSpPr>
          <p:cNvPr id="3" name="Content Placeholder 2"/>
          <p:cNvSpPr>
            <a:spLocks noGrp="1"/>
          </p:cNvSpPr>
          <p:nvPr>
            <p:ph idx="1"/>
          </p:nvPr>
        </p:nvSpPr>
        <p:spPr>
          <a:xfrm>
            <a:off x="1676400" y="1554162"/>
            <a:ext cx="10515600" cy="4351338"/>
          </a:xfrm>
        </p:spPr>
        <p:txBody>
          <a:bodyPr/>
          <a:lstStyle/>
          <a:p>
            <a:pPr algn="just"/>
            <a:r>
              <a:rPr lang="en-US" dirty="0" smtClean="0"/>
              <a:t>ping of death is a </a:t>
            </a:r>
            <a:r>
              <a:rPr lang="en-US" dirty="0" smtClean="0">
                <a:hlinkClick r:id="rId2"/>
              </a:rPr>
              <a:t>denial of service</a:t>
            </a:r>
            <a:r>
              <a:rPr lang="en-US" dirty="0" smtClean="0"/>
              <a:t> (</a:t>
            </a:r>
            <a:r>
              <a:rPr lang="en-US" dirty="0" err="1" smtClean="0"/>
              <a:t>DoS</a:t>
            </a:r>
            <a:r>
              <a:rPr lang="en-US" dirty="0" smtClean="0"/>
              <a:t>) attack caused by an attacker deliberately sending an </a:t>
            </a:r>
            <a:r>
              <a:rPr lang="en-US" dirty="0" smtClean="0">
                <a:hlinkClick r:id="rId3"/>
              </a:rPr>
              <a:t>IP</a:t>
            </a:r>
            <a:r>
              <a:rPr lang="en-US" dirty="0" smtClean="0"/>
              <a:t> packet larger than the 65,536 bytes allowed by the IP </a:t>
            </a:r>
            <a:r>
              <a:rPr lang="en-US" dirty="0" smtClean="0">
                <a:hlinkClick r:id="rId4"/>
              </a:rPr>
              <a:t>protocol</a:t>
            </a:r>
            <a:r>
              <a:rPr lang="en-US" dirty="0" smtClean="0"/>
              <a:t>.</a:t>
            </a:r>
            <a:endParaRPr lang="en-US" dirty="0"/>
          </a:p>
        </p:txBody>
      </p:sp>
    </p:spTree>
    <p:extLst>
      <p:ext uri="{BB962C8B-B14F-4D97-AF65-F5344CB8AC3E}">
        <p14:creationId xmlns:p14="http://schemas.microsoft.com/office/powerpoint/2010/main" val="4948053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SYN attack</a:t>
            </a:r>
            <a:endParaRPr lang="en-US" dirty="0"/>
          </a:p>
        </p:txBody>
      </p:sp>
      <p:sp>
        <p:nvSpPr>
          <p:cNvPr id="3" name="Content Placeholder 2"/>
          <p:cNvSpPr>
            <a:spLocks noGrp="1"/>
          </p:cNvSpPr>
          <p:nvPr>
            <p:ph idx="1"/>
          </p:nvPr>
        </p:nvSpPr>
        <p:spPr>
          <a:xfrm>
            <a:off x="1676400" y="1454150"/>
            <a:ext cx="10515600" cy="4351338"/>
          </a:xfrm>
        </p:spPr>
        <p:txBody>
          <a:bodyPr>
            <a:normAutofit/>
          </a:bodyPr>
          <a:lstStyle/>
          <a:p>
            <a:pPr algn="just"/>
            <a:r>
              <a:rPr lang="en-US" dirty="0" smtClean="0"/>
              <a:t>A SYN flood occurs when a host sends a flood of TCP/SYN packets, often with a forged sender address. </a:t>
            </a:r>
          </a:p>
          <a:p>
            <a:pPr algn="just"/>
            <a:r>
              <a:rPr lang="en-US" dirty="0" smtClean="0"/>
              <a:t>Each of these packets are handled like a connection request, causing the server to spawn a half-open connection, by sending back a TCP/SYN-ACK packet (Acknowledge), and waiting for a packet in response from the sender address (response to the ACK Packet). </a:t>
            </a:r>
          </a:p>
          <a:p>
            <a:pPr algn="just"/>
            <a:r>
              <a:rPr lang="en-US" dirty="0" smtClean="0"/>
              <a:t>However, because the sender address is forged, the response never comes. These half-open connections saturate the number of available connections the server can make, keeping it from responding to legitimate requests until after the attack ends</a:t>
            </a:r>
            <a:endParaRPr lang="en-US" dirty="0"/>
          </a:p>
        </p:txBody>
      </p:sp>
    </p:spTree>
    <p:extLst>
      <p:ext uri="{BB962C8B-B14F-4D97-AF65-F5344CB8AC3E}">
        <p14:creationId xmlns:p14="http://schemas.microsoft.com/office/powerpoint/2010/main" val="198666270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SYN attack</a:t>
            </a:r>
            <a:endParaRPr lang="en-US" dirty="0"/>
          </a:p>
        </p:txBody>
      </p:sp>
      <p:pic>
        <p:nvPicPr>
          <p:cNvPr id="63490" name="Picture 2"/>
          <p:cNvPicPr>
            <a:picLocks noChangeAspect="1" noChangeArrowheads="1"/>
          </p:cNvPicPr>
          <p:nvPr/>
        </p:nvPicPr>
        <p:blipFill>
          <a:blip r:embed="rId2"/>
          <a:srcRect/>
          <a:stretch>
            <a:fillRect/>
          </a:stretch>
        </p:blipFill>
        <p:spPr bwMode="auto">
          <a:xfrm>
            <a:off x="2571751" y="1493726"/>
            <a:ext cx="7372349" cy="4935650"/>
          </a:xfrm>
          <a:prstGeom prst="rect">
            <a:avLst/>
          </a:prstGeom>
          <a:noFill/>
          <a:ln w="9525">
            <a:noFill/>
            <a:miter lim="800000"/>
            <a:headEnd/>
            <a:tailEnd/>
          </a:ln>
          <a:effectLst/>
        </p:spPr>
      </p:pic>
    </p:spTree>
    <p:extLst>
      <p:ext uri="{BB962C8B-B14F-4D97-AF65-F5344CB8AC3E}">
        <p14:creationId xmlns:p14="http://schemas.microsoft.com/office/powerpoint/2010/main" val="267387277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Teardrop attack </a:t>
            </a:r>
            <a:endParaRPr lang="en-US" dirty="0"/>
          </a:p>
        </p:txBody>
      </p:sp>
      <p:sp>
        <p:nvSpPr>
          <p:cNvPr id="3" name="Content Placeholder 2"/>
          <p:cNvSpPr>
            <a:spLocks noGrp="1"/>
          </p:cNvSpPr>
          <p:nvPr>
            <p:ph idx="1"/>
          </p:nvPr>
        </p:nvSpPr>
        <p:spPr>
          <a:xfrm>
            <a:off x="1552575" y="1597025"/>
            <a:ext cx="10515600" cy="4351338"/>
          </a:xfrm>
        </p:spPr>
        <p:txBody>
          <a:bodyPr>
            <a:normAutofit/>
          </a:bodyPr>
          <a:lstStyle/>
          <a:p>
            <a:pPr algn="just"/>
            <a:r>
              <a:rPr lang="en-US" dirty="0" smtClean="0"/>
              <a:t>A teardrop attack is a denial of service (</a:t>
            </a:r>
            <a:r>
              <a:rPr lang="en-US" dirty="0" err="1" smtClean="0"/>
              <a:t>DoS</a:t>
            </a:r>
            <a:r>
              <a:rPr lang="en-US" dirty="0" smtClean="0"/>
              <a:t>) attack conducted by targeting TCP/IP fragmentation reassembly codes. </a:t>
            </a:r>
          </a:p>
          <a:p>
            <a:pPr algn="just"/>
            <a:r>
              <a:rPr lang="en-US" dirty="0" smtClean="0"/>
              <a:t>This attack causes fragmented packets to overlap one another on the host receipt; </a:t>
            </a:r>
          </a:p>
          <a:p>
            <a:pPr algn="just"/>
            <a:r>
              <a:rPr lang="en-US" dirty="0" smtClean="0"/>
              <a:t>the host attempts to reconstruct them during the process but fails. </a:t>
            </a:r>
          </a:p>
          <a:p>
            <a:pPr algn="just"/>
            <a:r>
              <a:rPr lang="en-US" dirty="0" smtClean="0"/>
              <a:t>Gigantic payloads are sent to the machine that is being targeted, causing system crashes.</a:t>
            </a:r>
            <a:endParaRPr lang="en-US" dirty="0"/>
          </a:p>
        </p:txBody>
      </p:sp>
    </p:spTree>
    <p:extLst>
      <p:ext uri="{BB962C8B-B14F-4D97-AF65-F5344CB8AC3E}">
        <p14:creationId xmlns:p14="http://schemas.microsoft.com/office/powerpoint/2010/main" val="326531394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Smurf attack</a:t>
            </a:r>
            <a:endParaRPr lang="en-US" dirty="0"/>
          </a:p>
        </p:txBody>
      </p:sp>
      <p:sp>
        <p:nvSpPr>
          <p:cNvPr id="3" name="Content Placeholder 2"/>
          <p:cNvSpPr>
            <a:spLocks noGrp="1"/>
          </p:cNvSpPr>
          <p:nvPr>
            <p:ph idx="1"/>
          </p:nvPr>
        </p:nvSpPr>
        <p:spPr>
          <a:xfrm>
            <a:off x="1538288" y="1597025"/>
            <a:ext cx="10515600" cy="4351338"/>
          </a:xfrm>
        </p:spPr>
        <p:txBody>
          <a:bodyPr/>
          <a:lstStyle/>
          <a:p>
            <a:pPr algn="just"/>
            <a:r>
              <a:rPr lang="en-US" dirty="0" smtClean="0"/>
              <a:t>A </a:t>
            </a:r>
            <a:r>
              <a:rPr lang="en-US" dirty="0" err="1" smtClean="0"/>
              <a:t>smurf</a:t>
            </a:r>
            <a:r>
              <a:rPr lang="en-US" dirty="0" smtClean="0"/>
              <a:t> attack is a type of denial of service attack in which a system is flooded with spoofed ping messages. </a:t>
            </a:r>
          </a:p>
          <a:p>
            <a:pPr algn="just"/>
            <a:r>
              <a:rPr lang="en-US" dirty="0" smtClean="0"/>
              <a:t>This creates high computer network traffic on the victim’s network, which often renders it unresponsive.</a:t>
            </a:r>
            <a:endParaRPr lang="en-US" dirty="0"/>
          </a:p>
        </p:txBody>
      </p:sp>
    </p:spTree>
    <p:extLst>
      <p:ext uri="{BB962C8B-B14F-4D97-AF65-F5344CB8AC3E}">
        <p14:creationId xmlns:p14="http://schemas.microsoft.com/office/powerpoint/2010/main" val="77081918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Nuke </a:t>
            </a:r>
            <a:endParaRPr lang="en-US" dirty="0"/>
          </a:p>
        </p:txBody>
      </p:sp>
      <p:sp>
        <p:nvSpPr>
          <p:cNvPr id="3" name="Content Placeholder 2"/>
          <p:cNvSpPr>
            <a:spLocks noGrp="1"/>
          </p:cNvSpPr>
          <p:nvPr>
            <p:ph idx="1"/>
          </p:nvPr>
        </p:nvSpPr>
        <p:spPr>
          <a:xfrm>
            <a:off x="1552575" y="1525587"/>
            <a:ext cx="10515600" cy="4351338"/>
          </a:xfrm>
        </p:spPr>
        <p:txBody>
          <a:bodyPr/>
          <a:lstStyle/>
          <a:p>
            <a:pPr algn="just"/>
            <a:r>
              <a:rPr lang="en-US" dirty="0" smtClean="0"/>
              <a:t>A Nuke is an old denial-of-service attack against </a:t>
            </a:r>
            <a:r>
              <a:rPr lang="en-US" dirty="0" smtClean="0">
                <a:hlinkClick r:id="rId2" tooltip="Computer networking"/>
              </a:rPr>
              <a:t>computer networks</a:t>
            </a:r>
            <a:r>
              <a:rPr lang="en-US" dirty="0" smtClean="0"/>
              <a:t> consisting of fragmented or otherwise invalid </a:t>
            </a:r>
            <a:r>
              <a:rPr lang="en-US" dirty="0" smtClean="0">
                <a:hlinkClick r:id="rId3" tooltip="Internet Control Message Protocol"/>
              </a:rPr>
              <a:t>ICMP</a:t>
            </a:r>
            <a:r>
              <a:rPr lang="en-US" dirty="0" smtClean="0"/>
              <a:t> packets sent to the target, achieved by using a modified </a:t>
            </a:r>
            <a:r>
              <a:rPr lang="en-US" dirty="0" smtClean="0">
                <a:hlinkClick r:id="rId4" tooltip="Ping (networking utility)"/>
              </a:rPr>
              <a:t>ping</a:t>
            </a:r>
            <a:r>
              <a:rPr lang="en-US" dirty="0" smtClean="0"/>
              <a:t> utility to repeatedly send this corrupt data, thus slowing down the affected computer until it comes to a complete stop.</a:t>
            </a:r>
            <a:endParaRPr lang="en-US" dirty="0"/>
          </a:p>
        </p:txBody>
      </p:sp>
    </p:spTree>
    <p:extLst>
      <p:ext uri="{BB962C8B-B14F-4D97-AF65-F5344CB8AC3E}">
        <p14:creationId xmlns:p14="http://schemas.microsoft.com/office/powerpoint/2010/main" val="26037513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err="1" smtClean="0"/>
              <a:t>DDoS</a:t>
            </a:r>
            <a:r>
              <a:rPr lang="en-US" dirty="0" smtClean="0"/>
              <a:t> attack</a:t>
            </a:r>
            <a:endParaRPr lang="en-US" dirty="0"/>
          </a:p>
        </p:txBody>
      </p:sp>
      <p:sp>
        <p:nvSpPr>
          <p:cNvPr id="3" name="Content Placeholder 2"/>
          <p:cNvSpPr>
            <a:spLocks noGrp="1"/>
          </p:cNvSpPr>
          <p:nvPr>
            <p:ph idx="1"/>
          </p:nvPr>
        </p:nvSpPr>
        <p:spPr>
          <a:xfrm>
            <a:off x="1552575" y="1497013"/>
            <a:ext cx="10515600" cy="4351338"/>
          </a:xfrm>
        </p:spPr>
        <p:txBody>
          <a:bodyPr/>
          <a:lstStyle/>
          <a:p>
            <a:r>
              <a:rPr lang="en-US" dirty="0" smtClean="0"/>
              <a:t>A Distributed Denial of Service (</a:t>
            </a:r>
            <a:r>
              <a:rPr lang="en-US" dirty="0" err="1" smtClean="0"/>
              <a:t>DDoS</a:t>
            </a:r>
            <a:r>
              <a:rPr lang="en-US" dirty="0" smtClean="0"/>
              <a:t>) attack is an attempt to make an online service unavailable by overwhelming it with traffic from multiple sources. </a:t>
            </a:r>
          </a:p>
          <a:p>
            <a:r>
              <a:rPr lang="en-US" dirty="0" smtClean="0"/>
              <a:t>They target a wide variety of important resources, from banks to news websites, and present a major challenge to making sure people can publish and access important information.</a:t>
            </a:r>
            <a:endParaRPr lang="en-US" dirty="0"/>
          </a:p>
        </p:txBody>
      </p:sp>
    </p:spTree>
    <p:extLst>
      <p:ext uri="{BB962C8B-B14F-4D97-AF65-F5344CB8AC3E}">
        <p14:creationId xmlns:p14="http://schemas.microsoft.com/office/powerpoint/2010/main" val="240136089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descr="http://zaielacademic.net/security/images/ddos_attack_diagram.gif"/>
          <p:cNvPicPr>
            <a:picLocks noChangeAspect="1" noChangeArrowheads="1"/>
          </p:cNvPicPr>
          <p:nvPr/>
        </p:nvPicPr>
        <p:blipFill>
          <a:blip r:embed="rId2"/>
          <a:srcRect/>
          <a:stretch>
            <a:fillRect/>
          </a:stretch>
        </p:blipFill>
        <p:spPr bwMode="auto">
          <a:xfrm>
            <a:off x="2728912" y="1490663"/>
            <a:ext cx="6886575" cy="4862511"/>
          </a:xfrm>
          <a:prstGeom prst="rect">
            <a:avLst/>
          </a:prstGeom>
          <a:noFill/>
        </p:spPr>
      </p:pic>
    </p:spTree>
    <p:extLst>
      <p:ext uri="{BB962C8B-B14F-4D97-AF65-F5344CB8AC3E}">
        <p14:creationId xmlns:p14="http://schemas.microsoft.com/office/powerpoint/2010/main" val="75913465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how to prevent dos/</a:t>
            </a:r>
            <a:r>
              <a:rPr lang="en-US" dirty="0" err="1" smtClean="0"/>
              <a:t>ddos</a:t>
            </a:r>
            <a:r>
              <a:rPr lang="en-US" dirty="0" smtClean="0"/>
              <a:t> attacks</a:t>
            </a:r>
            <a:endParaRPr lang="en-US" dirty="0"/>
          </a:p>
        </p:txBody>
      </p:sp>
      <p:sp>
        <p:nvSpPr>
          <p:cNvPr id="3" name="Content Placeholder 2"/>
          <p:cNvSpPr>
            <a:spLocks noGrp="1"/>
          </p:cNvSpPr>
          <p:nvPr>
            <p:ph idx="1"/>
          </p:nvPr>
        </p:nvSpPr>
        <p:spPr>
          <a:xfrm>
            <a:off x="1526823" y="1588558"/>
            <a:ext cx="10515600" cy="4351338"/>
          </a:xfrm>
        </p:spPr>
        <p:txBody>
          <a:bodyPr>
            <a:normAutofit/>
          </a:bodyPr>
          <a:lstStyle/>
          <a:p>
            <a:r>
              <a:rPr lang="en-US" b="1" dirty="0" smtClean="0"/>
              <a:t>Filtering:</a:t>
            </a:r>
            <a:r>
              <a:rPr lang="en-US" dirty="0" smtClean="0"/>
              <a:t> Routers at the edge of the network can be trained to spot and drop DDOS connections, preventing them from slowing the network or the server.</a:t>
            </a:r>
          </a:p>
          <a:p>
            <a:r>
              <a:rPr lang="en-US" b="1" dirty="0" smtClean="0"/>
              <a:t>Moving:</a:t>
            </a:r>
            <a:r>
              <a:rPr lang="en-US" dirty="0" smtClean="0"/>
              <a:t> If the attack is pointed at a specific IP address, the site’s IP can be changed. </a:t>
            </a:r>
          </a:p>
          <a:p>
            <a:r>
              <a:rPr lang="en-US" b="1" dirty="0" err="1" smtClean="0"/>
              <a:t>Blackholing</a:t>
            </a:r>
            <a:r>
              <a:rPr lang="en-US" b="1" dirty="0" smtClean="0"/>
              <a:t>:</a:t>
            </a:r>
            <a:r>
              <a:rPr lang="en-US" dirty="0" smtClean="0"/>
              <a:t> A host may simply “</a:t>
            </a:r>
            <a:r>
              <a:rPr lang="en-US" dirty="0" err="1" smtClean="0"/>
              <a:t>blackhole</a:t>
            </a:r>
            <a:r>
              <a:rPr lang="en-US" dirty="0" smtClean="0"/>
              <a:t>” a site that is being </a:t>
            </a:r>
            <a:r>
              <a:rPr lang="en-US" dirty="0" err="1" smtClean="0"/>
              <a:t>DDOSed</a:t>
            </a:r>
            <a:r>
              <a:rPr lang="en-US" dirty="0" smtClean="0"/>
              <a:t>, directing all traffic to it to an address that doesn’t exist. This is normally a last resort.</a:t>
            </a:r>
          </a:p>
          <a:p>
            <a:endParaRPr lang="en-US" dirty="0"/>
          </a:p>
        </p:txBody>
      </p:sp>
    </p:spTree>
    <p:extLst>
      <p:ext uri="{BB962C8B-B14F-4D97-AF65-F5344CB8AC3E}">
        <p14:creationId xmlns:p14="http://schemas.microsoft.com/office/powerpoint/2010/main" val="187611333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6356"/>
            <a:ext cx="10515600" cy="1325563"/>
          </a:xfrm>
        </p:spPr>
        <p:txBody>
          <a:bodyPr/>
          <a:lstStyle/>
          <a:p>
            <a:r>
              <a:rPr lang="en-US" dirty="0" smtClean="0"/>
              <a:t>9. SQL Injection</a:t>
            </a:r>
            <a:endParaRPr lang="en-US" dirty="0"/>
          </a:p>
        </p:txBody>
      </p:sp>
      <p:sp>
        <p:nvSpPr>
          <p:cNvPr id="3" name="Content Placeholder 2"/>
          <p:cNvSpPr>
            <a:spLocks noGrp="1"/>
          </p:cNvSpPr>
          <p:nvPr>
            <p:ph idx="1"/>
          </p:nvPr>
        </p:nvSpPr>
        <p:spPr>
          <a:xfrm>
            <a:off x="1676400" y="1494632"/>
            <a:ext cx="10515600" cy="4351338"/>
          </a:xfrm>
        </p:spPr>
        <p:txBody>
          <a:bodyPr>
            <a:normAutofit/>
          </a:bodyPr>
          <a:lstStyle/>
          <a:p>
            <a:pPr algn="just"/>
            <a:r>
              <a:rPr lang="en-US" b="1" dirty="0" smtClean="0"/>
              <a:t>SQL injection</a:t>
            </a:r>
            <a:r>
              <a:rPr lang="en-US" dirty="0" smtClean="0"/>
              <a:t> is a code </a:t>
            </a:r>
            <a:r>
              <a:rPr lang="en-US" b="1" dirty="0" smtClean="0"/>
              <a:t>injection</a:t>
            </a:r>
            <a:r>
              <a:rPr lang="en-US" dirty="0" smtClean="0"/>
              <a:t> technique, used to attack data-driven applications, in which malicious </a:t>
            </a:r>
            <a:r>
              <a:rPr lang="en-US" b="1" dirty="0" smtClean="0"/>
              <a:t>SQL</a:t>
            </a:r>
            <a:r>
              <a:rPr lang="en-US" dirty="0" smtClean="0"/>
              <a:t> statements are inserted into an entry field for execution (e.g. to dump the database contents to the attacker).</a:t>
            </a:r>
          </a:p>
          <a:p>
            <a:pPr algn="just"/>
            <a:r>
              <a:rPr lang="en-US" dirty="0" smtClean="0"/>
              <a:t>It is the type of attack that takes advantage of improper coding of your web applications that allows hacker to inject SQL commands into say a login form to allow them to gain access to the data held within your database.</a:t>
            </a:r>
            <a:endParaRPr lang="en-US" dirty="0"/>
          </a:p>
        </p:txBody>
      </p:sp>
      <p:pic>
        <p:nvPicPr>
          <p:cNvPr id="87042" name="Picture 2" descr="http://cdn.guru99.com/images/EthicalHacking/Article_13_1.png"/>
          <p:cNvPicPr>
            <a:picLocks noChangeAspect="1" noChangeArrowheads="1"/>
          </p:cNvPicPr>
          <p:nvPr/>
        </p:nvPicPr>
        <p:blipFill>
          <a:blip r:embed="rId2"/>
          <a:srcRect/>
          <a:stretch>
            <a:fillRect/>
          </a:stretch>
        </p:blipFill>
        <p:spPr bwMode="auto">
          <a:xfrm>
            <a:off x="7696200" y="0"/>
            <a:ext cx="2971800" cy="1438276"/>
          </a:xfrm>
          <a:prstGeom prst="rect">
            <a:avLst/>
          </a:prstGeom>
          <a:noFill/>
        </p:spPr>
      </p:pic>
    </p:spTree>
    <p:extLst>
      <p:ext uri="{BB962C8B-B14F-4D97-AF65-F5344CB8AC3E}">
        <p14:creationId xmlns:p14="http://schemas.microsoft.com/office/powerpoint/2010/main" val="22227600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07963"/>
            <a:ext cx="10515600" cy="1325563"/>
          </a:xfrm>
        </p:spPr>
        <p:txBody>
          <a:bodyPr>
            <a:normAutofit/>
          </a:bodyPr>
          <a:lstStyle/>
          <a:p>
            <a:r>
              <a:rPr lang="en-US" b="1" dirty="0" smtClean="0"/>
              <a:t>What an attacker can do?</a:t>
            </a:r>
            <a:r>
              <a:rPr lang="en-US" dirty="0" smtClean="0"/>
              <a:t/>
            </a:r>
            <a:br>
              <a:rPr lang="en-US" dirty="0" smtClean="0"/>
            </a:br>
            <a:endParaRPr lang="en-US" dirty="0"/>
          </a:p>
        </p:txBody>
      </p:sp>
      <p:sp>
        <p:nvSpPr>
          <p:cNvPr id="3" name="Content Placeholder 2"/>
          <p:cNvSpPr>
            <a:spLocks noGrp="1"/>
          </p:cNvSpPr>
          <p:nvPr>
            <p:ph idx="1"/>
          </p:nvPr>
        </p:nvSpPr>
        <p:spPr>
          <a:xfrm>
            <a:off x="1524000" y="1533526"/>
            <a:ext cx="10515600" cy="4351338"/>
          </a:xfrm>
        </p:spPr>
        <p:txBody>
          <a:bodyPr/>
          <a:lstStyle/>
          <a:p>
            <a:pPr>
              <a:buNone/>
            </a:pPr>
            <a:r>
              <a:rPr lang="en-US" dirty="0" smtClean="0"/>
              <a:t>   * </a:t>
            </a:r>
            <a:r>
              <a:rPr lang="en-US" dirty="0" err="1" smtClean="0"/>
              <a:t>ByPassing</a:t>
            </a:r>
            <a:r>
              <a:rPr lang="en-US" dirty="0" smtClean="0"/>
              <a:t> Logins : by obtaining username and passwords</a:t>
            </a:r>
          </a:p>
          <a:p>
            <a:pPr>
              <a:buNone/>
            </a:pPr>
            <a:r>
              <a:rPr lang="en-US" dirty="0" smtClean="0"/>
              <a:t/>
            </a:r>
            <a:br>
              <a:rPr lang="en-US" dirty="0" smtClean="0"/>
            </a:br>
            <a:r>
              <a:rPr lang="en-US" dirty="0" smtClean="0"/>
              <a:t>* Accessing secret data : reconnaissance</a:t>
            </a:r>
          </a:p>
          <a:p>
            <a:pPr>
              <a:buNone/>
            </a:pPr>
            <a:r>
              <a:rPr lang="en-US" dirty="0" smtClean="0"/>
              <a:t/>
            </a:r>
            <a:br>
              <a:rPr lang="en-US" dirty="0" smtClean="0"/>
            </a:br>
            <a:r>
              <a:rPr lang="en-US" dirty="0" smtClean="0"/>
              <a:t>* Adding new data or Modifying contents of website: INSERT/UPDATE</a:t>
            </a:r>
          </a:p>
          <a:p>
            <a:pPr>
              <a:buNone/>
            </a:pPr>
            <a:r>
              <a:rPr lang="en-US" dirty="0" smtClean="0"/>
              <a:t/>
            </a:r>
            <a:br>
              <a:rPr lang="en-US" dirty="0" smtClean="0"/>
            </a:br>
            <a:r>
              <a:rPr lang="en-US" dirty="0" smtClean="0"/>
              <a:t>* Shutting down the My SQL server</a:t>
            </a:r>
          </a:p>
          <a:p>
            <a:pPr>
              <a:buNone/>
            </a:pPr>
            <a:endParaRPr lang="en-US" dirty="0"/>
          </a:p>
        </p:txBody>
      </p:sp>
    </p:spTree>
    <p:extLst>
      <p:ext uri="{BB962C8B-B14F-4D97-AF65-F5344CB8AC3E}">
        <p14:creationId xmlns:p14="http://schemas.microsoft.com/office/powerpoint/2010/main" val="15671546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steps for SQL Injection attack</a:t>
            </a:r>
            <a:endParaRPr lang="en-US" dirty="0"/>
          </a:p>
        </p:txBody>
      </p:sp>
      <p:sp>
        <p:nvSpPr>
          <p:cNvPr id="3" name="Content Placeholder 2"/>
          <p:cNvSpPr>
            <a:spLocks noGrp="1"/>
          </p:cNvSpPr>
          <p:nvPr>
            <p:ph idx="1"/>
          </p:nvPr>
        </p:nvSpPr>
        <p:spPr>
          <a:xfrm>
            <a:off x="1676400" y="1439862"/>
            <a:ext cx="10515600" cy="4351338"/>
          </a:xfrm>
        </p:spPr>
        <p:txBody>
          <a:bodyPr>
            <a:normAutofit fontScale="85000" lnSpcReduction="20000"/>
          </a:bodyPr>
          <a:lstStyle/>
          <a:p>
            <a:r>
              <a:rPr lang="en-US" b="1" dirty="0" smtClean="0"/>
              <a:t>Step 1: Finding Vulnerable Website:</a:t>
            </a:r>
          </a:p>
          <a:p>
            <a:pPr lvl="1"/>
            <a:r>
              <a:rPr lang="en-US" dirty="0" smtClean="0"/>
              <a:t>find the Vulnerable websites(</a:t>
            </a:r>
            <a:r>
              <a:rPr lang="en-US" dirty="0" err="1" smtClean="0"/>
              <a:t>hackable</a:t>
            </a:r>
            <a:r>
              <a:rPr lang="en-US" dirty="0" smtClean="0"/>
              <a:t> websites) using Google Dork list. </a:t>
            </a:r>
          </a:p>
          <a:p>
            <a:pPr lvl="1"/>
            <a:r>
              <a:rPr lang="en-US" dirty="0" err="1" smtClean="0"/>
              <a:t>google</a:t>
            </a:r>
            <a:r>
              <a:rPr lang="en-US" dirty="0" smtClean="0"/>
              <a:t> dork is searching for vulnerable websites using the </a:t>
            </a:r>
            <a:r>
              <a:rPr lang="en-US" dirty="0" err="1" smtClean="0"/>
              <a:t>google</a:t>
            </a:r>
            <a:r>
              <a:rPr lang="en-US" dirty="0" smtClean="0"/>
              <a:t> searching tricks</a:t>
            </a:r>
          </a:p>
          <a:p>
            <a:pPr lvl="1"/>
            <a:r>
              <a:rPr lang="en-US" dirty="0" smtClean="0"/>
              <a:t>use “</a:t>
            </a:r>
            <a:r>
              <a:rPr lang="en-US" dirty="0" err="1" smtClean="0"/>
              <a:t>inurl</a:t>
            </a:r>
            <a:r>
              <a:rPr lang="en-US" dirty="0" smtClean="0"/>
              <a:t>:” command for finding the vulnerable websites.</a:t>
            </a:r>
          </a:p>
          <a:p>
            <a:r>
              <a:rPr lang="en-US" dirty="0" smtClean="0"/>
              <a:t>Some Examples:</a:t>
            </a:r>
            <a:br>
              <a:rPr lang="en-US" dirty="0" smtClean="0"/>
            </a:br>
            <a:r>
              <a:rPr lang="en-US" dirty="0" err="1" smtClean="0"/>
              <a:t>inurl:index.php?id</a:t>
            </a:r>
            <a:r>
              <a:rPr lang="en-US" dirty="0" smtClean="0"/>
              <a:t>=</a:t>
            </a:r>
            <a:br>
              <a:rPr lang="en-US" dirty="0" smtClean="0"/>
            </a:br>
            <a:r>
              <a:rPr lang="en-US" dirty="0" err="1" smtClean="0"/>
              <a:t>inurl:gallery.php?id</a:t>
            </a:r>
            <a:r>
              <a:rPr lang="en-US" dirty="0" smtClean="0"/>
              <a:t>=</a:t>
            </a:r>
            <a:br>
              <a:rPr lang="en-US" dirty="0" smtClean="0"/>
            </a:br>
            <a:r>
              <a:rPr lang="en-US" dirty="0" err="1" smtClean="0"/>
              <a:t>inurl:article.php?id</a:t>
            </a:r>
            <a:r>
              <a:rPr lang="en-US" dirty="0" smtClean="0"/>
              <a:t>=</a:t>
            </a:r>
            <a:br>
              <a:rPr lang="en-US" dirty="0" smtClean="0"/>
            </a:br>
            <a:r>
              <a:rPr lang="en-US" dirty="0" err="1" smtClean="0"/>
              <a:t>inurl:pageid</a:t>
            </a:r>
            <a:r>
              <a:rPr lang="en-US" dirty="0" smtClean="0"/>
              <a:t>=</a:t>
            </a:r>
          </a:p>
          <a:p>
            <a:r>
              <a:rPr lang="en-US" b="1" dirty="0" smtClean="0"/>
              <a:t>How to use?</a:t>
            </a:r>
            <a:r>
              <a:rPr lang="en-US" dirty="0" smtClean="0"/>
              <a:t/>
            </a:r>
            <a:br>
              <a:rPr lang="en-US" dirty="0" smtClean="0"/>
            </a:br>
            <a:r>
              <a:rPr lang="en-US" dirty="0" smtClean="0"/>
              <a:t>copy one of the above command and paste in the </a:t>
            </a:r>
            <a:r>
              <a:rPr lang="en-US" dirty="0" err="1" smtClean="0"/>
              <a:t>google</a:t>
            </a:r>
            <a:r>
              <a:rPr lang="en-US" dirty="0" smtClean="0"/>
              <a:t> search engine box.</a:t>
            </a:r>
            <a:br>
              <a:rPr lang="en-US" dirty="0" smtClean="0"/>
            </a:br>
            <a:r>
              <a:rPr lang="en-US" dirty="0" smtClean="0"/>
              <a:t>Hit enter.</a:t>
            </a:r>
            <a:br>
              <a:rPr lang="en-US" dirty="0" smtClean="0"/>
            </a:br>
            <a:r>
              <a:rPr lang="en-US" dirty="0" smtClean="0"/>
              <a:t>You can get list of web sites.</a:t>
            </a:r>
            <a:br>
              <a:rPr lang="en-US" dirty="0" smtClean="0"/>
            </a:br>
            <a:r>
              <a:rPr lang="en-US" dirty="0" smtClean="0"/>
              <a:t>We have to visit the websites one by one for checking the vulnerability.</a:t>
            </a:r>
          </a:p>
          <a:p>
            <a:endParaRPr lang="en-US" dirty="0"/>
          </a:p>
        </p:txBody>
      </p:sp>
    </p:spTree>
    <p:extLst>
      <p:ext uri="{BB962C8B-B14F-4D97-AF65-F5344CB8AC3E}">
        <p14:creationId xmlns:p14="http://schemas.microsoft.com/office/powerpoint/2010/main" val="14846179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825625"/>
            <a:ext cx="10515600" cy="4351338"/>
          </a:xfrm>
        </p:spPr>
        <p:txBody>
          <a:bodyPr>
            <a:normAutofit/>
          </a:bodyPr>
          <a:lstStyle/>
          <a:p>
            <a:r>
              <a:rPr lang="en-US" dirty="0" smtClean="0"/>
              <a:t> </a:t>
            </a:r>
            <a:r>
              <a:rPr lang="en-US" b="1" dirty="0" smtClean="0"/>
              <a:t>Step 2: Checking the Vulnerability:</a:t>
            </a:r>
          </a:p>
          <a:p>
            <a:pPr lvl="1"/>
            <a:r>
              <a:rPr lang="en-US" dirty="0" smtClean="0"/>
              <a:t>Now we should check the vulnerability of websites. </a:t>
            </a:r>
          </a:p>
          <a:p>
            <a:pPr lvl="1"/>
            <a:r>
              <a:rPr lang="en-US" dirty="0" smtClean="0"/>
              <a:t>In order to check the vulnerability ,add the single quotes(‘) at the end of the </a:t>
            </a:r>
            <a:r>
              <a:rPr lang="en-US" dirty="0" err="1" smtClean="0"/>
              <a:t>url</a:t>
            </a:r>
            <a:r>
              <a:rPr lang="en-US" dirty="0" smtClean="0"/>
              <a:t> and hit enter. </a:t>
            </a:r>
          </a:p>
          <a:p>
            <a:r>
              <a:rPr lang="en-US" dirty="0" smtClean="0"/>
              <a:t>For </a:t>
            </a:r>
            <a:r>
              <a:rPr lang="en-US" dirty="0" err="1" smtClean="0"/>
              <a:t>eg</a:t>
            </a:r>
            <a:r>
              <a:rPr lang="en-US" dirty="0" smtClean="0"/>
              <a:t>:</a:t>
            </a:r>
            <a:br>
              <a:rPr lang="en-US" dirty="0" smtClean="0"/>
            </a:br>
            <a:r>
              <a:rPr lang="en-US" dirty="0" smtClean="0"/>
              <a:t>	http://www.victimsite.com/index.php?id=2' </a:t>
            </a:r>
          </a:p>
          <a:p>
            <a:pPr lvl="1"/>
            <a:r>
              <a:rPr lang="en-US" dirty="0" smtClean="0"/>
              <a:t> If the page remains in same page or showing that page not found or showing some other </a:t>
            </a:r>
            <a:r>
              <a:rPr lang="en-US" dirty="0" err="1" smtClean="0"/>
              <a:t>webpages</a:t>
            </a:r>
            <a:r>
              <a:rPr lang="en-US" dirty="0" smtClean="0"/>
              <a:t>. Then it is not vulnerable. </a:t>
            </a:r>
          </a:p>
          <a:p>
            <a:pPr lvl="1"/>
            <a:r>
              <a:rPr lang="en-US" dirty="0" smtClean="0"/>
              <a:t>If it showing any errors which is related to </a:t>
            </a:r>
            <a:r>
              <a:rPr lang="en-US" dirty="0" err="1" smtClean="0"/>
              <a:t>sql</a:t>
            </a:r>
            <a:r>
              <a:rPr lang="en-US" dirty="0" smtClean="0"/>
              <a:t> query, then it is vulnerable. </a:t>
            </a:r>
            <a:br>
              <a:rPr lang="en-US" dirty="0" smtClean="0"/>
            </a:br>
            <a:endParaRPr lang="en-US" dirty="0" smtClean="0"/>
          </a:p>
        </p:txBody>
      </p:sp>
    </p:spTree>
    <p:extLst>
      <p:ext uri="{BB962C8B-B14F-4D97-AF65-F5344CB8AC3E}">
        <p14:creationId xmlns:p14="http://schemas.microsoft.com/office/powerpoint/2010/main" val="2279591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825625"/>
            <a:ext cx="10515600" cy="4351338"/>
          </a:xfrm>
        </p:spPr>
        <p:txBody>
          <a:bodyPr>
            <a:normAutofit fontScale="85000" lnSpcReduction="20000"/>
          </a:bodyPr>
          <a:lstStyle/>
          <a:p>
            <a:r>
              <a:rPr lang="en-US" b="1" dirty="0" smtClean="0"/>
              <a:t>Step 3: Finding Number of columns:</a:t>
            </a:r>
          </a:p>
          <a:p>
            <a:pPr lvl="1"/>
            <a:r>
              <a:rPr lang="en-US" dirty="0" smtClean="0"/>
              <a:t>Now we have found the website is vulnerable. </a:t>
            </a:r>
          </a:p>
          <a:p>
            <a:pPr lvl="1"/>
            <a:r>
              <a:rPr lang="en-US" dirty="0" smtClean="0"/>
              <a:t>Next step is to find the number of columns in the table. </a:t>
            </a:r>
            <a:br>
              <a:rPr lang="en-US" dirty="0" smtClean="0"/>
            </a:br>
            <a:r>
              <a:rPr lang="en-US" dirty="0" smtClean="0"/>
              <a:t>For that replace the single quotes(‘) with “order by </a:t>
            </a:r>
            <a:r>
              <a:rPr lang="en-US" u="sng" dirty="0" smtClean="0"/>
              <a:t>n</a:t>
            </a:r>
            <a:r>
              <a:rPr lang="en-US" dirty="0" smtClean="0"/>
              <a:t>” statement</a:t>
            </a:r>
          </a:p>
          <a:p>
            <a:pPr lvl="1"/>
            <a:r>
              <a:rPr lang="en-US" dirty="0" smtClean="0"/>
              <a:t>Change the n from 1,2,3,4,,5,6,…n. Until you get the error like “unknown column “.</a:t>
            </a:r>
          </a:p>
          <a:p>
            <a:r>
              <a:rPr lang="en-US" dirty="0" smtClean="0"/>
              <a:t>For </a:t>
            </a:r>
            <a:r>
              <a:rPr lang="en-US" dirty="0" err="1" smtClean="0"/>
              <a:t>eg</a:t>
            </a:r>
            <a:r>
              <a:rPr lang="en-US" dirty="0" smtClean="0"/>
              <a:t>:</a:t>
            </a:r>
            <a:br>
              <a:rPr lang="en-US" dirty="0" smtClean="0"/>
            </a:br>
            <a:endParaRPr lang="en-US" dirty="0" smtClean="0"/>
          </a:p>
          <a:p>
            <a:r>
              <a:rPr lang="en-US" dirty="0" smtClean="0"/>
              <a:t>http://www.victimsite.com/index.php?id=2 order by 1</a:t>
            </a:r>
            <a:br>
              <a:rPr lang="en-US" dirty="0" smtClean="0"/>
            </a:br>
            <a:r>
              <a:rPr lang="en-US" dirty="0" smtClean="0"/>
              <a:t>http://www.victimsite.com/index.php?id=2 order by 2</a:t>
            </a:r>
            <a:br>
              <a:rPr lang="en-US" dirty="0" smtClean="0"/>
            </a:br>
            <a:r>
              <a:rPr lang="en-US" dirty="0" smtClean="0"/>
              <a:t>http://www.victimsite.com/index.php?id=2 order by 3</a:t>
            </a:r>
            <a:br>
              <a:rPr lang="en-US" dirty="0" smtClean="0"/>
            </a:br>
            <a:r>
              <a:rPr lang="en-US" dirty="0" smtClean="0"/>
              <a:t>http://www.victimsite.com/index.php?id=2 order by 4</a:t>
            </a:r>
          </a:p>
          <a:p>
            <a:pPr>
              <a:buNone/>
            </a:pPr>
            <a:r>
              <a:rPr lang="en-US" dirty="0" smtClean="0"/>
              <a:t>	…..</a:t>
            </a:r>
          </a:p>
          <a:p>
            <a:pPr>
              <a:buNone/>
            </a:pPr>
            <a:r>
              <a:rPr lang="en-US" dirty="0" smtClean="0"/>
              <a:t>	http://www.victimsite.com/index.php?id=2 order by 8(error)</a:t>
            </a:r>
          </a:p>
          <a:p>
            <a:pPr>
              <a:buNone/>
            </a:pPr>
            <a:r>
              <a:rPr lang="en-US" dirty="0" smtClean="0"/>
              <a:t>so now x=8 , The number of column is x-1 </a:t>
            </a:r>
            <a:r>
              <a:rPr lang="en-US" dirty="0" err="1" smtClean="0"/>
              <a:t>i.e</a:t>
            </a:r>
            <a:r>
              <a:rPr lang="en-US" dirty="0" smtClean="0"/>
              <a:t>, 7.</a:t>
            </a:r>
            <a:endParaRPr lang="en-US" dirty="0"/>
          </a:p>
        </p:txBody>
      </p:sp>
    </p:spTree>
    <p:extLst>
      <p:ext uri="{BB962C8B-B14F-4D97-AF65-F5344CB8AC3E}">
        <p14:creationId xmlns:p14="http://schemas.microsoft.com/office/powerpoint/2010/main" val="1773893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4488" y="1571625"/>
            <a:ext cx="10448925" cy="4591050"/>
          </a:xfrm>
        </p:spPr>
        <p:txBody>
          <a:bodyPr>
            <a:normAutofit/>
          </a:bodyPr>
          <a:lstStyle/>
          <a:p>
            <a:r>
              <a:rPr lang="en-US" b="1" dirty="0" smtClean="0"/>
              <a:t>Step 4: Displaying the Vulnerable columns:</a:t>
            </a:r>
          </a:p>
          <a:p>
            <a:pPr lvl="1"/>
            <a:r>
              <a:rPr lang="en-US" dirty="0" smtClean="0"/>
              <a:t>Using “union select </a:t>
            </a:r>
            <a:r>
              <a:rPr lang="en-US" u="sng" dirty="0" err="1" smtClean="0"/>
              <a:t>columns_sequence</a:t>
            </a:r>
            <a:r>
              <a:rPr lang="en-US" dirty="0" smtClean="0"/>
              <a:t>” we can find the vulnerable part of the table. Replace the “order by n” with this statement. </a:t>
            </a:r>
          </a:p>
          <a:p>
            <a:pPr lvl="1"/>
            <a:r>
              <a:rPr lang="en-US" dirty="0" smtClean="0"/>
              <a:t>And change the id value to negative</a:t>
            </a:r>
          </a:p>
          <a:p>
            <a:pPr lvl="1"/>
            <a:r>
              <a:rPr lang="en-US" dirty="0" smtClean="0"/>
              <a:t>Replace the </a:t>
            </a:r>
            <a:r>
              <a:rPr lang="en-US" dirty="0" err="1" smtClean="0"/>
              <a:t>columns_sequence</a:t>
            </a:r>
            <a:r>
              <a:rPr lang="en-US" dirty="0" smtClean="0"/>
              <a:t> with the no from 1 to x-1(number of columns) separated with commas(,).</a:t>
            </a:r>
          </a:p>
          <a:p>
            <a:r>
              <a:rPr lang="en-US" dirty="0" smtClean="0"/>
              <a:t>For </a:t>
            </a:r>
            <a:r>
              <a:rPr lang="en-US" dirty="0" err="1" smtClean="0"/>
              <a:t>eg</a:t>
            </a:r>
            <a:r>
              <a:rPr lang="en-US" dirty="0" smtClean="0"/>
              <a:t>:</a:t>
            </a:r>
            <a:br>
              <a:rPr lang="en-US" dirty="0" smtClean="0"/>
            </a:br>
            <a:r>
              <a:rPr lang="en-US" dirty="0" smtClean="0"/>
              <a:t>if the number of columns is 7 ,then the query is as follow:</a:t>
            </a:r>
            <a:br>
              <a:rPr lang="en-US" dirty="0" smtClean="0"/>
            </a:br>
            <a:endParaRPr lang="en-US" dirty="0" smtClean="0"/>
          </a:p>
          <a:p>
            <a:r>
              <a:rPr lang="en-US" dirty="0" smtClean="0"/>
              <a:t>http://www.victimsite.com/index.php?id=-2 union select 1,2,3,4,5,6,7—</a:t>
            </a:r>
          </a:p>
          <a:p>
            <a:endParaRPr lang="en-US" dirty="0"/>
          </a:p>
        </p:txBody>
      </p:sp>
    </p:spTree>
    <p:extLst>
      <p:ext uri="{BB962C8B-B14F-4D97-AF65-F5344CB8AC3E}">
        <p14:creationId xmlns:p14="http://schemas.microsoft.com/office/powerpoint/2010/main" val="19496388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Blind SQL injection</a:t>
            </a:r>
            <a:endParaRPr lang="en-US" dirty="0"/>
          </a:p>
        </p:txBody>
      </p:sp>
      <p:sp>
        <p:nvSpPr>
          <p:cNvPr id="3" name="Content Placeholder 2"/>
          <p:cNvSpPr>
            <a:spLocks noGrp="1"/>
          </p:cNvSpPr>
          <p:nvPr>
            <p:ph idx="1"/>
          </p:nvPr>
        </p:nvSpPr>
        <p:spPr>
          <a:xfrm>
            <a:off x="1676400" y="1654175"/>
            <a:ext cx="10515600" cy="4351338"/>
          </a:xfrm>
        </p:spPr>
        <p:txBody>
          <a:bodyPr>
            <a:normAutofit lnSpcReduction="10000"/>
          </a:bodyPr>
          <a:lstStyle/>
          <a:p>
            <a:pPr algn="just"/>
            <a:r>
              <a:rPr lang="en-US" dirty="0" smtClean="0"/>
              <a:t>Blind SQL Injection is used when a web application is vulnerable to an SQL injection but the results of the injection are not visible to the attacker. </a:t>
            </a:r>
          </a:p>
          <a:p>
            <a:pPr algn="just"/>
            <a:r>
              <a:rPr lang="en-US" dirty="0" smtClean="0"/>
              <a:t>The page with the vulnerability may not be one that displays data but will display differently depending on the results of a logical statement injected into the legitimate SQL statement called for that page. </a:t>
            </a:r>
          </a:p>
          <a:p>
            <a:pPr algn="just"/>
            <a:r>
              <a:rPr lang="en-US" dirty="0" smtClean="0"/>
              <a:t>This type of attack can become time-intensive because a new statement must be crafted for each bit recovered.</a:t>
            </a:r>
          </a:p>
          <a:p>
            <a:pPr algn="just"/>
            <a:r>
              <a:rPr lang="en-US" dirty="0" smtClean="0"/>
              <a:t> There are several tools that can automate these attacks once the location of the vulnerability and the target information has been established</a:t>
            </a:r>
            <a:endParaRPr lang="en-US" dirty="0"/>
          </a:p>
        </p:txBody>
      </p:sp>
    </p:spTree>
    <p:extLst>
      <p:ext uri="{BB962C8B-B14F-4D97-AF65-F5344CB8AC3E}">
        <p14:creationId xmlns:p14="http://schemas.microsoft.com/office/powerpoint/2010/main" val="263750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How to prevent SQL Injection attacks</a:t>
            </a:r>
            <a:endParaRPr lang="en-US" dirty="0"/>
          </a:p>
        </p:txBody>
      </p:sp>
      <p:sp>
        <p:nvSpPr>
          <p:cNvPr id="3" name="Content Placeholder 2"/>
          <p:cNvSpPr>
            <a:spLocks noGrp="1"/>
          </p:cNvSpPr>
          <p:nvPr>
            <p:ph idx="1"/>
          </p:nvPr>
        </p:nvSpPr>
        <p:spPr>
          <a:xfrm>
            <a:off x="1676400" y="1597025"/>
            <a:ext cx="10515600" cy="4351338"/>
          </a:xfrm>
        </p:spPr>
        <p:txBody>
          <a:bodyPr>
            <a:normAutofit fontScale="92500" lnSpcReduction="10000"/>
          </a:bodyPr>
          <a:lstStyle/>
          <a:p>
            <a:r>
              <a:rPr lang="en-US" dirty="0" smtClean="0"/>
              <a:t>Input validation</a:t>
            </a:r>
          </a:p>
          <a:p>
            <a:pPr lvl="1"/>
            <a:r>
              <a:rPr lang="en-US" dirty="0" smtClean="0"/>
              <a:t>Replace all single quotes to two single quotes</a:t>
            </a:r>
          </a:p>
          <a:p>
            <a:pPr lvl="1"/>
            <a:r>
              <a:rPr lang="en-US" dirty="0" smtClean="0"/>
              <a:t>Sanitize the input: clean characters like ;, --, select, etc</a:t>
            </a:r>
          </a:p>
          <a:p>
            <a:pPr lvl="1"/>
            <a:r>
              <a:rPr lang="en-US" dirty="0" smtClean="0"/>
              <a:t>Numeric values should be checked while accepting a query string value</a:t>
            </a:r>
          </a:p>
          <a:p>
            <a:pPr lvl="1"/>
            <a:r>
              <a:rPr lang="en-US" dirty="0" smtClean="0"/>
              <a:t>Keep all text boxes and form fields short</a:t>
            </a:r>
          </a:p>
          <a:p>
            <a:r>
              <a:rPr lang="en-US" dirty="0" smtClean="0"/>
              <a:t>Modify error reports</a:t>
            </a:r>
          </a:p>
          <a:p>
            <a:pPr lvl="1"/>
            <a:r>
              <a:rPr lang="en-US" dirty="0" smtClean="0"/>
              <a:t>SQL errors should not be displayed to the outside world</a:t>
            </a:r>
          </a:p>
          <a:p>
            <a:r>
              <a:rPr lang="en-US" dirty="0" smtClean="0"/>
              <a:t>Other preventions</a:t>
            </a:r>
          </a:p>
          <a:p>
            <a:pPr lvl="1"/>
            <a:r>
              <a:rPr lang="en-US" dirty="0" smtClean="0"/>
              <a:t>Never use default system accounts for SQL server 2000</a:t>
            </a:r>
          </a:p>
          <a:p>
            <a:pPr lvl="1"/>
            <a:r>
              <a:rPr lang="en-US" dirty="0" smtClean="0"/>
              <a:t>Isolate database server and </a:t>
            </a:r>
            <a:r>
              <a:rPr lang="en-US" dirty="0" err="1" smtClean="0"/>
              <a:t>webserver</a:t>
            </a:r>
            <a:r>
              <a:rPr lang="en-US" dirty="0" smtClean="0"/>
              <a:t>: different machines</a:t>
            </a:r>
          </a:p>
          <a:p>
            <a:pPr lvl="1"/>
            <a:r>
              <a:rPr lang="en-US" dirty="0" smtClean="0"/>
              <a:t>Extended stored procedures, user defined functions should be moved to an isolated server.</a:t>
            </a:r>
            <a:endParaRPr lang="en-US" dirty="0"/>
          </a:p>
        </p:txBody>
      </p:sp>
    </p:spTree>
    <p:extLst>
      <p:ext uri="{BB962C8B-B14F-4D97-AF65-F5344CB8AC3E}">
        <p14:creationId xmlns:p14="http://schemas.microsoft.com/office/powerpoint/2010/main" val="42876115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10. Buffer overflow</a:t>
            </a:r>
            <a:endParaRPr lang="en-US" dirty="0"/>
          </a:p>
        </p:txBody>
      </p:sp>
      <p:sp>
        <p:nvSpPr>
          <p:cNvPr id="3" name="Content Placeholder 2"/>
          <p:cNvSpPr>
            <a:spLocks noGrp="1"/>
          </p:cNvSpPr>
          <p:nvPr>
            <p:ph idx="1"/>
          </p:nvPr>
        </p:nvSpPr>
        <p:spPr>
          <a:xfrm>
            <a:off x="1566862" y="1525587"/>
            <a:ext cx="10515600" cy="4351338"/>
          </a:xfrm>
        </p:spPr>
        <p:txBody>
          <a:bodyPr>
            <a:normAutofit/>
          </a:bodyPr>
          <a:lstStyle/>
          <a:p>
            <a:pPr algn="just"/>
            <a:r>
              <a:rPr lang="en-US" dirty="0" smtClean="0"/>
              <a:t>In computer security and programming, a </a:t>
            </a:r>
            <a:r>
              <a:rPr lang="en-US" b="1" dirty="0" smtClean="0"/>
              <a:t>buffer overflow</a:t>
            </a:r>
            <a:r>
              <a:rPr lang="en-US" dirty="0" smtClean="0"/>
              <a:t>, or </a:t>
            </a:r>
            <a:r>
              <a:rPr lang="en-US" b="1" dirty="0" smtClean="0"/>
              <a:t>buffer</a:t>
            </a:r>
            <a:r>
              <a:rPr lang="en-US" dirty="0" smtClean="0"/>
              <a:t> overrun, is an anomaly where a program, while writing data to a </a:t>
            </a:r>
            <a:r>
              <a:rPr lang="en-US" b="1" dirty="0" smtClean="0"/>
              <a:t>buffer</a:t>
            </a:r>
            <a:r>
              <a:rPr lang="en-US" dirty="0" smtClean="0"/>
              <a:t>, overruns the </a:t>
            </a:r>
            <a:r>
              <a:rPr lang="en-US" b="1" dirty="0" smtClean="0"/>
              <a:t>buffer's</a:t>
            </a:r>
            <a:r>
              <a:rPr lang="en-US" dirty="0" smtClean="0"/>
              <a:t> boundary and overwrites adjacent memory. This is a special case of violation of memory safety.</a:t>
            </a:r>
          </a:p>
          <a:p>
            <a:pPr algn="just"/>
            <a:r>
              <a:rPr lang="en-US" dirty="0" smtClean="0"/>
              <a:t>This may result in erratic program behavior</a:t>
            </a:r>
          </a:p>
          <a:p>
            <a:pPr algn="just"/>
            <a:r>
              <a:rPr lang="en-US" dirty="0" smtClean="0"/>
              <a:t>Buffer overflows are not easy to discover and even when one is discovered, it is generally extremely difficult to exploit.</a:t>
            </a:r>
            <a:endParaRPr lang="en-US" dirty="0"/>
          </a:p>
        </p:txBody>
      </p:sp>
    </p:spTree>
    <p:extLst>
      <p:ext uri="{BB962C8B-B14F-4D97-AF65-F5344CB8AC3E}">
        <p14:creationId xmlns:p14="http://schemas.microsoft.com/office/powerpoint/2010/main" val="10154669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1625" y="1485899"/>
            <a:ext cx="10272713" cy="5062537"/>
          </a:xfrm>
        </p:spPr>
        <p:txBody>
          <a:bodyPr>
            <a:normAutofit fontScale="85000" lnSpcReduction="10000"/>
          </a:bodyPr>
          <a:lstStyle/>
          <a:p>
            <a:pPr algn="just"/>
            <a:r>
              <a:rPr lang="en-US" dirty="0" smtClean="0"/>
              <a:t>In a classic buffer overflow exploit, the attacker sends data to a program, which it stores in an undersized stack buffer. The result is that information on the call stack is overwritten, including the function's return pointer. </a:t>
            </a:r>
          </a:p>
          <a:p>
            <a:pPr algn="just"/>
            <a:r>
              <a:rPr lang="en-US" dirty="0" smtClean="0"/>
              <a:t>The data sets the value of the return pointer so that when the function returns, it transfers control to malicious code contained in the attacker's data.</a:t>
            </a:r>
          </a:p>
          <a:p>
            <a:pPr algn="just"/>
            <a:r>
              <a:rPr lang="en-US" dirty="0" smtClean="0"/>
              <a:t>At the code level, buffer overflow vulnerabilities usually involve the violation of a programmer's assumptions. </a:t>
            </a:r>
          </a:p>
          <a:p>
            <a:pPr algn="just"/>
            <a:r>
              <a:rPr lang="en-US" dirty="0" smtClean="0"/>
              <a:t>Many memory manipulation functions in C and C++ do not perform bounds checking and can easily overwrite the allocated bounds of the buffers they operate upon. </a:t>
            </a:r>
          </a:p>
          <a:p>
            <a:pPr algn="just"/>
            <a:r>
              <a:rPr lang="en-US" dirty="0" smtClean="0"/>
              <a:t>Even bounded functions, such as </a:t>
            </a:r>
            <a:r>
              <a:rPr lang="en-US" dirty="0" err="1" smtClean="0"/>
              <a:t>strncpy</a:t>
            </a:r>
            <a:r>
              <a:rPr lang="en-US" dirty="0" smtClean="0"/>
              <a:t>(), can cause vulnerabilities when used incorrectly. </a:t>
            </a:r>
          </a:p>
          <a:p>
            <a:pPr algn="just"/>
            <a:r>
              <a:rPr lang="en-US" dirty="0" smtClean="0"/>
              <a:t>The combination of memory manipulation and mistaken assumptions about the size or makeup of a piece of data is the root cause of most buffer overflows.</a:t>
            </a:r>
            <a:endParaRPr lang="en-US" dirty="0"/>
          </a:p>
        </p:txBody>
      </p:sp>
    </p:spTree>
    <p:extLst>
      <p:ext uri="{BB962C8B-B14F-4D97-AF65-F5344CB8AC3E}">
        <p14:creationId xmlns:p14="http://schemas.microsoft.com/office/powerpoint/2010/main" val="18184747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example</a:t>
            </a:r>
            <a:endParaRPr lang="en-US" dirty="0"/>
          </a:p>
        </p:txBody>
      </p:sp>
      <p:sp>
        <p:nvSpPr>
          <p:cNvPr id="3" name="Content Placeholder 2"/>
          <p:cNvSpPr>
            <a:spLocks noGrp="1"/>
          </p:cNvSpPr>
          <p:nvPr>
            <p:ph idx="1"/>
          </p:nvPr>
        </p:nvSpPr>
        <p:spPr>
          <a:xfrm>
            <a:off x="1676400" y="1600200"/>
            <a:ext cx="10172700" cy="5105400"/>
          </a:xfrm>
        </p:spPr>
        <p:txBody>
          <a:bodyPr>
            <a:normAutofit fontScale="77500" lnSpcReduction="20000"/>
          </a:bodyPr>
          <a:lstStyle/>
          <a:p>
            <a:r>
              <a:rPr lang="en-US" dirty="0" smtClean="0"/>
              <a:t>The code in this example also relies on user input to control its behavior, but it adds a level of indirection with the use of the bounded memory copy function </a:t>
            </a:r>
            <a:r>
              <a:rPr lang="en-US" dirty="0" err="1" smtClean="0"/>
              <a:t>memcpy</a:t>
            </a:r>
            <a:r>
              <a:rPr lang="en-US" dirty="0" smtClean="0"/>
              <a:t>().</a:t>
            </a:r>
          </a:p>
          <a:p>
            <a:r>
              <a:rPr lang="en-US" dirty="0" smtClean="0"/>
              <a:t> This function accepts a destination buffer, a source buffer, and the number of bytes to copy. The input buffer is filled by a bounded call to read(), but the user specifies the number of bytes that </a:t>
            </a:r>
            <a:r>
              <a:rPr lang="en-US" dirty="0" err="1" smtClean="0"/>
              <a:t>memcpy</a:t>
            </a:r>
            <a:r>
              <a:rPr lang="en-US" dirty="0" smtClean="0"/>
              <a:t>() copies. </a:t>
            </a:r>
          </a:p>
          <a:p>
            <a:pPr>
              <a:buNone/>
            </a:pPr>
            <a:r>
              <a:rPr lang="en-US" dirty="0" smtClean="0"/>
              <a:t>		... char </a:t>
            </a:r>
            <a:r>
              <a:rPr lang="en-US" dirty="0" err="1" smtClean="0"/>
              <a:t>buf</a:t>
            </a:r>
            <a:r>
              <a:rPr lang="en-US" dirty="0" smtClean="0"/>
              <a:t>[64], in[MAX_SIZE];</a:t>
            </a:r>
          </a:p>
          <a:p>
            <a:pPr>
              <a:buNone/>
            </a:pPr>
            <a:r>
              <a:rPr lang="en-US" dirty="0" smtClean="0"/>
              <a:t>		 </a:t>
            </a:r>
            <a:r>
              <a:rPr lang="en-US" dirty="0" err="1" smtClean="0"/>
              <a:t>printf</a:t>
            </a:r>
            <a:r>
              <a:rPr lang="en-US" dirty="0" smtClean="0"/>
              <a:t>("Enter buffer contents:\n"); </a:t>
            </a:r>
          </a:p>
          <a:p>
            <a:pPr>
              <a:buNone/>
            </a:pPr>
            <a:r>
              <a:rPr lang="en-US" dirty="0" smtClean="0"/>
              <a:t>		read(0, in, MAX_SIZE-1); </a:t>
            </a:r>
          </a:p>
          <a:p>
            <a:pPr>
              <a:buNone/>
            </a:pPr>
            <a:r>
              <a:rPr lang="en-US" dirty="0" smtClean="0"/>
              <a:t>		</a:t>
            </a:r>
            <a:r>
              <a:rPr lang="en-US" dirty="0" err="1" smtClean="0"/>
              <a:t>printf</a:t>
            </a:r>
            <a:r>
              <a:rPr lang="en-US" dirty="0" smtClean="0"/>
              <a:t>("Bytes to copy:\n"); </a:t>
            </a:r>
          </a:p>
          <a:p>
            <a:pPr>
              <a:buNone/>
            </a:pPr>
            <a:r>
              <a:rPr lang="en-US" dirty="0" smtClean="0"/>
              <a:t>		</a:t>
            </a:r>
            <a:r>
              <a:rPr lang="en-US" dirty="0" err="1" smtClean="0"/>
              <a:t>scanf</a:t>
            </a:r>
            <a:r>
              <a:rPr lang="en-US" dirty="0" smtClean="0"/>
              <a:t>("%d", &amp;bytes); </a:t>
            </a:r>
          </a:p>
          <a:p>
            <a:pPr>
              <a:buNone/>
            </a:pPr>
            <a:r>
              <a:rPr lang="en-US" dirty="0" smtClean="0"/>
              <a:t>		</a:t>
            </a:r>
            <a:r>
              <a:rPr lang="en-US" dirty="0" err="1" smtClean="0"/>
              <a:t>memcpy</a:t>
            </a:r>
            <a:r>
              <a:rPr lang="en-US" dirty="0" smtClean="0"/>
              <a:t>(</a:t>
            </a:r>
            <a:r>
              <a:rPr lang="en-US" dirty="0" err="1" smtClean="0"/>
              <a:t>buf</a:t>
            </a:r>
            <a:r>
              <a:rPr lang="en-US" dirty="0" smtClean="0"/>
              <a:t>, in, bytes); ...</a:t>
            </a:r>
          </a:p>
          <a:p>
            <a:r>
              <a:rPr lang="en-US" b="1" dirty="0" smtClean="0"/>
              <a:t>Note:</a:t>
            </a:r>
            <a:r>
              <a:rPr lang="en-US" dirty="0" smtClean="0"/>
              <a:t> This type of buffer overflow vulnerability (where a program reads data and then trusts a value from the data in subsequent memory operations on the remaining data) has turned up with some frequency in image, audio, and other file processing libraries. </a:t>
            </a:r>
          </a:p>
          <a:p>
            <a:endParaRPr lang="en-US" dirty="0"/>
          </a:p>
        </p:txBody>
      </p:sp>
    </p:spTree>
    <p:extLst>
      <p:ext uri="{BB962C8B-B14F-4D97-AF65-F5344CB8AC3E}">
        <p14:creationId xmlns:p14="http://schemas.microsoft.com/office/powerpoint/2010/main" val="42194973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Types of buffer overflow</a:t>
            </a:r>
            <a:endParaRPr lang="en-US" dirty="0"/>
          </a:p>
        </p:txBody>
      </p:sp>
      <p:sp>
        <p:nvSpPr>
          <p:cNvPr id="3" name="Content Placeholder 2"/>
          <p:cNvSpPr>
            <a:spLocks noGrp="1"/>
          </p:cNvSpPr>
          <p:nvPr>
            <p:ph idx="1"/>
          </p:nvPr>
        </p:nvSpPr>
        <p:spPr>
          <a:xfrm>
            <a:off x="1676400" y="1611312"/>
            <a:ext cx="10515600" cy="4351338"/>
          </a:xfrm>
        </p:spPr>
        <p:txBody>
          <a:bodyPr/>
          <a:lstStyle/>
          <a:p>
            <a:r>
              <a:rPr lang="en-US" dirty="0" smtClean="0"/>
              <a:t>stack-based buffer overflow</a:t>
            </a:r>
          </a:p>
          <a:p>
            <a:r>
              <a:rPr lang="en-US" dirty="0" smtClean="0"/>
              <a:t>Heap buffer overflow</a:t>
            </a:r>
          </a:p>
          <a:p>
            <a:r>
              <a:rPr lang="en-US" dirty="0" smtClean="0"/>
              <a:t>NOPs</a:t>
            </a:r>
            <a:endParaRPr lang="en-US" dirty="0"/>
          </a:p>
        </p:txBody>
      </p:sp>
    </p:spTree>
    <p:extLst>
      <p:ext uri="{BB962C8B-B14F-4D97-AF65-F5344CB8AC3E}">
        <p14:creationId xmlns:p14="http://schemas.microsoft.com/office/powerpoint/2010/main" val="12807691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lstStyle/>
          <a:p>
            <a:r>
              <a:rPr lang="en-US" dirty="0" smtClean="0"/>
              <a:t>stack-based buffer overflow</a:t>
            </a:r>
            <a:endParaRPr lang="en-US" dirty="0"/>
          </a:p>
        </p:txBody>
      </p:sp>
      <p:sp>
        <p:nvSpPr>
          <p:cNvPr id="3" name="Content Placeholder 2"/>
          <p:cNvSpPr>
            <a:spLocks noGrp="1"/>
          </p:cNvSpPr>
          <p:nvPr>
            <p:ph idx="1"/>
          </p:nvPr>
        </p:nvSpPr>
        <p:spPr>
          <a:xfrm>
            <a:off x="1676400" y="1554163"/>
            <a:ext cx="10515600" cy="4351338"/>
          </a:xfrm>
        </p:spPr>
        <p:txBody>
          <a:bodyPr/>
          <a:lstStyle/>
          <a:p>
            <a:r>
              <a:rPr lang="en-US" dirty="0" smtClean="0"/>
              <a:t>A stack-based buffer overflow condition is a condition where the buffer being overwritten is allocated on the stack</a:t>
            </a:r>
          </a:p>
          <a:p>
            <a:r>
              <a:rPr lang="en-US" dirty="0" smtClean="0"/>
              <a:t>Attack may exploit this to manipulate the program by</a:t>
            </a:r>
          </a:p>
          <a:p>
            <a:pPr lvl="1"/>
            <a:r>
              <a:rPr lang="en-US" dirty="0" smtClean="0"/>
              <a:t>Changing the local variable</a:t>
            </a:r>
          </a:p>
          <a:p>
            <a:pPr lvl="1"/>
            <a:r>
              <a:rPr lang="en-US" dirty="0" smtClean="0"/>
              <a:t>Changing the return address</a:t>
            </a:r>
          </a:p>
          <a:p>
            <a:pPr lvl="1"/>
            <a:r>
              <a:rPr lang="en-US" dirty="0" smtClean="0"/>
              <a:t>Changing the function pointer or exception handler</a:t>
            </a:r>
            <a:endParaRPr lang="en-US" dirty="0"/>
          </a:p>
        </p:txBody>
      </p:sp>
    </p:spTree>
    <p:extLst>
      <p:ext uri="{BB962C8B-B14F-4D97-AF65-F5344CB8AC3E}">
        <p14:creationId xmlns:p14="http://schemas.microsoft.com/office/powerpoint/2010/main" val="16988629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heap buffer overflow</a:t>
            </a:r>
            <a:endParaRPr lang="en-US" dirty="0"/>
          </a:p>
        </p:txBody>
      </p:sp>
      <p:sp>
        <p:nvSpPr>
          <p:cNvPr id="3" name="Content Placeholder 2"/>
          <p:cNvSpPr>
            <a:spLocks noGrp="1"/>
          </p:cNvSpPr>
          <p:nvPr>
            <p:ph idx="1"/>
          </p:nvPr>
        </p:nvSpPr>
        <p:spPr>
          <a:xfrm>
            <a:off x="1509713" y="1554162"/>
            <a:ext cx="10515600" cy="4351338"/>
          </a:xfrm>
        </p:spPr>
        <p:txBody>
          <a:bodyPr>
            <a:normAutofit fontScale="92500" lnSpcReduction="10000"/>
          </a:bodyPr>
          <a:lstStyle/>
          <a:p>
            <a:pPr algn="just"/>
            <a:r>
              <a:rPr lang="en-US" dirty="0" smtClean="0"/>
              <a:t>A </a:t>
            </a:r>
            <a:r>
              <a:rPr lang="en-US" b="1" dirty="0" smtClean="0"/>
              <a:t>heap overflow</a:t>
            </a:r>
            <a:r>
              <a:rPr lang="en-US" dirty="0" smtClean="0"/>
              <a:t> is a type of </a:t>
            </a:r>
            <a:r>
              <a:rPr lang="en-US" dirty="0" smtClean="0">
                <a:hlinkClick r:id="rId2" tooltip="Buffer overflow"/>
              </a:rPr>
              <a:t>buffer overflow</a:t>
            </a:r>
            <a:r>
              <a:rPr lang="en-US" dirty="0" smtClean="0"/>
              <a:t> that occurs in the </a:t>
            </a:r>
            <a:r>
              <a:rPr lang="en-US" dirty="0" smtClean="0">
                <a:hlinkClick r:id="rId3" tooltip="Heap (programming)"/>
              </a:rPr>
              <a:t>heap</a:t>
            </a:r>
            <a:r>
              <a:rPr lang="en-US" dirty="0" smtClean="0"/>
              <a:t> data area. </a:t>
            </a:r>
          </a:p>
          <a:p>
            <a:pPr algn="just"/>
            <a:r>
              <a:rPr lang="en-US" dirty="0" smtClean="0"/>
              <a:t>Heap overflows are exploitable in a different manner to that of </a:t>
            </a:r>
            <a:r>
              <a:rPr lang="en-US" dirty="0" smtClean="0">
                <a:hlinkClick r:id="rId4" tooltip="Stack overflow"/>
              </a:rPr>
              <a:t>stack-based overflows</a:t>
            </a:r>
            <a:r>
              <a:rPr lang="en-US" dirty="0" smtClean="0"/>
              <a:t>. </a:t>
            </a:r>
          </a:p>
          <a:p>
            <a:pPr algn="just"/>
            <a:r>
              <a:rPr lang="en-US" dirty="0" smtClean="0"/>
              <a:t>Memory on the heap is dynamically allocated by the application at run-time and typically contains program data. </a:t>
            </a:r>
          </a:p>
          <a:p>
            <a:pPr algn="just"/>
            <a:r>
              <a:rPr lang="en-US" dirty="0" smtClean="0"/>
              <a:t>Exploitation is performed by corrupting this data in specific ways to cause the application to overwrite internal structures such as linked list pointers.</a:t>
            </a:r>
          </a:p>
          <a:p>
            <a:pPr algn="just"/>
            <a:r>
              <a:rPr lang="en-US" dirty="0" smtClean="0"/>
              <a:t>The canonical heap overflow technique overwrites dynamic memory allocation linkage (such as </a:t>
            </a:r>
            <a:r>
              <a:rPr lang="en-US" dirty="0" err="1" smtClean="0"/>
              <a:t>malloc</a:t>
            </a:r>
            <a:r>
              <a:rPr lang="en-US" dirty="0" smtClean="0"/>
              <a:t> meta data) and uses the resulting pointer exchange to overwrite a program function pointer.</a:t>
            </a:r>
            <a:endParaRPr lang="en-US" dirty="0"/>
          </a:p>
        </p:txBody>
      </p:sp>
    </p:spTree>
    <p:extLst>
      <p:ext uri="{BB962C8B-B14F-4D97-AF65-F5344CB8AC3E}">
        <p14:creationId xmlns:p14="http://schemas.microsoft.com/office/powerpoint/2010/main" val="12101040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 NOP-sled </a:t>
            </a:r>
            <a:endParaRPr lang="en-US" dirty="0"/>
          </a:p>
        </p:txBody>
      </p:sp>
      <p:sp>
        <p:nvSpPr>
          <p:cNvPr id="3" name="Content Placeholder 2"/>
          <p:cNvSpPr>
            <a:spLocks noGrp="1"/>
          </p:cNvSpPr>
          <p:nvPr>
            <p:ph idx="1"/>
          </p:nvPr>
        </p:nvSpPr>
        <p:spPr>
          <a:xfrm>
            <a:off x="1524000" y="1554162"/>
            <a:ext cx="10515600" cy="4351338"/>
          </a:xfrm>
        </p:spPr>
        <p:txBody>
          <a:bodyPr>
            <a:normAutofit fontScale="92500" lnSpcReduction="10000"/>
          </a:bodyPr>
          <a:lstStyle/>
          <a:p>
            <a:pPr algn="just"/>
            <a:r>
              <a:rPr lang="en-US" dirty="0" smtClean="0"/>
              <a:t>A NOP-sled is the oldest and most widely known technique for successfully exploiting a stack buffer overflow.</a:t>
            </a:r>
            <a:endParaRPr lang="en-US" baseline="30000" dirty="0" smtClean="0"/>
          </a:p>
          <a:p>
            <a:pPr algn="just"/>
            <a:r>
              <a:rPr lang="en-US" dirty="0" smtClean="0"/>
              <a:t>It solves the problem of finding the exact address of the buffer by effectively increasing the size of the target area. </a:t>
            </a:r>
          </a:p>
          <a:p>
            <a:pPr algn="just"/>
            <a:r>
              <a:rPr lang="en-US" dirty="0" smtClean="0"/>
              <a:t>To do this, much larger sections of the stack are corrupted with the </a:t>
            </a:r>
            <a:r>
              <a:rPr lang="en-US" dirty="0" smtClean="0">
                <a:hlinkClick r:id="rId2" tooltip="No-op"/>
              </a:rPr>
              <a:t>no-op</a:t>
            </a:r>
            <a:r>
              <a:rPr lang="en-US" dirty="0" smtClean="0"/>
              <a:t> machine instruction. At the end of the attacker-supplied data, after the no-op instructions, the attacker places an instruction to perform a relative jump to the top of the buffer where the </a:t>
            </a:r>
            <a:r>
              <a:rPr lang="en-US" dirty="0" smtClean="0">
                <a:hlinkClick r:id="rId3" tooltip="Shellcode"/>
              </a:rPr>
              <a:t>shellcode</a:t>
            </a:r>
            <a:r>
              <a:rPr lang="en-US" dirty="0" smtClean="0"/>
              <a:t> is located. </a:t>
            </a:r>
          </a:p>
          <a:p>
            <a:pPr algn="just"/>
            <a:r>
              <a:rPr lang="en-US" dirty="0" smtClean="0"/>
              <a:t>This collection of no-ops is referred to as the "NOP-sled" because if the return address is overwritten with any address within the no-op region of the buffer it will "slide" down the no-ops until it is redirected to the actual malicious code by the jump at the end. </a:t>
            </a:r>
          </a:p>
          <a:p>
            <a:pPr algn="just"/>
            <a:endParaRPr lang="en-US" dirty="0"/>
          </a:p>
        </p:txBody>
      </p:sp>
    </p:spTree>
    <p:extLst>
      <p:ext uri="{BB962C8B-B14F-4D97-AF65-F5344CB8AC3E}">
        <p14:creationId xmlns:p14="http://schemas.microsoft.com/office/powerpoint/2010/main" val="12796444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How to minimize buffer overflow</a:t>
            </a:r>
            <a:endParaRPr lang="en-US" dirty="0"/>
          </a:p>
        </p:txBody>
      </p:sp>
      <p:sp>
        <p:nvSpPr>
          <p:cNvPr id="3" name="Content Placeholder 2"/>
          <p:cNvSpPr>
            <a:spLocks noGrp="1"/>
          </p:cNvSpPr>
          <p:nvPr>
            <p:ph idx="1"/>
          </p:nvPr>
        </p:nvSpPr>
        <p:spPr>
          <a:xfrm>
            <a:off x="1676400" y="1511300"/>
            <a:ext cx="10515600" cy="4351338"/>
          </a:xfrm>
        </p:spPr>
        <p:txBody>
          <a:bodyPr>
            <a:normAutofit/>
          </a:bodyPr>
          <a:lstStyle/>
          <a:p>
            <a:r>
              <a:rPr lang="en-US" dirty="0" smtClean="0"/>
              <a:t>Assessment of secure code manually</a:t>
            </a:r>
          </a:p>
          <a:p>
            <a:r>
              <a:rPr lang="en-US" dirty="0" smtClean="0"/>
              <a:t>Disable stack execution</a:t>
            </a:r>
          </a:p>
          <a:p>
            <a:r>
              <a:rPr lang="en-US" dirty="0" smtClean="0"/>
              <a:t>Compiler tools</a:t>
            </a:r>
          </a:p>
          <a:p>
            <a:r>
              <a:rPr lang="en-US" dirty="0" smtClean="0"/>
              <a:t>Dynamic run-time checks</a:t>
            </a:r>
          </a:p>
          <a:p>
            <a:r>
              <a:rPr lang="en-US" dirty="0" smtClean="0"/>
              <a:t>Various tools are used to detect/ defend buffer overflow</a:t>
            </a:r>
          </a:p>
          <a:p>
            <a:pPr lvl="1"/>
            <a:r>
              <a:rPr lang="en-US" dirty="0" err="1" smtClean="0"/>
              <a:t>stackGaurd</a:t>
            </a:r>
            <a:endParaRPr lang="en-US" dirty="0" smtClean="0"/>
          </a:p>
          <a:p>
            <a:pPr lvl="1"/>
            <a:r>
              <a:rPr lang="en-US" dirty="0" err="1" smtClean="0"/>
              <a:t>Propolice</a:t>
            </a:r>
            <a:endParaRPr lang="en-US" dirty="0" smtClean="0"/>
          </a:p>
          <a:p>
            <a:pPr lvl="1"/>
            <a:r>
              <a:rPr lang="en-US" dirty="0" err="1" smtClean="0"/>
              <a:t>LibSafe</a:t>
            </a:r>
            <a:endParaRPr lang="en-US" dirty="0"/>
          </a:p>
        </p:txBody>
      </p:sp>
    </p:spTree>
    <p:extLst>
      <p:ext uri="{BB962C8B-B14F-4D97-AF65-F5344CB8AC3E}">
        <p14:creationId xmlns:p14="http://schemas.microsoft.com/office/powerpoint/2010/main" val="1805373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6891</TotalTime>
  <Words>5713</Words>
  <Application>Microsoft Office PowerPoint</Application>
  <PresentationFormat>Widescreen</PresentationFormat>
  <Paragraphs>488</Paragraphs>
  <Slides>94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94</vt:i4>
      </vt:variant>
    </vt:vector>
  </HeadingPairs>
  <TitlesOfParts>
    <vt:vector size="98" baseType="lpstr">
      <vt:lpstr>Arial</vt:lpstr>
      <vt:lpstr>Calibri</vt:lpstr>
      <vt:lpstr>Calibri Light</vt:lpstr>
      <vt:lpstr>Office Theme</vt:lpstr>
      <vt:lpstr>CYBER SECURITY</vt:lpstr>
      <vt:lpstr>Unit-2 Tools and Methods used in Cybercrime</vt:lpstr>
      <vt:lpstr>Syllabus</vt:lpstr>
      <vt:lpstr>Stages of an attack on network</vt:lpstr>
      <vt:lpstr>PowerPoint Presentation</vt:lpstr>
      <vt:lpstr>Various tools used for the attack</vt:lpstr>
      <vt:lpstr>1. Proxy severs and Anonymizers</vt:lpstr>
      <vt:lpstr>Purpose of a Proxy Server</vt:lpstr>
      <vt:lpstr>An Anonymizer</vt:lpstr>
      <vt:lpstr>2. Phishing </vt:lpstr>
      <vt:lpstr>How Phishing works?</vt:lpstr>
      <vt:lpstr>3. Password Cracking</vt:lpstr>
      <vt:lpstr>The purpose of password cracking</vt:lpstr>
      <vt:lpstr>Manual Password Cracking Algorithm</vt:lpstr>
      <vt:lpstr>examples of guessable passwords</vt:lpstr>
      <vt:lpstr>Categories of password cracking attacks:</vt:lpstr>
      <vt:lpstr>Online attacks</vt:lpstr>
      <vt:lpstr>Offline attacks</vt:lpstr>
      <vt:lpstr>Types of Password Attacks</vt:lpstr>
      <vt:lpstr>Weak passwords</vt:lpstr>
      <vt:lpstr>Strong Passwords</vt:lpstr>
      <vt:lpstr>Random passwords</vt:lpstr>
      <vt:lpstr>PowerPoint Presentation</vt:lpstr>
      <vt:lpstr>PowerPoint Presentation</vt:lpstr>
      <vt:lpstr>PowerPoint Presentation</vt:lpstr>
      <vt:lpstr>4. keyloggers</vt:lpstr>
      <vt:lpstr>Software-based keyloggers</vt:lpstr>
      <vt:lpstr>Hardware keyloggers</vt:lpstr>
      <vt:lpstr>Acoustic keylogging</vt:lpstr>
      <vt:lpstr>AntiKeylogger</vt:lpstr>
      <vt:lpstr>Benefits of Antikeyloggers</vt:lpstr>
      <vt:lpstr>Spywares </vt:lpstr>
      <vt:lpstr>5. Virus and Worms</vt:lpstr>
      <vt:lpstr>Some typical actions by viruses</vt:lpstr>
      <vt:lpstr>Virus spread through</vt:lpstr>
      <vt:lpstr>PowerPoint Presentation</vt:lpstr>
      <vt:lpstr>PowerPoint Presentation</vt:lpstr>
      <vt:lpstr>PowerPoint Presentation</vt:lpstr>
      <vt:lpstr>Difference between virus and worm</vt:lpstr>
      <vt:lpstr>Types of viruses</vt:lpstr>
      <vt:lpstr>Boot sector viruses</vt:lpstr>
      <vt:lpstr>Program viruses</vt:lpstr>
      <vt:lpstr>Multipartite viruses</vt:lpstr>
      <vt:lpstr>Stealth viruses</vt:lpstr>
      <vt:lpstr>Polymorphic viruses</vt:lpstr>
      <vt:lpstr>Macroviruses</vt:lpstr>
      <vt:lpstr>Active X and Java control</vt:lpstr>
      <vt:lpstr>6. Trojan horses and Backdoors</vt:lpstr>
      <vt:lpstr>Examples of threats by trojans</vt:lpstr>
      <vt:lpstr>Backdoors </vt:lpstr>
      <vt:lpstr>Functions of backdoors</vt:lpstr>
      <vt:lpstr>Functions of backdoors</vt:lpstr>
      <vt:lpstr>Examples of Backdoor trojans</vt:lpstr>
      <vt:lpstr>How to protect from Trojan Horses and backdoors</vt:lpstr>
      <vt:lpstr>7. Steganography</vt:lpstr>
      <vt:lpstr>PowerPoint Presentation</vt:lpstr>
      <vt:lpstr>digital watermarking</vt:lpstr>
      <vt:lpstr>Difference between steganography and cryptography</vt:lpstr>
      <vt:lpstr>Steganalysis </vt:lpstr>
      <vt:lpstr>8.DoS and DDoS attacks</vt:lpstr>
      <vt:lpstr>Symptoms of DoS attacks</vt:lpstr>
      <vt:lpstr>A DoS attack may do the following</vt:lpstr>
      <vt:lpstr>Classification of DoS</vt:lpstr>
      <vt:lpstr>Bandwidth attacks</vt:lpstr>
      <vt:lpstr>Logic attacks</vt:lpstr>
      <vt:lpstr>Protocol attacks </vt:lpstr>
      <vt:lpstr>Unintentional DoS attack</vt:lpstr>
      <vt:lpstr>Types or levels of DoS attacks</vt:lpstr>
      <vt:lpstr>Flood attack </vt:lpstr>
      <vt:lpstr>ping of death attack</vt:lpstr>
      <vt:lpstr>SYN attack</vt:lpstr>
      <vt:lpstr>SYN attack</vt:lpstr>
      <vt:lpstr>Teardrop attack </vt:lpstr>
      <vt:lpstr>Smurf attack</vt:lpstr>
      <vt:lpstr>Nuke </vt:lpstr>
      <vt:lpstr>DDoS attack</vt:lpstr>
      <vt:lpstr>PowerPoint Presentation</vt:lpstr>
      <vt:lpstr>how to prevent dos/ddos attacks</vt:lpstr>
      <vt:lpstr>9. SQL Injection</vt:lpstr>
      <vt:lpstr>What an attacker can do? </vt:lpstr>
      <vt:lpstr>steps for SQL Injection attack</vt:lpstr>
      <vt:lpstr>PowerPoint Presentation</vt:lpstr>
      <vt:lpstr>PowerPoint Presentation</vt:lpstr>
      <vt:lpstr>PowerPoint Presentation</vt:lpstr>
      <vt:lpstr>Blind SQL injection</vt:lpstr>
      <vt:lpstr>How to prevent SQL Injection attacks</vt:lpstr>
      <vt:lpstr>10. Buffer overflow</vt:lpstr>
      <vt:lpstr>PowerPoint Presentation</vt:lpstr>
      <vt:lpstr>example</vt:lpstr>
      <vt:lpstr>Types of buffer overflow</vt:lpstr>
      <vt:lpstr>stack-based buffer overflow</vt:lpstr>
      <vt:lpstr>heap buffer overflow</vt:lpstr>
      <vt:lpstr> NOP-sled </vt:lpstr>
      <vt:lpstr>How to minimize buffer overflow</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34</cp:revision>
  <dcterms:created xsi:type="dcterms:W3CDTF">2019-12-07T06:31:25Z</dcterms:created>
  <dcterms:modified xsi:type="dcterms:W3CDTF">2020-05-09T01:55:40Z</dcterms:modified>
</cp:coreProperties>
</file>