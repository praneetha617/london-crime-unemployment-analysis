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1" r:id="rId3"/>
    <p:sldId id="258" r:id="rId4"/>
    <p:sldId id="344" r:id="rId5"/>
    <p:sldId id="345" r:id="rId6"/>
    <p:sldId id="346" r:id="rId7"/>
    <p:sldId id="259" r:id="rId8"/>
    <p:sldId id="342" r:id="rId9"/>
    <p:sldId id="260" r:id="rId10"/>
    <p:sldId id="261" r:id="rId11"/>
    <p:sldId id="343"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67" d="100"/>
          <a:sy n="67" d="100"/>
        </p:scale>
        <p:origin x="66"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136570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211917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8473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3997201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2A5B38D-573C-45A8-BB2C-672B58CFFBBE}" type="datetimeFigureOut">
              <a:rPr lang="en-IN" smtClean="0"/>
              <a:t>09-05-2020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100377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2A5B38D-573C-45A8-BB2C-672B58CFFBBE}" type="datetimeFigureOut">
              <a:rPr lang="en-IN" smtClean="0"/>
              <a:t>09-05-2020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2609953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A5B38D-573C-45A8-BB2C-672B58CFFBBE}" type="datetimeFigureOut">
              <a:rPr lang="en-IN" smtClean="0"/>
              <a:t>09-05-2020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203442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088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A5B38D-573C-45A8-BB2C-672B58CFFBBE}" type="datetimeFigureOut">
              <a:rPr lang="en-IN" smtClean="0"/>
              <a:t>09-05-2020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4110449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526628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A5B38D-573C-45A8-BB2C-672B58CFFBBE}" type="datetimeFigureOut">
              <a:rPr lang="en-IN" smtClean="0"/>
              <a:t>09-05-2020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1F02BB-4F70-4365-85D2-291E36C68A9D}" type="slidenum">
              <a:rPr lang="en-IN" smtClean="0"/>
              <a:t>‹#›</a:t>
            </a:fld>
            <a:endParaRPr lang="en-IN"/>
          </a:p>
        </p:txBody>
      </p:sp>
    </p:spTree>
    <p:extLst>
      <p:ext uri="{BB962C8B-B14F-4D97-AF65-F5344CB8AC3E}">
        <p14:creationId xmlns:p14="http://schemas.microsoft.com/office/powerpoint/2010/main" val="549829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A5B38D-573C-45A8-BB2C-672B58CFFBBE}" type="datetimeFigureOut">
              <a:rPr lang="en-IN" smtClean="0"/>
              <a:t>09-05-2020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1F02BB-4F70-4365-85D2-291E36C68A9D}" type="slidenum">
              <a:rPr lang="en-IN" smtClean="0"/>
              <a:t>‹#›</a:t>
            </a:fld>
            <a:endParaRPr lang="en-IN"/>
          </a:p>
        </p:txBody>
      </p:sp>
    </p:spTree>
    <p:extLst>
      <p:ext uri="{BB962C8B-B14F-4D97-AF65-F5344CB8AC3E}">
        <p14:creationId xmlns:p14="http://schemas.microsoft.com/office/powerpoint/2010/main" val="1057934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en.wikipedia.org/wiki/Trojan_horse_(comput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ww.networkworld.com/topics/wireless.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www.wikihow.com/Find-the-IMEI-Number-on-a-Mobile-Phone"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www.wikihow.com/Make-SIM-Card-Earring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wikihow.com/Protect-a-Mobile-Phone-from-Being-Stolen" TargetMode="External"/><Relationship Id="rId2" Type="http://schemas.openxmlformats.org/officeDocument/2006/relationships/hyperlink" Target="http://www.wikihow.com/Find-the-IMEI-Number-on-a-Mobile-Phone"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www.wikihow.com/Protect-a-Mobile-Phone-from-Being-Stolen"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www.wikihow.com/Protect-a-Mobile-Phone-from-Being-Stolen"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www.webopedia.com/TERM/M/malware.html"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mailto:sms.alert@visa.com/VISA" TargetMode="External"/><Relationship Id="rId2" Type="http://schemas.openxmlformats.org/officeDocument/2006/relationships/hyperlink" Target="mailto:sms.alert@visa.com"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www.experian.com/assets/data-breach/brochures/2014-ponemon-2nd-annual-preparedness.pdf"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CYBER SECURITY</a:t>
            </a:r>
            <a:endParaRPr lang="en-IN" dirty="0"/>
          </a:p>
        </p:txBody>
      </p:sp>
      <p:sp>
        <p:nvSpPr>
          <p:cNvPr id="3" name="Subtitle 2"/>
          <p:cNvSpPr>
            <a:spLocks noGrp="1"/>
          </p:cNvSpPr>
          <p:nvPr>
            <p:ph type="subTitle" idx="1"/>
          </p:nvPr>
        </p:nvSpPr>
        <p:spPr>
          <a:xfrm>
            <a:off x="1524000" y="3602038"/>
            <a:ext cx="9144000" cy="1655762"/>
          </a:xfrm>
        </p:spPr>
        <p:txBody>
          <a:bodyPr/>
          <a:lstStyle/>
          <a:p>
            <a:r>
              <a:rPr lang="en-IN" dirty="0" smtClean="0"/>
              <a:t>IV B.TECH II SEM</a:t>
            </a:r>
            <a:endParaRPr lang="en-IN" dirty="0"/>
          </a:p>
        </p:txBody>
      </p:sp>
    </p:spTree>
    <p:extLst>
      <p:ext uri="{BB962C8B-B14F-4D97-AF65-F5344CB8AC3E}">
        <p14:creationId xmlns:p14="http://schemas.microsoft.com/office/powerpoint/2010/main" val="15308340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978" y="26458"/>
            <a:ext cx="10515600" cy="1325563"/>
          </a:xfrm>
        </p:spPr>
        <p:txBody>
          <a:bodyPr/>
          <a:lstStyle/>
          <a:p>
            <a:r>
              <a:rPr lang="en-IN" dirty="0" smtClean="0"/>
              <a:t>Syllabus</a:t>
            </a:r>
            <a:endParaRPr lang="en-IN" dirty="0"/>
          </a:p>
        </p:txBody>
      </p:sp>
      <p:sp>
        <p:nvSpPr>
          <p:cNvPr id="3" name="Content Placeholder 2"/>
          <p:cNvSpPr>
            <a:spLocks noGrp="1"/>
          </p:cNvSpPr>
          <p:nvPr>
            <p:ph idx="1"/>
          </p:nvPr>
        </p:nvSpPr>
        <p:spPr>
          <a:xfrm>
            <a:off x="1571978" y="1791758"/>
            <a:ext cx="10515600" cy="4351338"/>
          </a:xfrm>
        </p:spPr>
        <p:txBody>
          <a:bodyPr/>
          <a:lstStyle/>
          <a:p>
            <a:pPr marL="0" indent="0" algn="just">
              <a:buNone/>
            </a:pPr>
            <a:r>
              <a:rPr lang="en-US" b="1" dirty="0"/>
              <a:t>UNIT 1: </a:t>
            </a:r>
            <a:r>
              <a:rPr lang="en-US" b="1" dirty="0" smtClean="0"/>
              <a:t>Cyber </a:t>
            </a:r>
            <a:r>
              <a:rPr lang="en-US" b="1" dirty="0"/>
              <a:t>crime:</a:t>
            </a:r>
            <a:r>
              <a:rPr lang="en-US" dirty="0"/>
              <a:t> Mobile and Wireless devices-Trend in mobility-authentication service security-Attacks on mobile phones-mobile phone security Implications for organizations- Organizational measurement for Handling mobile-Security policies and measures in mobile computing era. Cases.</a:t>
            </a:r>
            <a:endParaRPr lang="en-IN" dirty="0"/>
          </a:p>
          <a:p>
            <a:pPr algn="just"/>
            <a:endParaRPr lang="en-IN" dirty="0"/>
          </a:p>
        </p:txBody>
      </p:sp>
    </p:spTree>
    <p:extLst>
      <p:ext uri="{BB962C8B-B14F-4D97-AF65-F5344CB8AC3E}">
        <p14:creationId xmlns:p14="http://schemas.microsoft.com/office/powerpoint/2010/main" val="12040514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2612" y="293688"/>
            <a:ext cx="10515600" cy="1325563"/>
          </a:xfrm>
        </p:spPr>
        <p:txBody>
          <a:bodyPr/>
          <a:lstStyle/>
          <a:p>
            <a:r>
              <a:rPr lang="en-US" dirty="0" smtClean="0"/>
              <a:t>Learning Objectives</a:t>
            </a:r>
            <a:endParaRPr lang="en-US" dirty="0"/>
          </a:p>
        </p:txBody>
      </p:sp>
      <p:sp>
        <p:nvSpPr>
          <p:cNvPr id="3" name="Content Placeholder 2"/>
          <p:cNvSpPr>
            <a:spLocks noGrp="1"/>
          </p:cNvSpPr>
          <p:nvPr>
            <p:ph idx="1"/>
          </p:nvPr>
        </p:nvSpPr>
        <p:spPr>
          <a:xfrm>
            <a:off x="1524000" y="1619251"/>
            <a:ext cx="10515600" cy="4351338"/>
          </a:xfrm>
        </p:spPr>
        <p:txBody>
          <a:bodyPr>
            <a:normAutofit fontScale="92500" lnSpcReduction="20000"/>
          </a:bodyPr>
          <a:lstStyle/>
          <a:p>
            <a:pPr algn="just"/>
            <a:r>
              <a:rPr lang="en-US" dirty="0" smtClean="0"/>
              <a:t>Understand the security challenges presented by mobile devices and information systems  access in the cybercrime world.</a:t>
            </a:r>
          </a:p>
          <a:p>
            <a:pPr algn="just"/>
            <a:r>
              <a:rPr lang="en-US" dirty="0" smtClean="0"/>
              <a:t>Understand challenges faced by the mobile workforce and implication under the cybercrime era</a:t>
            </a:r>
          </a:p>
          <a:p>
            <a:pPr algn="just"/>
            <a:r>
              <a:rPr lang="en-US" dirty="0" smtClean="0"/>
              <a:t>Mitigation strategy – credit card users.</a:t>
            </a:r>
          </a:p>
          <a:p>
            <a:pPr algn="just"/>
            <a:r>
              <a:rPr lang="en-US" dirty="0" smtClean="0"/>
              <a:t>Security issues due to use of media players</a:t>
            </a:r>
          </a:p>
          <a:p>
            <a:pPr algn="just"/>
            <a:r>
              <a:rPr lang="en-US" dirty="0" smtClean="0"/>
              <a:t>Organizational security implications with electronic gadgets </a:t>
            </a:r>
          </a:p>
          <a:p>
            <a:pPr algn="just"/>
            <a:r>
              <a:rPr lang="en-US" dirty="0" smtClean="0"/>
              <a:t>Organizational measures for protecting information systems from threats in mobile computing area.</a:t>
            </a:r>
          </a:p>
          <a:p>
            <a:pPr algn="just"/>
            <a:r>
              <a:rPr lang="en-US" dirty="0" err="1" smtClean="0"/>
              <a:t>Smishing</a:t>
            </a:r>
            <a:r>
              <a:rPr lang="en-US" dirty="0" smtClean="0"/>
              <a:t>, </a:t>
            </a:r>
            <a:r>
              <a:rPr lang="en-US" dirty="0" err="1" smtClean="0"/>
              <a:t>vishing</a:t>
            </a:r>
            <a:r>
              <a:rPr lang="en-US" dirty="0" smtClean="0"/>
              <a:t> attacks in mobile world.</a:t>
            </a:r>
          </a:p>
          <a:p>
            <a:pPr algn="just"/>
            <a:r>
              <a:rPr lang="en-US" dirty="0" smtClean="0"/>
              <a:t>Security issues arising due to use of removable media- pen drives</a:t>
            </a:r>
          </a:p>
        </p:txBody>
      </p:sp>
    </p:spTree>
    <p:extLst>
      <p:ext uri="{BB962C8B-B14F-4D97-AF65-F5344CB8AC3E}">
        <p14:creationId xmlns:p14="http://schemas.microsoft.com/office/powerpoint/2010/main" val="20535133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977" y="30692"/>
            <a:ext cx="10515600" cy="1325563"/>
          </a:xfrm>
        </p:spPr>
        <p:txBody>
          <a:bodyPr/>
          <a:lstStyle/>
          <a:p>
            <a:r>
              <a:rPr lang="en-US" altLang="en-US" b="1" dirty="0" smtClean="0">
                <a:sym typeface="Wingdings" panose="05000000000000000000" pitchFamily="2" charset="2"/>
              </a:rPr>
              <a:t>Cyber Security Definition</a:t>
            </a:r>
            <a:endParaRPr lang="en-IN" dirty="0"/>
          </a:p>
        </p:txBody>
      </p:sp>
      <p:sp>
        <p:nvSpPr>
          <p:cNvPr id="3" name="Content Placeholder 2"/>
          <p:cNvSpPr>
            <a:spLocks noGrp="1"/>
          </p:cNvSpPr>
          <p:nvPr>
            <p:ph idx="1"/>
          </p:nvPr>
        </p:nvSpPr>
        <p:spPr>
          <a:xfrm>
            <a:off x="1571977" y="1486959"/>
            <a:ext cx="10515600" cy="4351338"/>
          </a:xfrm>
        </p:spPr>
        <p:txBody>
          <a:bodyPr>
            <a:normAutofit fontScale="70000" lnSpcReduction="20000"/>
          </a:bodyPr>
          <a:lstStyle/>
          <a:p>
            <a:pPr algn="just"/>
            <a:r>
              <a:rPr lang="en-US" b="1" dirty="0"/>
              <a:t>Cyber security</a:t>
            </a:r>
            <a:r>
              <a:rPr lang="en-US" dirty="0"/>
              <a:t> refers to the body of technologies, processes, and practices designed to protect networks, devices, programs, and data from </a:t>
            </a:r>
            <a:r>
              <a:rPr lang="en-US" b="1" dirty="0"/>
              <a:t>attack</a:t>
            </a:r>
            <a:r>
              <a:rPr lang="en-US" dirty="0"/>
              <a:t>, damage, or unauthorized </a:t>
            </a:r>
            <a:r>
              <a:rPr lang="en-US" dirty="0" smtClean="0"/>
              <a:t>access.</a:t>
            </a:r>
          </a:p>
          <a:p>
            <a:pPr marL="0" indent="0" algn="just">
              <a:buNone/>
            </a:pPr>
            <a:r>
              <a:rPr lang="en-US" altLang="en-US" dirty="0" smtClean="0">
                <a:sym typeface="Wingdings" panose="05000000000000000000" pitchFamily="2" charset="2"/>
              </a:rPr>
              <a:t>				or</a:t>
            </a:r>
          </a:p>
          <a:p>
            <a:pPr algn="just"/>
            <a:r>
              <a:rPr lang="en-US" altLang="en-US" dirty="0" smtClean="0">
                <a:sym typeface="Wingdings" panose="05000000000000000000" pitchFamily="2" charset="2"/>
              </a:rPr>
              <a:t>Availability</a:t>
            </a:r>
            <a:r>
              <a:rPr lang="en-US" altLang="en-US" dirty="0">
                <a:sym typeface="Wingdings" panose="05000000000000000000" pitchFamily="2" charset="2"/>
              </a:rPr>
              <a:t>, integrity and secrecy of </a:t>
            </a:r>
            <a:r>
              <a:rPr lang="en-US" altLang="en-US" dirty="0"/>
              <a:t>information systems and networks</a:t>
            </a:r>
            <a:r>
              <a:rPr lang="en-US" altLang="en-US" b="1" dirty="0">
                <a:sym typeface="Wingdings" panose="05000000000000000000" pitchFamily="2" charset="2"/>
              </a:rPr>
              <a:t> </a:t>
            </a:r>
            <a:r>
              <a:rPr lang="en-US" altLang="en-US" dirty="0"/>
              <a:t>in the face of attacks, accidents and failures with the goal of protecting operations and </a:t>
            </a:r>
            <a:r>
              <a:rPr lang="en-US" altLang="en-US" dirty="0" smtClean="0"/>
              <a:t>assets.</a:t>
            </a:r>
          </a:p>
          <a:p>
            <a:pPr marL="0" indent="0" algn="just">
              <a:buNone/>
            </a:pPr>
            <a:r>
              <a:rPr lang="en-US" altLang="en-US" dirty="0" smtClean="0"/>
              <a:t>				or</a:t>
            </a:r>
          </a:p>
          <a:p>
            <a:pPr algn="just"/>
            <a:r>
              <a:rPr lang="en-US" altLang="en-US" dirty="0" smtClean="0"/>
              <a:t>Cyber </a:t>
            </a:r>
            <a:r>
              <a:rPr lang="en-US" altLang="en-US" dirty="0"/>
              <a:t>or Computer Security is the </a:t>
            </a:r>
            <a:r>
              <a:rPr lang="en-US" altLang="en-US" dirty="0" smtClean="0"/>
              <a:t>protection </a:t>
            </a:r>
            <a:r>
              <a:rPr lang="en-US" altLang="en-US" dirty="0"/>
              <a:t>of computing systems and </a:t>
            </a:r>
            <a:r>
              <a:rPr lang="en-US" altLang="en-US" dirty="0" smtClean="0"/>
              <a:t>the </a:t>
            </a:r>
            <a:r>
              <a:rPr lang="en-US" altLang="en-US" dirty="0"/>
              <a:t>data that these systems store or </a:t>
            </a:r>
            <a:r>
              <a:rPr lang="en-US" altLang="en-US" dirty="0" smtClean="0"/>
              <a:t>access.</a:t>
            </a:r>
          </a:p>
          <a:p>
            <a:pPr marL="0" indent="0" algn="just">
              <a:buNone/>
            </a:pPr>
            <a:r>
              <a:rPr lang="en-US" altLang="en-US" b="1" dirty="0" smtClean="0"/>
              <a:t>Why do I need to know about cyber security:</a:t>
            </a:r>
          </a:p>
          <a:p>
            <a:pPr algn="just"/>
            <a:r>
              <a:rPr lang="en-US" altLang="en-US" dirty="0" smtClean="0"/>
              <a:t>It </a:t>
            </a:r>
            <a:r>
              <a:rPr lang="en-US" altLang="en-US" dirty="0"/>
              <a:t>is estimated that 10% of security safeguards are technical in nature.  Firewalls and Intrusion Detection devices are a few devices that can help prevent approximately 10% of security </a:t>
            </a:r>
            <a:r>
              <a:rPr lang="en-US" altLang="en-US" dirty="0" smtClean="0"/>
              <a:t>threats.</a:t>
            </a:r>
          </a:p>
          <a:p>
            <a:pPr algn="just"/>
            <a:r>
              <a:rPr lang="en-US" altLang="en-US" dirty="0" smtClean="0"/>
              <a:t>The </a:t>
            </a:r>
            <a:r>
              <a:rPr lang="en-US" altLang="en-US" dirty="0"/>
              <a:t>additional 90% of safeguards rely on each of us.  By understanding and adhering to these safeguards, we can reduce or eliminate most cyber security </a:t>
            </a:r>
            <a:r>
              <a:rPr lang="en-US" altLang="en-US" dirty="0" smtClean="0"/>
              <a:t>threats.</a:t>
            </a:r>
            <a:endParaRPr lang="en-US" altLang="en-US" sz="3200" dirty="0" smtClean="0"/>
          </a:p>
          <a:p>
            <a:pPr algn="just"/>
            <a:r>
              <a:rPr lang="en-US" altLang="en-US" i="1" dirty="0" smtClean="0"/>
              <a:t>Example</a:t>
            </a:r>
            <a:r>
              <a:rPr lang="en-US" altLang="en-US" i="1" dirty="0"/>
              <a:t>:  Locking your car doors is the 10%.  Making sure nothing of value is left on the seat, windows are rolled up and parking in a safe area account for the remaining 90%. </a:t>
            </a:r>
          </a:p>
          <a:p>
            <a:pPr algn="just"/>
            <a:endParaRPr lang="en-IN" dirty="0"/>
          </a:p>
        </p:txBody>
      </p:sp>
    </p:spTree>
    <p:extLst>
      <p:ext uri="{BB962C8B-B14F-4D97-AF65-F5344CB8AC3E}">
        <p14:creationId xmlns:p14="http://schemas.microsoft.com/office/powerpoint/2010/main" val="23721168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4556" y="30692"/>
            <a:ext cx="10515600" cy="1325563"/>
          </a:xfrm>
        </p:spPr>
        <p:txBody>
          <a:bodyPr/>
          <a:lstStyle/>
          <a:p>
            <a:r>
              <a:rPr lang="en-IN" dirty="0" smtClean="0"/>
              <a:t>Cyber security terminology</a:t>
            </a:r>
            <a:endParaRPr lang="en-IN" dirty="0"/>
          </a:p>
        </p:txBody>
      </p:sp>
      <p:sp>
        <p:nvSpPr>
          <p:cNvPr id="3" name="Content Placeholder 2"/>
          <p:cNvSpPr>
            <a:spLocks noGrp="1"/>
          </p:cNvSpPr>
          <p:nvPr>
            <p:ph idx="1"/>
          </p:nvPr>
        </p:nvSpPr>
        <p:spPr>
          <a:xfrm>
            <a:off x="1594556" y="1543402"/>
            <a:ext cx="10515600" cy="4351338"/>
          </a:xfrm>
        </p:spPr>
        <p:txBody>
          <a:bodyPr>
            <a:normAutofit fontScale="85000" lnSpcReduction="20000"/>
          </a:bodyPr>
          <a:lstStyle/>
          <a:p>
            <a:r>
              <a:rPr lang="en-IN" dirty="0" smtClean="0"/>
              <a:t>Cyber space: a place where you chat, explore, research and play through computer networks.</a:t>
            </a:r>
          </a:p>
          <a:p>
            <a:r>
              <a:rPr lang="en-IN" dirty="0" smtClean="0"/>
              <a:t>Cyber squatting: the act of occupying an abandoned/unoccupied space without any permission.</a:t>
            </a:r>
          </a:p>
          <a:p>
            <a:r>
              <a:rPr lang="en-IN" dirty="0" smtClean="0"/>
              <a:t>Cyber crime: A crime conducted in which either a computer was directly and significantly instrumental.</a:t>
            </a:r>
          </a:p>
          <a:p>
            <a:r>
              <a:rPr lang="en-IN" dirty="0" smtClean="0"/>
              <a:t>Cyber terrorism: any person, group or organization who, with terrorist intent, utilizes accesses or aids in accessing a computer, networks or electronic system by any available means, and thereby knowingly engages in a terrorist act.</a:t>
            </a:r>
          </a:p>
          <a:p>
            <a:r>
              <a:rPr lang="en-IN" dirty="0" smtClean="0"/>
              <a:t>Types of cyber criminals</a:t>
            </a:r>
          </a:p>
          <a:p>
            <a:pPr lvl="1"/>
            <a:r>
              <a:rPr lang="en-IN" dirty="0" smtClean="0"/>
              <a:t>Type -1: hungry for recognition</a:t>
            </a:r>
          </a:p>
          <a:p>
            <a:pPr lvl="1"/>
            <a:r>
              <a:rPr lang="en-IN" dirty="0" smtClean="0"/>
              <a:t>Type-2: not interested in recognition</a:t>
            </a:r>
          </a:p>
          <a:p>
            <a:pPr lvl="1"/>
            <a:r>
              <a:rPr lang="en-IN" dirty="0" smtClean="0"/>
              <a:t>Type-3: the insiders</a:t>
            </a:r>
          </a:p>
          <a:p>
            <a:pPr lvl="1"/>
            <a:endParaRPr lang="en-IN" dirty="0"/>
          </a:p>
        </p:txBody>
      </p:sp>
    </p:spTree>
    <p:extLst>
      <p:ext uri="{BB962C8B-B14F-4D97-AF65-F5344CB8AC3E}">
        <p14:creationId xmlns:p14="http://schemas.microsoft.com/office/powerpoint/2010/main" val="34770271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1977" y="15169"/>
            <a:ext cx="10515600" cy="1325563"/>
          </a:xfrm>
        </p:spPr>
        <p:txBody>
          <a:bodyPr/>
          <a:lstStyle/>
          <a:p>
            <a:r>
              <a:rPr lang="en-IN" dirty="0" smtClean="0"/>
              <a:t>Cybercrimes classification</a:t>
            </a:r>
            <a:endParaRPr lang="en-IN" dirty="0"/>
          </a:p>
        </p:txBody>
      </p:sp>
      <p:sp>
        <p:nvSpPr>
          <p:cNvPr id="3" name="Content Placeholder 2"/>
          <p:cNvSpPr>
            <a:spLocks noGrp="1"/>
          </p:cNvSpPr>
          <p:nvPr>
            <p:ph idx="1"/>
          </p:nvPr>
        </p:nvSpPr>
        <p:spPr>
          <a:xfrm>
            <a:off x="1571977" y="1520825"/>
            <a:ext cx="3406423" cy="4351338"/>
          </a:xfrm>
        </p:spPr>
        <p:txBody>
          <a:bodyPr>
            <a:normAutofit lnSpcReduction="10000"/>
          </a:bodyPr>
          <a:lstStyle/>
          <a:p>
            <a:r>
              <a:rPr lang="en-IN" dirty="0" smtClean="0"/>
              <a:t>Email-spoofing</a:t>
            </a:r>
          </a:p>
          <a:p>
            <a:r>
              <a:rPr lang="en-IN" dirty="0" smtClean="0"/>
              <a:t>Spamming</a:t>
            </a:r>
          </a:p>
          <a:p>
            <a:r>
              <a:rPr lang="en-IN" dirty="0" err="1" smtClean="0"/>
              <a:t>Cyberdefamation</a:t>
            </a:r>
            <a:endParaRPr lang="en-IN" dirty="0" smtClean="0"/>
          </a:p>
          <a:p>
            <a:r>
              <a:rPr lang="en-IN" dirty="0" smtClean="0"/>
              <a:t>Internet time theft</a:t>
            </a:r>
          </a:p>
          <a:p>
            <a:r>
              <a:rPr lang="en-IN" dirty="0" smtClean="0"/>
              <a:t>Salami attack</a:t>
            </a:r>
          </a:p>
          <a:p>
            <a:r>
              <a:rPr lang="en-IN" dirty="0" smtClean="0"/>
              <a:t>Data diddling</a:t>
            </a:r>
          </a:p>
          <a:p>
            <a:r>
              <a:rPr lang="en-IN" dirty="0" smtClean="0"/>
              <a:t>Forgery</a:t>
            </a:r>
          </a:p>
          <a:p>
            <a:r>
              <a:rPr lang="en-IN" dirty="0" smtClean="0"/>
              <a:t>Web Jacking</a:t>
            </a:r>
          </a:p>
          <a:p>
            <a:r>
              <a:rPr lang="en-IN" dirty="0" smtClean="0"/>
              <a:t>Newsgroup spam</a:t>
            </a:r>
          </a:p>
          <a:p>
            <a:endParaRPr lang="en-IN" dirty="0" smtClean="0"/>
          </a:p>
          <a:p>
            <a:endParaRPr lang="en-IN" dirty="0" smtClean="0"/>
          </a:p>
          <a:p>
            <a:endParaRPr lang="en-IN" dirty="0" smtClean="0"/>
          </a:p>
          <a:p>
            <a:endParaRPr lang="en-IN" dirty="0"/>
          </a:p>
        </p:txBody>
      </p:sp>
      <p:sp>
        <p:nvSpPr>
          <p:cNvPr id="4" name="Rectangle 3"/>
          <p:cNvSpPr/>
          <p:nvPr/>
        </p:nvSpPr>
        <p:spPr>
          <a:xfrm>
            <a:off x="5588000" y="1520825"/>
            <a:ext cx="6096000" cy="2893100"/>
          </a:xfrm>
          <a:prstGeom prst="rect">
            <a:avLst/>
          </a:prstGeom>
        </p:spPr>
        <p:txBody>
          <a:bodyPr>
            <a:spAutoFit/>
          </a:bodyPr>
          <a:lstStyle/>
          <a:p>
            <a:pPr marL="285750" indent="-285750">
              <a:buFont typeface="Arial" panose="020B0604020202020204" pitchFamily="34" charset="0"/>
              <a:buChar char="•"/>
            </a:pPr>
            <a:r>
              <a:rPr lang="en-IN" sz="2600" dirty="0"/>
              <a:t>Hacking</a:t>
            </a:r>
          </a:p>
          <a:p>
            <a:pPr marL="285750" indent="-285750">
              <a:buFont typeface="Arial" panose="020B0604020202020204" pitchFamily="34" charset="0"/>
              <a:buChar char="•"/>
            </a:pPr>
            <a:r>
              <a:rPr lang="en-IN" sz="2600" dirty="0"/>
              <a:t>Online frauds</a:t>
            </a:r>
          </a:p>
          <a:p>
            <a:pPr marL="285750" indent="-285750">
              <a:buFont typeface="Arial" panose="020B0604020202020204" pitchFamily="34" charset="0"/>
              <a:buChar char="•"/>
            </a:pPr>
            <a:r>
              <a:rPr lang="en-IN" sz="2600" dirty="0"/>
              <a:t>Software piracy</a:t>
            </a:r>
          </a:p>
          <a:p>
            <a:pPr marL="285750" indent="-285750">
              <a:buFont typeface="Arial" panose="020B0604020202020204" pitchFamily="34" charset="0"/>
              <a:buChar char="•"/>
            </a:pPr>
            <a:r>
              <a:rPr lang="en-IN" sz="2600" dirty="0"/>
              <a:t>Computer sabotage</a:t>
            </a:r>
          </a:p>
          <a:p>
            <a:pPr marL="285750" indent="-285750">
              <a:buFont typeface="Arial" panose="020B0604020202020204" pitchFamily="34" charset="0"/>
              <a:buChar char="•"/>
            </a:pPr>
            <a:r>
              <a:rPr lang="en-IN" sz="2600" dirty="0"/>
              <a:t>E-mail bombing</a:t>
            </a:r>
          </a:p>
          <a:p>
            <a:pPr marL="285750" indent="-285750">
              <a:buFont typeface="Arial" panose="020B0604020202020204" pitchFamily="34" charset="0"/>
              <a:buChar char="•"/>
            </a:pPr>
            <a:r>
              <a:rPr lang="en-IN" sz="2600" dirty="0"/>
              <a:t>Password sniffing</a:t>
            </a:r>
          </a:p>
          <a:p>
            <a:pPr marL="285750" indent="-285750">
              <a:buFont typeface="Arial" panose="020B0604020202020204" pitchFamily="34" charset="0"/>
              <a:buChar char="•"/>
            </a:pPr>
            <a:r>
              <a:rPr lang="en-IN" sz="2600" dirty="0" smtClean="0"/>
              <a:t>Credit </a:t>
            </a:r>
            <a:r>
              <a:rPr lang="en-IN" sz="2600" dirty="0"/>
              <a:t>card frauds</a:t>
            </a:r>
          </a:p>
        </p:txBody>
      </p:sp>
    </p:spTree>
    <p:extLst>
      <p:ext uri="{BB962C8B-B14F-4D97-AF65-F5344CB8AC3E}">
        <p14:creationId xmlns:p14="http://schemas.microsoft.com/office/powerpoint/2010/main" val="37611305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265113"/>
            <a:ext cx="10515600" cy="1325563"/>
          </a:xfrm>
        </p:spPr>
        <p:txBody>
          <a:bodyPr>
            <a:normAutofit/>
          </a:bodyPr>
          <a:lstStyle/>
          <a:p>
            <a:r>
              <a:rPr lang="en-US" sz="3600" dirty="0" smtClean="0"/>
              <a:t>PROLIFERATION OF MOBILE AND WIRELESS DEVICES</a:t>
            </a:r>
            <a:endParaRPr lang="en-US" sz="3600" dirty="0"/>
          </a:p>
        </p:txBody>
      </p:sp>
      <p:sp>
        <p:nvSpPr>
          <p:cNvPr id="4" name="Content Placeholder 2"/>
          <p:cNvSpPr>
            <a:spLocks noGrp="1"/>
          </p:cNvSpPr>
          <p:nvPr>
            <p:ph idx="1"/>
          </p:nvPr>
        </p:nvSpPr>
        <p:spPr>
          <a:xfrm>
            <a:off x="1857375" y="1432631"/>
            <a:ext cx="10515600" cy="4351338"/>
          </a:xfrm>
        </p:spPr>
        <p:txBody>
          <a:bodyPr>
            <a:normAutofit lnSpcReduction="10000"/>
          </a:bodyPr>
          <a:lstStyle/>
          <a:p>
            <a:r>
              <a:rPr lang="en-IN" dirty="0" smtClean="0"/>
              <a:t>Mobile computing is taking a computer and all necessary files and software out into the field. </a:t>
            </a:r>
          </a:p>
          <a:p>
            <a:r>
              <a:rPr lang="en-IN" dirty="0" smtClean="0"/>
              <a:t>Types of mobile computers</a:t>
            </a:r>
          </a:p>
          <a:p>
            <a:pPr lvl="1"/>
            <a:r>
              <a:rPr lang="en-IN" dirty="0" smtClean="0"/>
              <a:t>Portable computer</a:t>
            </a:r>
          </a:p>
          <a:p>
            <a:pPr lvl="1"/>
            <a:r>
              <a:rPr lang="en-IN" dirty="0" smtClean="0"/>
              <a:t>Tablet PC</a:t>
            </a:r>
          </a:p>
          <a:p>
            <a:pPr lvl="1"/>
            <a:r>
              <a:rPr lang="en-IN" dirty="0" smtClean="0"/>
              <a:t>Internet tablet</a:t>
            </a:r>
          </a:p>
          <a:p>
            <a:pPr lvl="1"/>
            <a:r>
              <a:rPr lang="en-IN" dirty="0" smtClean="0"/>
              <a:t>PDA</a:t>
            </a:r>
          </a:p>
          <a:p>
            <a:pPr lvl="1"/>
            <a:r>
              <a:rPr lang="en-IN" dirty="0" err="1" smtClean="0"/>
              <a:t>Ultramobile</a:t>
            </a:r>
            <a:r>
              <a:rPr lang="en-IN" dirty="0" smtClean="0"/>
              <a:t> PC</a:t>
            </a:r>
          </a:p>
          <a:p>
            <a:pPr lvl="1"/>
            <a:r>
              <a:rPr lang="en-IN" dirty="0" smtClean="0"/>
              <a:t>Smartphone</a:t>
            </a:r>
          </a:p>
          <a:p>
            <a:pPr lvl="1"/>
            <a:r>
              <a:rPr lang="en-IN" dirty="0" smtClean="0"/>
              <a:t>Carputer</a:t>
            </a:r>
          </a:p>
          <a:p>
            <a:pPr lvl="1"/>
            <a:r>
              <a:rPr lang="en-IN" dirty="0" smtClean="0"/>
              <a:t>Fly Fusion </a:t>
            </a:r>
            <a:r>
              <a:rPr lang="en-IN" dirty="0" err="1" smtClean="0"/>
              <a:t>Pentop</a:t>
            </a:r>
            <a:r>
              <a:rPr lang="en-IN" dirty="0" smtClean="0"/>
              <a:t> Computer</a:t>
            </a:r>
            <a:endParaRPr lang="en-IN" dirty="0"/>
          </a:p>
        </p:txBody>
      </p:sp>
    </p:spTree>
    <p:extLst>
      <p:ext uri="{BB962C8B-B14F-4D97-AF65-F5344CB8AC3E}">
        <p14:creationId xmlns:p14="http://schemas.microsoft.com/office/powerpoint/2010/main" val="20325116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4555" y="15169"/>
            <a:ext cx="10515600" cy="1325563"/>
          </a:xfrm>
        </p:spPr>
        <p:txBody>
          <a:bodyPr/>
          <a:lstStyle/>
          <a:p>
            <a:endParaRPr lang="en-IN" dirty="0"/>
          </a:p>
        </p:txBody>
      </p:sp>
      <p:sp>
        <p:nvSpPr>
          <p:cNvPr id="6" name="Content Placeholder 5"/>
          <p:cNvSpPr>
            <a:spLocks noGrp="1"/>
          </p:cNvSpPr>
          <p:nvPr>
            <p:ph idx="1"/>
          </p:nvPr>
        </p:nvSpPr>
        <p:spPr>
          <a:xfrm>
            <a:off x="1676400" y="1509713"/>
            <a:ext cx="9848850" cy="4351337"/>
          </a:xfrm>
          <a:prstGeom prst="rect">
            <a:avLst/>
          </a:prstGeom>
        </p:spPr>
        <p:txBody>
          <a:bodyPr>
            <a:spAutoFit/>
          </a:bodyPr>
          <a:lstStyle/>
          <a:p>
            <a:pPr algn="just"/>
            <a:r>
              <a:rPr lang="en-US" dirty="0"/>
              <a:t>You see them everywhere: people hunched over their smartphones or tablets in cafes, airports, supermarkets and even at bus stops, seemingly oblivious to anything or anyone around them. </a:t>
            </a:r>
          </a:p>
          <a:p>
            <a:pPr algn="just"/>
            <a:r>
              <a:rPr lang="en-US" dirty="0"/>
              <a:t>They play games, download email, go shopping or check their bank balances on the go.</a:t>
            </a:r>
          </a:p>
          <a:p>
            <a:pPr algn="just"/>
            <a:r>
              <a:rPr lang="en-US" dirty="0"/>
              <a:t>They might even access corporate networks and pull up a document or two on their mobile gadgets.</a:t>
            </a:r>
          </a:p>
        </p:txBody>
      </p:sp>
    </p:spTree>
    <p:extLst>
      <p:ext uri="{BB962C8B-B14F-4D97-AF65-F5344CB8AC3E}">
        <p14:creationId xmlns:p14="http://schemas.microsoft.com/office/powerpoint/2010/main" val="16854370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lstStyle/>
          <a:p>
            <a:r>
              <a:rPr lang="en-US" dirty="0" smtClean="0"/>
              <a:t>Security?</a:t>
            </a:r>
            <a:endParaRPr lang="en-US" dirty="0"/>
          </a:p>
        </p:txBody>
      </p:sp>
      <p:sp>
        <p:nvSpPr>
          <p:cNvPr id="3" name="Content Placeholder 2"/>
          <p:cNvSpPr>
            <a:spLocks noGrp="1"/>
          </p:cNvSpPr>
          <p:nvPr>
            <p:ph idx="1"/>
          </p:nvPr>
        </p:nvSpPr>
        <p:spPr>
          <a:xfrm>
            <a:off x="1981200" y="1402080"/>
            <a:ext cx="9934575" cy="5227320"/>
          </a:xfrm>
        </p:spPr>
        <p:txBody>
          <a:bodyPr>
            <a:normAutofit fontScale="92500" lnSpcReduction="20000"/>
          </a:bodyPr>
          <a:lstStyle/>
          <a:p>
            <a:pPr algn="just"/>
            <a:r>
              <a:rPr lang="en-US" dirty="0" smtClean="0"/>
              <a:t>But as wireless devices become increasingly ingrained into our daily lives, they open the door to heightened security risks. </a:t>
            </a:r>
          </a:p>
          <a:p>
            <a:pPr algn="just"/>
            <a:r>
              <a:rPr lang="en-US" dirty="0" smtClean="0"/>
              <a:t>Not only do such devices become points of access for cybercriminals, but they also may be more easily breached than personal computers since many consumers do not secure their </a:t>
            </a:r>
            <a:r>
              <a:rPr lang="en-US" dirty="0" err="1" smtClean="0"/>
              <a:t>smartphones</a:t>
            </a:r>
            <a:r>
              <a:rPr lang="en-US" dirty="0" smtClean="0"/>
              <a:t> or tablets with antivirus software or take simple precautions such as enabling password protection.</a:t>
            </a:r>
          </a:p>
          <a:p>
            <a:pPr algn="just"/>
            <a:r>
              <a:rPr lang="en-US" dirty="0" smtClean="0"/>
              <a:t>According to a Harris Interactive survey commissioned by CTIA, a wireless trade group, </a:t>
            </a:r>
          </a:p>
          <a:p>
            <a:pPr lvl="1" algn="just"/>
            <a:r>
              <a:rPr lang="en-US" dirty="0" smtClean="0"/>
              <a:t>less than half of all wireless device owners use passwords or personal identification numbers (PINs) on their handsets</a:t>
            </a:r>
          </a:p>
          <a:p>
            <a:pPr lvl="1" algn="just"/>
            <a:r>
              <a:rPr lang="en-US" dirty="0" smtClean="0"/>
              <a:t>Among those who conduct online banking on mobile devices, only half encrypt the data or use some form of security software.</a:t>
            </a:r>
          </a:p>
          <a:p>
            <a:pPr lvl="1" algn="just"/>
            <a:r>
              <a:rPr lang="en-US" dirty="0" smtClean="0"/>
              <a:t>Moreover, less than one third of users have installed antivirus software on their mobile devices compared to 91% on their laptops. </a:t>
            </a:r>
          </a:p>
          <a:p>
            <a:pPr lvl="1" algn="just"/>
            <a:r>
              <a:rPr lang="en-US" dirty="0" smtClean="0"/>
              <a:t>This may explain why: 45% do not see </a:t>
            </a:r>
            <a:r>
              <a:rPr lang="en-US" dirty="0" err="1" smtClean="0"/>
              <a:t>cybersecurity</a:t>
            </a:r>
            <a:r>
              <a:rPr lang="en-US" dirty="0" smtClean="0"/>
              <a:t> on their mobile devices as a threat in the same way as they see it on their computers</a:t>
            </a:r>
          </a:p>
          <a:p>
            <a:pPr algn="just"/>
            <a:endParaRPr lang="en-US" dirty="0"/>
          </a:p>
        </p:txBody>
      </p:sp>
    </p:spTree>
    <p:extLst>
      <p:ext uri="{BB962C8B-B14F-4D97-AF65-F5344CB8AC3E}">
        <p14:creationId xmlns:p14="http://schemas.microsoft.com/office/powerpoint/2010/main" val="42858321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304800"/>
            <a:ext cx="8229600" cy="1143000"/>
          </a:xfrm>
        </p:spPr>
        <p:txBody>
          <a:bodyPr/>
          <a:lstStyle/>
          <a:p>
            <a:r>
              <a:rPr lang="en-US" dirty="0" smtClean="0"/>
              <a:t>Risk factor</a:t>
            </a:r>
            <a:endParaRPr lang="en-US" dirty="0"/>
          </a:p>
        </p:txBody>
      </p:sp>
      <p:sp>
        <p:nvSpPr>
          <p:cNvPr id="3" name="Content Placeholder 2"/>
          <p:cNvSpPr>
            <a:spLocks noGrp="1"/>
          </p:cNvSpPr>
          <p:nvPr>
            <p:ph idx="1"/>
          </p:nvPr>
        </p:nvSpPr>
        <p:spPr>
          <a:xfrm>
            <a:off x="2057400" y="1524000"/>
            <a:ext cx="10134600" cy="4953000"/>
          </a:xfrm>
        </p:spPr>
        <p:txBody>
          <a:bodyPr>
            <a:normAutofit fontScale="85000" lnSpcReduction="10000"/>
          </a:bodyPr>
          <a:lstStyle/>
          <a:p>
            <a:r>
              <a:rPr lang="en-US" dirty="0" smtClean="0"/>
              <a:t>The dangers, of course, are plenty.</a:t>
            </a:r>
          </a:p>
          <a:p>
            <a:r>
              <a:rPr lang="en-US" dirty="0" smtClean="0"/>
              <a:t>Rogue mobile apps can record the information that users type into a device, such as bank account numbers and PINs </a:t>
            </a:r>
          </a:p>
          <a:p>
            <a:r>
              <a:rPr lang="en-US" dirty="0" smtClean="0"/>
              <a:t>They can read data stored on a handset, such as emails, text messages, attachments, credit card numbers, and log-ins and passwords to corporate networks.</a:t>
            </a:r>
          </a:p>
          <a:p>
            <a:r>
              <a:rPr lang="en-US" dirty="0" smtClean="0"/>
              <a:t> A phone can even secretly record conversations within earshot. </a:t>
            </a:r>
          </a:p>
          <a:p>
            <a:r>
              <a:rPr lang="en-US" dirty="0" smtClean="0"/>
              <a:t>Data that leaves a mobile device wirelessly to connect to a Wi-Fi network could be hijacked in midair in “man in the middle” attacks. </a:t>
            </a:r>
          </a:p>
          <a:p>
            <a:r>
              <a:rPr lang="en-US" dirty="0" smtClean="0"/>
              <a:t>Consumers may not be as concerned about securing a wireless device because they do not view it as a small computer. “They think, ‘Oh, it’s just my phone.</a:t>
            </a:r>
          </a:p>
          <a:p>
            <a:r>
              <a:rPr lang="en-US" dirty="0" smtClean="0"/>
              <a:t>he risks are transferred to the workplace as more people bring their devices to the office for both personal and professional use, a phenomenon known as BYOD or “Bring Your Own Device.”</a:t>
            </a:r>
            <a:endParaRPr lang="en-US" dirty="0"/>
          </a:p>
        </p:txBody>
      </p:sp>
    </p:spTree>
    <p:extLst>
      <p:ext uri="{BB962C8B-B14F-4D97-AF65-F5344CB8AC3E}">
        <p14:creationId xmlns:p14="http://schemas.microsoft.com/office/powerpoint/2010/main" val="40976969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4556" y="37747"/>
            <a:ext cx="10515600" cy="1325563"/>
          </a:xfrm>
        </p:spPr>
        <p:txBody>
          <a:bodyPr/>
          <a:lstStyle/>
          <a:p>
            <a:r>
              <a:rPr lang="en-IN" dirty="0" smtClean="0"/>
              <a:t>TRENDS IN MOBILE SECURITY</a:t>
            </a:r>
            <a:endParaRPr lang="en-IN" dirty="0"/>
          </a:p>
        </p:txBody>
      </p:sp>
      <p:sp>
        <p:nvSpPr>
          <p:cNvPr id="3" name="Content Placeholder 2"/>
          <p:cNvSpPr>
            <a:spLocks noGrp="1"/>
          </p:cNvSpPr>
          <p:nvPr>
            <p:ph idx="1"/>
          </p:nvPr>
        </p:nvSpPr>
        <p:spPr>
          <a:xfrm>
            <a:off x="1594556" y="1645003"/>
            <a:ext cx="10515600" cy="4351338"/>
          </a:xfrm>
        </p:spPr>
        <p:txBody>
          <a:bodyPr/>
          <a:lstStyle/>
          <a:p>
            <a:r>
              <a:rPr lang="en-IN" dirty="0" smtClean="0"/>
              <a:t>Types </a:t>
            </a:r>
            <a:r>
              <a:rPr lang="en-IN" dirty="0"/>
              <a:t>of mobility</a:t>
            </a:r>
          </a:p>
          <a:p>
            <a:pPr lvl="1"/>
            <a:r>
              <a:rPr lang="en-IN" dirty="0"/>
              <a:t>User mobility</a:t>
            </a:r>
          </a:p>
          <a:p>
            <a:pPr lvl="1"/>
            <a:r>
              <a:rPr lang="en-IN" dirty="0"/>
              <a:t>Device mobility</a:t>
            </a:r>
          </a:p>
          <a:p>
            <a:pPr lvl="1"/>
            <a:r>
              <a:rPr lang="en-IN" dirty="0"/>
              <a:t>Session mobility</a:t>
            </a:r>
          </a:p>
          <a:p>
            <a:pPr lvl="1"/>
            <a:r>
              <a:rPr lang="en-IN" dirty="0"/>
              <a:t>Services mobility</a:t>
            </a:r>
          </a:p>
          <a:p>
            <a:r>
              <a:rPr lang="en-IN" dirty="0" smtClean="0"/>
              <a:t>Many surveys on mobility indicates that “handheld devices may look harmless but they can cause serious cybersecurity issues to the organizations.</a:t>
            </a:r>
          </a:p>
          <a:p>
            <a:r>
              <a:rPr lang="en-IN" dirty="0" smtClean="0"/>
              <a:t>3G networks are not entirely built with IP data security.</a:t>
            </a:r>
          </a:p>
          <a:p>
            <a:pPr marL="0" indent="0">
              <a:buNone/>
            </a:pPr>
            <a:r>
              <a:rPr lang="en-IN" dirty="0" smtClean="0"/>
              <a:t> </a:t>
            </a:r>
          </a:p>
          <a:p>
            <a:pPr lvl="1"/>
            <a:endParaRPr lang="en-IN" dirty="0"/>
          </a:p>
          <a:p>
            <a:pPr marL="457200" lvl="1" indent="0">
              <a:buNone/>
            </a:pPr>
            <a:endParaRPr lang="en-IN" dirty="0" smtClean="0"/>
          </a:p>
        </p:txBody>
      </p:sp>
    </p:spTree>
    <p:extLst>
      <p:ext uri="{BB962C8B-B14F-4D97-AF65-F5344CB8AC3E}">
        <p14:creationId xmlns:p14="http://schemas.microsoft.com/office/powerpoint/2010/main" val="15285396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8" y="0"/>
            <a:ext cx="10515600" cy="1325563"/>
          </a:xfrm>
        </p:spPr>
        <p:txBody>
          <a:bodyPr>
            <a:normAutofit/>
          </a:bodyPr>
          <a:lstStyle/>
          <a:p>
            <a:r>
              <a:rPr lang="en-US" dirty="0" smtClean="0"/>
              <a:t>Popular types of attacks against 3G mobile networks:</a:t>
            </a:r>
            <a:endParaRPr lang="en-US" dirty="0"/>
          </a:p>
        </p:txBody>
      </p:sp>
      <p:sp>
        <p:nvSpPr>
          <p:cNvPr id="3" name="Content Placeholder 2"/>
          <p:cNvSpPr>
            <a:spLocks noGrp="1"/>
          </p:cNvSpPr>
          <p:nvPr>
            <p:ph idx="1"/>
          </p:nvPr>
        </p:nvSpPr>
        <p:spPr>
          <a:xfrm>
            <a:off x="1676400" y="1625600"/>
            <a:ext cx="10515600" cy="4351338"/>
          </a:xfrm>
        </p:spPr>
        <p:txBody>
          <a:bodyPr>
            <a:normAutofit fontScale="92500" lnSpcReduction="20000"/>
          </a:bodyPr>
          <a:lstStyle/>
          <a:p>
            <a:r>
              <a:rPr lang="en-US" dirty="0" smtClean="0"/>
              <a:t>Malware, viruses and worms</a:t>
            </a:r>
          </a:p>
          <a:p>
            <a:pPr lvl="1"/>
            <a:r>
              <a:rPr lang="en-US" dirty="0" smtClean="0"/>
              <a:t>Skull Trojans- targets series 60 phones with Symbian OS</a:t>
            </a:r>
          </a:p>
          <a:p>
            <a:pPr lvl="1"/>
            <a:r>
              <a:rPr lang="en-US" dirty="0" err="1" smtClean="0"/>
              <a:t>Cabir</a:t>
            </a:r>
            <a:r>
              <a:rPr lang="en-US" dirty="0" smtClean="0"/>
              <a:t> worm-infects phones running Symbian OS</a:t>
            </a:r>
          </a:p>
          <a:p>
            <a:pPr lvl="1"/>
            <a:r>
              <a:rPr lang="en-US" dirty="0" smtClean="0"/>
              <a:t>Mosquito Trojans-</a:t>
            </a:r>
            <a:r>
              <a:rPr lang="en-US" dirty="0"/>
              <a:t> targets series 60 phones </a:t>
            </a:r>
            <a:r>
              <a:rPr lang="en-US" dirty="0" smtClean="0"/>
              <a:t> and is a cracked version of mosquitos game</a:t>
            </a:r>
          </a:p>
          <a:p>
            <a:pPr lvl="1"/>
            <a:r>
              <a:rPr lang="en-US" dirty="0" err="1" smtClean="0"/>
              <a:t>Brador</a:t>
            </a:r>
            <a:r>
              <a:rPr lang="en-US" dirty="0" smtClean="0"/>
              <a:t> Trojans-it affects windows CE OS by creating svchost.exe file in startup folde</a:t>
            </a:r>
            <a:r>
              <a:rPr lang="en-US" dirty="0"/>
              <a:t>r</a:t>
            </a:r>
            <a:endParaRPr lang="en-US" dirty="0" smtClean="0"/>
          </a:p>
          <a:p>
            <a:pPr lvl="1"/>
            <a:r>
              <a:rPr lang="en-US" dirty="0" err="1" smtClean="0"/>
              <a:t>Lasco</a:t>
            </a:r>
            <a:r>
              <a:rPr lang="en-US" dirty="0" smtClean="0"/>
              <a:t> Trojans-</a:t>
            </a:r>
            <a:r>
              <a:rPr lang="en-US" dirty="0" err="1" smtClean="0"/>
              <a:t>targes</a:t>
            </a:r>
            <a:r>
              <a:rPr lang="en-US" dirty="0" smtClean="0"/>
              <a:t> PDA and mobile phones with Symbian OS and it is based o </a:t>
            </a:r>
            <a:r>
              <a:rPr lang="en-US" dirty="0" err="1" smtClean="0"/>
              <a:t>cabir</a:t>
            </a:r>
            <a:r>
              <a:rPr lang="en-US" dirty="0" smtClean="0"/>
              <a:t> code.</a:t>
            </a:r>
          </a:p>
          <a:p>
            <a:r>
              <a:rPr lang="en-US" dirty="0" smtClean="0"/>
              <a:t>Denial-of-service</a:t>
            </a:r>
          </a:p>
          <a:p>
            <a:r>
              <a:rPr lang="en-US" dirty="0" smtClean="0"/>
              <a:t>Overbilling attack</a:t>
            </a:r>
          </a:p>
          <a:p>
            <a:r>
              <a:rPr lang="en-US" dirty="0" smtClean="0"/>
              <a:t>Spoofed policy development process</a:t>
            </a:r>
          </a:p>
          <a:p>
            <a:r>
              <a:rPr lang="en-US" dirty="0" smtClean="0"/>
              <a:t>Signaling-level attacks</a:t>
            </a:r>
            <a:endParaRPr lang="en-US" dirty="0"/>
          </a:p>
        </p:txBody>
      </p:sp>
    </p:spTree>
    <p:extLst>
      <p:ext uri="{BB962C8B-B14F-4D97-AF65-F5344CB8AC3E}">
        <p14:creationId xmlns:p14="http://schemas.microsoft.com/office/powerpoint/2010/main" val="20432686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336675"/>
            <a:ext cx="10515600" cy="1325563"/>
          </a:xfrm>
        </p:spPr>
        <p:txBody>
          <a:bodyPr>
            <a:normAutofit/>
          </a:bodyPr>
          <a:lstStyle/>
          <a:p>
            <a:pPr lvl="1" algn="l" rtl="0">
              <a:spcBef>
                <a:spcPct val="0"/>
              </a:spcBef>
            </a:pPr>
            <a:r>
              <a:rPr lang="en-US" sz="2800" b="1" dirty="0"/>
              <a:t>Skull </a:t>
            </a:r>
            <a:r>
              <a:rPr lang="en-US" sz="2800" b="1" dirty="0" err="1"/>
              <a:t>trojan</a:t>
            </a:r>
            <a:r>
              <a:rPr lang="en-US" sz="2800" dirty="0"/>
              <a:t/>
            </a:r>
            <a:br>
              <a:rPr lang="en-US" sz="2800" dirty="0"/>
            </a:br>
            <a:endParaRPr lang="en-US" sz="2800" dirty="0"/>
          </a:p>
        </p:txBody>
      </p:sp>
      <p:sp>
        <p:nvSpPr>
          <p:cNvPr id="3" name="Content Placeholder 2"/>
          <p:cNvSpPr>
            <a:spLocks noGrp="1"/>
          </p:cNvSpPr>
          <p:nvPr>
            <p:ph idx="1"/>
          </p:nvPr>
        </p:nvSpPr>
        <p:spPr>
          <a:xfrm>
            <a:off x="1676400" y="2333626"/>
            <a:ext cx="10515600" cy="4351338"/>
          </a:xfrm>
        </p:spPr>
        <p:txBody>
          <a:bodyPr/>
          <a:lstStyle/>
          <a:p>
            <a:r>
              <a:rPr lang="en-US" dirty="0" smtClean="0"/>
              <a:t>A </a:t>
            </a:r>
            <a:r>
              <a:rPr lang="en-US" dirty="0" err="1" smtClean="0"/>
              <a:t>trojan</a:t>
            </a:r>
            <a:r>
              <a:rPr lang="en-US" dirty="0" smtClean="0"/>
              <a:t> horse piece of code that targets mainly </a:t>
            </a:r>
            <a:r>
              <a:rPr lang="en-US" dirty="0" err="1" smtClean="0"/>
              <a:t>Symbian</a:t>
            </a:r>
            <a:r>
              <a:rPr lang="en-US" dirty="0" smtClean="0"/>
              <a:t> OS. Once downloaded, the virus replaces all phone desktop icons with images of a skull. It also renders all phone applications useless. This malware also tends to mass text messages containing malicious links to all contacts accessible through the device in order to spread the damage. This mass texting can also give rise to high expenses.</a:t>
            </a:r>
            <a:endParaRPr lang="en-US" dirty="0"/>
          </a:p>
        </p:txBody>
      </p:sp>
    </p:spTree>
    <p:extLst>
      <p:ext uri="{BB962C8B-B14F-4D97-AF65-F5344CB8AC3E}">
        <p14:creationId xmlns:p14="http://schemas.microsoft.com/office/powerpoint/2010/main" val="37513307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108075"/>
            <a:ext cx="10515600" cy="1325563"/>
          </a:xfrm>
        </p:spPr>
        <p:txBody>
          <a:bodyPr/>
          <a:lstStyle/>
          <a:p>
            <a:r>
              <a:rPr lang="en-US" b="1" dirty="0" err="1" smtClean="0"/>
              <a:t>Cabir</a:t>
            </a:r>
            <a:r>
              <a:rPr lang="en-US" b="1" dirty="0" smtClean="0"/>
              <a:t> worm</a:t>
            </a:r>
            <a:endParaRPr lang="en-US" b="1" dirty="0"/>
          </a:p>
        </p:txBody>
      </p:sp>
      <p:sp>
        <p:nvSpPr>
          <p:cNvPr id="3" name="Content Placeholder 2"/>
          <p:cNvSpPr>
            <a:spLocks noGrp="1"/>
          </p:cNvSpPr>
          <p:nvPr>
            <p:ph idx="1"/>
          </p:nvPr>
        </p:nvSpPr>
        <p:spPr>
          <a:xfrm>
            <a:off x="1676400" y="2125663"/>
            <a:ext cx="10515600" cy="4351338"/>
          </a:xfrm>
        </p:spPr>
        <p:txBody>
          <a:bodyPr/>
          <a:lstStyle/>
          <a:p>
            <a:r>
              <a:rPr lang="en-US" dirty="0" smtClean="0"/>
              <a:t>This malware infects mobile phones running on </a:t>
            </a:r>
            <a:r>
              <a:rPr lang="en-US" dirty="0" err="1" smtClean="0"/>
              <a:t>Symbian</a:t>
            </a:r>
            <a:r>
              <a:rPr lang="en-US" dirty="0" smtClean="0"/>
              <a:t> OS and was first identified in June 2004. When a phone is infected, the message '</a:t>
            </a:r>
            <a:r>
              <a:rPr lang="en-US" dirty="0" err="1" smtClean="0"/>
              <a:t>Caribe</a:t>
            </a:r>
            <a:r>
              <a:rPr lang="en-US" dirty="0" smtClean="0"/>
              <a:t>' is displayed on the phone's screen and is displayed every time the phone is turned on. The worm then attempts to spread to other phones in the area using wireless Bluetooth signals, although the recipient has to confirm this manually.</a:t>
            </a:r>
            <a:endParaRPr lang="en-US" dirty="0"/>
          </a:p>
        </p:txBody>
      </p:sp>
    </p:spTree>
    <p:extLst>
      <p:ext uri="{BB962C8B-B14F-4D97-AF65-F5344CB8AC3E}">
        <p14:creationId xmlns:p14="http://schemas.microsoft.com/office/powerpoint/2010/main" val="34246534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322388"/>
            <a:ext cx="10515600" cy="1325563"/>
          </a:xfrm>
        </p:spPr>
        <p:txBody>
          <a:bodyPr/>
          <a:lstStyle/>
          <a:p>
            <a:r>
              <a:rPr lang="en-US" b="1" dirty="0" smtClean="0"/>
              <a:t>Mosquito worm</a:t>
            </a:r>
            <a:endParaRPr lang="en-US" b="1" dirty="0"/>
          </a:p>
        </p:txBody>
      </p:sp>
      <p:sp>
        <p:nvSpPr>
          <p:cNvPr id="3" name="Content Placeholder 2"/>
          <p:cNvSpPr>
            <a:spLocks noGrp="1"/>
          </p:cNvSpPr>
          <p:nvPr>
            <p:ph idx="1"/>
          </p:nvPr>
        </p:nvSpPr>
        <p:spPr>
          <a:xfrm>
            <a:off x="1676400" y="2354262"/>
            <a:ext cx="10515600" cy="4351338"/>
          </a:xfrm>
        </p:spPr>
        <p:txBody>
          <a:bodyPr/>
          <a:lstStyle/>
          <a:p>
            <a:pPr algn="just"/>
            <a:r>
              <a:rPr lang="en-US" dirty="0" smtClean="0"/>
              <a:t>In June 2004, it was discovered that a company called </a:t>
            </a:r>
            <a:r>
              <a:rPr lang="en-US" dirty="0" err="1" smtClean="0"/>
              <a:t>Ojam</a:t>
            </a:r>
            <a:r>
              <a:rPr lang="en-US" dirty="0" smtClean="0"/>
              <a:t> had engineered an anti-piracy </a:t>
            </a:r>
            <a:r>
              <a:rPr lang="en-US" dirty="0" smtClean="0">
                <a:hlinkClick r:id="rId2" tooltip="Trojan horse (computing)"/>
              </a:rPr>
              <a:t>Trojan</a:t>
            </a:r>
            <a:r>
              <a:rPr lang="en-US" dirty="0" smtClean="0"/>
              <a:t> virus in older versions of its mobile phone game, </a:t>
            </a:r>
            <a:r>
              <a:rPr lang="en-US" i="1" dirty="0" smtClean="0"/>
              <a:t>Mosquito.</a:t>
            </a:r>
            <a:r>
              <a:rPr lang="en-US" dirty="0" smtClean="0"/>
              <a:t> </a:t>
            </a:r>
          </a:p>
          <a:p>
            <a:pPr algn="just"/>
            <a:r>
              <a:rPr lang="en-US" dirty="0" smtClean="0"/>
              <a:t>This virus sent SMS text messages to the company without the user's knowledge. </a:t>
            </a:r>
          </a:p>
          <a:p>
            <a:pPr algn="just"/>
            <a:r>
              <a:rPr lang="en-US" dirty="0" smtClean="0"/>
              <a:t>Although this malware was removed from the game's more recent versions, it still exists in older, unlicensed versions, and these may still be distributed on file-sharing networks and free software download web sites.</a:t>
            </a:r>
            <a:endParaRPr lang="en-US" dirty="0"/>
          </a:p>
        </p:txBody>
      </p:sp>
    </p:spTree>
    <p:extLst>
      <p:ext uri="{BB962C8B-B14F-4D97-AF65-F5344CB8AC3E}">
        <p14:creationId xmlns:p14="http://schemas.microsoft.com/office/powerpoint/2010/main" val="36242129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1143000"/>
          </a:xfrm>
        </p:spPr>
        <p:txBody>
          <a:bodyPr/>
          <a:lstStyle/>
          <a:p>
            <a:r>
              <a:rPr lang="en-US" dirty="0" smtClean="0"/>
              <a:t>list of mobile vulnerabilities </a:t>
            </a:r>
            <a:endParaRPr lang="en-US" dirty="0"/>
          </a:p>
        </p:txBody>
      </p:sp>
      <p:sp>
        <p:nvSpPr>
          <p:cNvPr id="3" name="Content Placeholder 2"/>
          <p:cNvSpPr>
            <a:spLocks noGrp="1"/>
          </p:cNvSpPr>
          <p:nvPr>
            <p:ph idx="1"/>
          </p:nvPr>
        </p:nvSpPr>
        <p:spPr>
          <a:xfrm>
            <a:off x="1981199" y="1600200"/>
            <a:ext cx="9877425" cy="4724400"/>
          </a:xfrm>
        </p:spPr>
        <p:txBody>
          <a:bodyPr>
            <a:normAutofit fontScale="85000" lnSpcReduction="20000"/>
          </a:bodyPr>
          <a:lstStyle/>
          <a:p>
            <a:pPr algn="just"/>
            <a:r>
              <a:rPr lang="en-US" dirty="0" smtClean="0"/>
              <a:t>Mobile devices often do not have passwords enabled. </a:t>
            </a:r>
          </a:p>
          <a:p>
            <a:pPr algn="just"/>
            <a:r>
              <a:rPr lang="en-US" dirty="0" smtClean="0"/>
              <a:t>Two-factor authentication is not always used when conducting sensitive transactions on mobile devices. </a:t>
            </a:r>
          </a:p>
          <a:p>
            <a:pPr algn="just"/>
            <a:r>
              <a:rPr lang="en-US" dirty="0" smtClean="0">
                <a:hlinkClick r:id="rId2"/>
              </a:rPr>
              <a:t>Wireless</a:t>
            </a:r>
            <a:r>
              <a:rPr lang="en-US" dirty="0" smtClean="0"/>
              <a:t> transmissions are not always encrypted</a:t>
            </a:r>
          </a:p>
          <a:p>
            <a:pPr algn="just"/>
            <a:r>
              <a:rPr lang="en-US" dirty="0" smtClean="0"/>
              <a:t>Mobile devices may contain malware.</a:t>
            </a:r>
          </a:p>
          <a:p>
            <a:pPr algn="just"/>
            <a:r>
              <a:rPr lang="en-US" dirty="0" smtClean="0"/>
              <a:t>Mobile devices often do not use security software.</a:t>
            </a:r>
          </a:p>
          <a:p>
            <a:pPr algn="just"/>
            <a:r>
              <a:rPr lang="en-US" dirty="0" smtClean="0"/>
              <a:t>Operating systems may be out-of-date. </a:t>
            </a:r>
          </a:p>
          <a:p>
            <a:pPr algn="just"/>
            <a:r>
              <a:rPr lang="en-US" dirty="0" smtClean="0"/>
              <a:t>Software on mobile devices may be out-of-date</a:t>
            </a:r>
          </a:p>
          <a:p>
            <a:pPr algn="just"/>
            <a:r>
              <a:rPr lang="en-US" dirty="0" smtClean="0"/>
              <a:t>Mobile devices often do not limit Internet connections.</a:t>
            </a:r>
          </a:p>
          <a:p>
            <a:pPr algn="just"/>
            <a:r>
              <a:rPr lang="en-US" dirty="0" smtClean="0"/>
              <a:t>Mobile devices may have unauthorized modifications.</a:t>
            </a:r>
          </a:p>
          <a:p>
            <a:pPr algn="just"/>
            <a:r>
              <a:rPr lang="en-US" dirty="0" smtClean="0"/>
              <a:t>an unsecured </a:t>
            </a:r>
            <a:r>
              <a:rPr lang="en-US" dirty="0" err="1" smtClean="0"/>
              <a:t>WiFi</a:t>
            </a:r>
            <a:r>
              <a:rPr lang="en-US" dirty="0" smtClean="0"/>
              <a:t> network could let an attacker access personal information from a device, putting users at risk for data and identity theft. </a:t>
            </a:r>
            <a:endParaRPr lang="en-US" dirty="0"/>
          </a:p>
        </p:txBody>
      </p:sp>
    </p:spTree>
    <p:extLst>
      <p:ext uri="{BB962C8B-B14F-4D97-AF65-F5344CB8AC3E}">
        <p14:creationId xmlns:p14="http://schemas.microsoft.com/office/powerpoint/2010/main" val="7396097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863" y="150813"/>
            <a:ext cx="10515600" cy="1325563"/>
          </a:xfrm>
        </p:spPr>
        <p:txBody>
          <a:bodyPr/>
          <a:lstStyle/>
          <a:p>
            <a:r>
              <a:rPr lang="en-US" dirty="0" smtClean="0"/>
              <a:t>CREDIT CARD FRAUDS</a:t>
            </a:r>
            <a:endParaRPr lang="en-US" dirty="0"/>
          </a:p>
        </p:txBody>
      </p:sp>
      <p:sp>
        <p:nvSpPr>
          <p:cNvPr id="3" name="Content Placeholder 2"/>
          <p:cNvSpPr>
            <a:spLocks noGrp="1"/>
          </p:cNvSpPr>
          <p:nvPr>
            <p:ph idx="1"/>
          </p:nvPr>
        </p:nvSpPr>
        <p:spPr>
          <a:xfrm>
            <a:off x="1566863" y="1725613"/>
            <a:ext cx="10515600" cy="4351338"/>
          </a:xfrm>
        </p:spPr>
        <p:txBody>
          <a:bodyPr>
            <a:normAutofit lnSpcReduction="10000"/>
          </a:bodyPr>
          <a:lstStyle/>
          <a:p>
            <a:r>
              <a:rPr lang="en-US" dirty="0" smtClean="0"/>
              <a:t>Mobile credit card transactions are very common </a:t>
            </a:r>
          </a:p>
          <a:p>
            <a:r>
              <a:rPr lang="en-US" dirty="0" smtClean="0"/>
              <a:t>Types and techniques of credit card frauds:</a:t>
            </a:r>
          </a:p>
          <a:p>
            <a:pPr lvl="1"/>
            <a:r>
              <a:rPr lang="en-US" dirty="0"/>
              <a:t>Traditional techniques</a:t>
            </a:r>
          </a:p>
          <a:p>
            <a:pPr lvl="1"/>
            <a:r>
              <a:rPr lang="en-US" dirty="0"/>
              <a:t>Modern techniques</a:t>
            </a:r>
          </a:p>
          <a:p>
            <a:endParaRPr lang="en-US" dirty="0" smtClean="0"/>
          </a:p>
          <a:p>
            <a:r>
              <a:rPr lang="en-US" dirty="0" smtClean="0"/>
              <a:t>Traditional techniques- it is a paper based fraud or application based fraud</a:t>
            </a:r>
          </a:p>
          <a:p>
            <a:pPr lvl="1"/>
            <a:r>
              <a:rPr lang="en-US" dirty="0" smtClean="0"/>
              <a:t>Application fraud</a:t>
            </a:r>
            <a:r>
              <a:rPr lang="en-US" dirty="0"/>
              <a:t> </a:t>
            </a:r>
            <a:r>
              <a:rPr lang="en-US" dirty="0" smtClean="0"/>
              <a:t>can be divided into two:</a:t>
            </a:r>
          </a:p>
          <a:p>
            <a:pPr lvl="2"/>
            <a:r>
              <a:rPr lang="en-US" b="1" dirty="0" smtClean="0"/>
              <a:t>ID theft: </a:t>
            </a:r>
            <a:r>
              <a:rPr lang="en-US" dirty="0" smtClean="0"/>
              <a:t>Where an individual pretended to be someone else</a:t>
            </a:r>
          </a:p>
          <a:p>
            <a:pPr lvl="2"/>
            <a:r>
              <a:rPr lang="en-US" b="1" dirty="0" smtClean="0"/>
              <a:t>Financial Fraud: </a:t>
            </a:r>
            <a:r>
              <a:rPr lang="en-US" dirty="0" smtClean="0"/>
              <a:t>Where an individual gives false information about his or her financial status to acquire credit.</a:t>
            </a:r>
          </a:p>
          <a:p>
            <a:endParaRPr lang="en-US" dirty="0"/>
          </a:p>
        </p:txBody>
      </p:sp>
    </p:spTree>
    <p:extLst>
      <p:ext uri="{BB962C8B-B14F-4D97-AF65-F5344CB8AC3E}">
        <p14:creationId xmlns:p14="http://schemas.microsoft.com/office/powerpoint/2010/main" val="34070117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8" y="365125"/>
            <a:ext cx="10515600" cy="1325563"/>
          </a:xfrm>
        </p:spPr>
        <p:txBody>
          <a:bodyPr/>
          <a:lstStyle/>
          <a:p>
            <a:r>
              <a:rPr lang="en-US" dirty="0" smtClean="0"/>
              <a:t>Credit Card Fraud</a:t>
            </a:r>
            <a:endParaRPr lang="en-US" dirty="0"/>
          </a:p>
        </p:txBody>
      </p:sp>
      <p:sp>
        <p:nvSpPr>
          <p:cNvPr id="3" name="Content Placeholder 2"/>
          <p:cNvSpPr>
            <a:spLocks noGrp="1"/>
          </p:cNvSpPr>
          <p:nvPr>
            <p:ph idx="1"/>
          </p:nvPr>
        </p:nvSpPr>
        <p:spPr>
          <a:xfrm>
            <a:off x="1538288" y="1690688"/>
            <a:ext cx="10515600" cy="4351338"/>
          </a:xfrm>
        </p:spPr>
        <p:txBody>
          <a:bodyPr/>
          <a:lstStyle/>
          <a:p>
            <a:r>
              <a:rPr lang="en-US" dirty="0" smtClean="0"/>
              <a:t>Modern technique- enable criminals to produce fake and doctored cards. They use skimming or site cloning to commit fraud.</a:t>
            </a:r>
          </a:p>
          <a:p>
            <a:pPr lvl="1"/>
            <a:r>
              <a:rPr lang="en-US" dirty="0" smtClean="0"/>
              <a:t>Triangulation: The criminals gets the details of credit card with fake web sites and use them.</a:t>
            </a:r>
          </a:p>
          <a:p>
            <a:pPr lvl="1"/>
            <a:endParaRPr lang="en-US" dirty="0" smtClean="0"/>
          </a:p>
          <a:p>
            <a:pPr lvl="1"/>
            <a:r>
              <a:rPr lang="en-US" dirty="0" smtClean="0"/>
              <a:t>Credit Card generators: Computer emulator software that creates a valid credit card numbers and expiry dates.</a:t>
            </a:r>
          </a:p>
          <a:p>
            <a:endParaRPr lang="en-US" dirty="0"/>
          </a:p>
        </p:txBody>
      </p:sp>
    </p:spTree>
    <p:extLst>
      <p:ext uri="{BB962C8B-B14F-4D97-AF65-F5344CB8AC3E}">
        <p14:creationId xmlns:p14="http://schemas.microsoft.com/office/powerpoint/2010/main" val="41907107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862" y="107950"/>
            <a:ext cx="10515600" cy="1325563"/>
          </a:xfrm>
        </p:spPr>
        <p:txBody>
          <a:bodyPr>
            <a:normAutofit/>
          </a:bodyPr>
          <a:lstStyle/>
          <a:p>
            <a:r>
              <a:rPr lang="en-US" sz="3600" dirty="0" smtClean="0"/>
              <a:t>SECURITY CHALLENGES POSED BY MOBILE DEVICES</a:t>
            </a:r>
            <a:endParaRPr lang="en-US" sz="3600" dirty="0"/>
          </a:p>
        </p:txBody>
      </p:sp>
      <p:sp>
        <p:nvSpPr>
          <p:cNvPr id="3" name="Content Placeholder 2"/>
          <p:cNvSpPr>
            <a:spLocks noGrp="1"/>
          </p:cNvSpPr>
          <p:nvPr>
            <p:ph idx="1"/>
          </p:nvPr>
        </p:nvSpPr>
        <p:spPr>
          <a:xfrm>
            <a:off x="1566862" y="1754188"/>
            <a:ext cx="10515600" cy="4351338"/>
          </a:xfrm>
        </p:spPr>
        <p:txBody>
          <a:bodyPr/>
          <a:lstStyle/>
          <a:p>
            <a:r>
              <a:rPr lang="en-US" dirty="0" smtClean="0"/>
              <a:t>Two challenges</a:t>
            </a:r>
          </a:p>
          <a:p>
            <a:r>
              <a:rPr lang="en-US" dirty="0" smtClean="0"/>
              <a:t>One at the device level: </a:t>
            </a:r>
            <a:r>
              <a:rPr lang="en-US" b="1" dirty="0" err="1" smtClean="0"/>
              <a:t>microchallenges</a:t>
            </a:r>
            <a:endParaRPr lang="en-US" b="1" dirty="0" smtClean="0"/>
          </a:p>
          <a:p>
            <a:endParaRPr lang="en-US" b="1" dirty="0" smtClean="0"/>
          </a:p>
          <a:p>
            <a:r>
              <a:rPr lang="en-US" dirty="0" smtClean="0"/>
              <a:t>Another at the organization level: </a:t>
            </a:r>
            <a:r>
              <a:rPr lang="en-US" b="1" dirty="0" err="1" smtClean="0"/>
              <a:t>macrochallenges</a:t>
            </a:r>
            <a:endParaRPr lang="en-US" b="1" dirty="0"/>
          </a:p>
        </p:txBody>
      </p:sp>
    </p:spTree>
    <p:extLst>
      <p:ext uri="{BB962C8B-B14F-4D97-AF65-F5344CB8AC3E}">
        <p14:creationId xmlns:p14="http://schemas.microsoft.com/office/powerpoint/2010/main" val="36302736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107950"/>
            <a:ext cx="10515600" cy="1325563"/>
          </a:xfrm>
        </p:spPr>
        <p:txBody>
          <a:bodyPr>
            <a:normAutofit/>
          </a:bodyPr>
          <a:lstStyle/>
          <a:p>
            <a:r>
              <a:rPr lang="en-US" dirty="0" smtClean="0"/>
              <a:t>Well know challenges in mobile security:</a:t>
            </a:r>
            <a:endParaRPr lang="en-US" dirty="0"/>
          </a:p>
        </p:txBody>
      </p:sp>
      <p:sp>
        <p:nvSpPr>
          <p:cNvPr id="3" name="Content Placeholder 2"/>
          <p:cNvSpPr>
            <a:spLocks noGrp="1"/>
          </p:cNvSpPr>
          <p:nvPr>
            <p:ph idx="1"/>
          </p:nvPr>
        </p:nvSpPr>
        <p:spPr>
          <a:xfrm>
            <a:off x="1676400" y="1668463"/>
            <a:ext cx="10515600" cy="4351338"/>
          </a:xfrm>
        </p:spPr>
        <p:txBody>
          <a:bodyPr/>
          <a:lstStyle/>
          <a:p>
            <a:r>
              <a:rPr lang="en-US" dirty="0" smtClean="0"/>
              <a:t>Managing the registry setting and configuration</a:t>
            </a:r>
          </a:p>
          <a:p>
            <a:r>
              <a:rPr lang="en-US" dirty="0" smtClean="0"/>
              <a:t>Authentication Service Security</a:t>
            </a:r>
          </a:p>
          <a:p>
            <a:r>
              <a:rPr lang="en-US" dirty="0" smtClean="0"/>
              <a:t>Cryptography Security</a:t>
            </a:r>
          </a:p>
          <a:p>
            <a:r>
              <a:rPr lang="en-US" dirty="0" smtClean="0"/>
              <a:t>Lightweight Directory Access protocol(LADP) Security</a:t>
            </a:r>
          </a:p>
          <a:p>
            <a:r>
              <a:rPr lang="en-US" dirty="0" smtClean="0"/>
              <a:t>Remote Access Server(RAS) security</a:t>
            </a:r>
          </a:p>
          <a:p>
            <a:r>
              <a:rPr lang="en-US" dirty="0" smtClean="0"/>
              <a:t>Media Player Control Security</a:t>
            </a:r>
          </a:p>
          <a:p>
            <a:r>
              <a:rPr lang="en-US" dirty="0" smtClean="0"/>
              <a:t>Network Application Program Interface (API) security</a:t>
            </a:r>
            <a:endParaRPr lang="en-US" dirty="0"/>
          </a:p>
        </p:txBody>
      </p:sp>
    </p:spTree>
    <p:extLst>
      <p:ext uri="{BB962C8B-B14F-4D97-AF65-F5344CB8AC3E}">
        <p14:creationId xmlns:p14="http://schemas.microsoft.com/office/powerpoint/2010/main" val="11266940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07950"/>
            <a:ext cx="10515600" cy="1325563"/>
          </a:xfrm>
        </p:spPr>
        <p:txBody>
          <a:bodyPr>
            <a:normAutofit/>
          </a:bodyPr>
          <a:lstStyle/>
          <a:p>
            <a:r>
              <a:rPr lang="en-US" dirty="0" smtClean="0"/>
              <a:t>1.Registry settings for mobile devices:  example</a:t>
            </a:r>
            <a:endParaRPr lang="en-US" dirty="0"/>
          </a:p>
        </p:txBody>
      </p:sp>
      <p:sp>
        <p:nvSpPr>
          <p:cNvPr id="3" name="Content Placeholder 2"/>
          <p:cNvSpPr>
            <a:spLocks noGrp="1"/>
          </p:cNvSpPr>
          <p:nvPr>
            <p:ph idx="1"/>
          </p:nvPr>
        </p:nvSpPr>
        <p:spPr>
          <a:xfrm>
            <a:off x="1538288" y="1568450"/>
            <a:ext cx="10515600" cy="4351338"/>
          </a:xfrm>
        </p:spPr>
        <p:txBody>
          <a:bodyPr/>
          <a:lstStyle/>
          <a:p>
            <a:r>
              <a:rPr lang="en-US" dirty="0" smtClean="0"/>
              <a:t>Microsoft Active Sync : synchronize PCs and MS Outlook</a:t>
            </a:r>
          </a:p>
          <a:p>
            <a:r>
              <a:rPr lang="en-US" dirty="0" smtClean="0"/>
              <a:t>Gateway between Windows-Powered PC and Windows mobile-Powered device</a:t>
            </a:r>
          </a:p>
          <a:p>
            <a:r>
              <a:rPr lang="en-US" dirty="0" smtClean="0"/>
              <a:t>Enables transfer of Outlook information, MS Office documents, pictures, music, videos and applications</a:t>
            </a:r>
          </a:p>
          <a:p>
            <a:r>
              <a:rPr lang="en-US" dirty="0" smtClean="0"/>
              <a:t>Active sync can synchronize directly with MS Exchange Sever so that the user can keep their E-Mails, calendar, notes and contacts updated wirelessly. </a:t>
            </a:r>
            <a:endParaRPr lang="en-US" dirty="0"/>
          </a:p>
        </p:txBody>
      </p:sp>
    </p:spTree>
    <p:extLst>
      <p:ext uri="{BB962C8B-B14F-4D97-AF65-F5344CB8AC3E}">
        <p14:creationId xmlns:p14="http://schemas.microsoft.com/office/powerpoint/2010/main" val="37156833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863" y="0"/>
            <a:ext cx="10515600" cy="1325563"/>
          </a:xfrm>
        </p:spPr>
        <p:txBody>
          <a:bodyPr>
            <a:normAutofit/>
          </a:bodyPr>
          <a:lstStyle/>
          <a:p>
            <a:r>
              <a:rPr lang="en-US" dirty="0" smtClean="0"/>
              <a:t>Managing the registry setting and configuration:</a:t>
            </a:r>
            <a:endParaRPr lang="en-US" dirty="0"/>
          </a:p>
        </p:txBody>
      </p:sp>
      <p:sp>
        <p:nvSpPr>
          <p:cNvPr id="3" name="Content Placeholder 2"/>
          <p:cNvSpPr>
            <a:spLocks noGrp="1"/>
          </p:cNvSpPr>
          <p:nvPr>
            <p:ph idx="1"/>
          </p:nvPr>
        </p:nvSpPr>
        <p:spPr>
          <a:xfrm>
            <a:off x="1566863" y="1539875"/>
            <a:ext cx="10515600" cy="4351338"/>
          </a:xfrm>
        </p:spPr>
        <p:txBody>
          <a:bodyPr>
            <a:normAutofit/>
          </a:bodyPr>
          <a:lstStyle/>
          <a:p>
            <a:pPr algn="just"/>
            <a:r>
              <a:rPr lang="en-US" dirty="0" smtClean="0"/>
              <a:t>If you use an Active Directory® environment to administer the computers in your network, Group Policy provides a comprehensive set of policy settings to manage Windows® Internet Explorer® 8 after you have deployed it to your users' computers.</a:t>
            </a:r>
          </a:p>
          <a:p>
            <a:pPr algn="just"/>
            <a:r>
              <a:rPr lang="en-US" dirty="0" smtClean="0"/>
              <a:t>You can use the Administrative Template policy settings to establish and lock registry-based policies for hundreds of Internet Explorer 8 options, including security options. </a:t>
            </a:r>
          </a:p>
          <a:p>
            <a:pPr algn="just"/>
            <a:r>
              <a:rPr lang="en-US" dirty="0" smtClean="0"/>
              <a:t>1700 settings in a standard group policy</a:t>
            </a:r>
          </a:p>
          <a:p>
            <a:pPr algn="just"/>
            <a:endParaRPr lang="en-US" dirty="0"/>
          </a:p>
        </p:txBody>
      </p:sp>
    </p:spTree>
    <p:extLst>
      <p:ext uri="{BB962C8B-B14F-4D97-AF65-F5344CB8AC3E}">
        <p14:creationId xmlns:p14="http://schemas.microsoft.com/office/powerpoint/2010/main" val="17525017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38288" y="1754188"/>
            <a:ext cx="10515600" cy="4351338"/>
          </a:xfrm>
        </p:spPr>
        <p:txBody>
          <a:bodyPr/>
          <a:lstStyle/>
          <a:p>
            <a:r>
              <a:rPr lang="en-US" dirty="0" smtClean="0"/>
              <a:t>Even if the user  go through every control panel setting and group policy option- no desired baseline security</a:t>
            </a:r>
          </a:p>
          <a:p>
            <a:pPr>
              <a:buNone/>
            </a:pPr>
            <a:endParaRPr lang="en-US" dirty="0" smtClean="0"/>
          </a:p>
          <a:p>
            <a:r>
              <a:rPr lang="en-US" dirty="0" smtClean="0"/>
              <a:t>So make additional registry changes that are not exposed to any interface: avoid “registry hacks”</a:t>
            </a:r>
          </a:p>
          <a:p>
            <a:endParaRPr lang="en-US" dirty="0" smtClean="0"/>
          </a:p>
        </p:txBody>
      </p:sp>
      <p:sp>
        <p:nvSpPr>
          <p:cNvPr id="4" name="Title 1"/>
          <p:cNvSpPr>
            <a:spLocks noGrp="1"/>
          </p:cNvSpPr>
          <p:nvPr>
            <p:ph type="title"/>
          </p:nvPr>
        </p:nvSpPr>
        <p:spPr>
          <a:xfrm>
            <a:off x="1538288" y="0"/>
            <a:ext cx="10515600" cy="1325563"/>
          </a:xfrm>
        </p:spPr>
        <p:txBody>
          <a:bodyPr>
            <a:normAutofit/>
          </a:bodyPr>
          <a:lstStyle/>
          <a:p>
            <a:r>
              <a:rPr lang="en-US" dirty="0" smtClean="0"/>
              <a:t>Managing the registry setting and configuration:</a:t>
            </a:r>
            <a:endParaRPr lang="en-US" dirty="0"/>
          </a:p>
        </p:txBody>
      </p:sp>
    </p:spTree>
    <p:extLst>
      <p:ext uri="{BB962C8B-B14F-4D97-AF65-F5344CB8AC3E}">
        <p14:creationId xmlns:p14="http://schemas.microsoft.com/office/powerpoint/2010/main" val="7562208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Example </a:t>
            </a:r>
            <a:endParaRPr lang="en-US" dirty="0"/>
          </a:p>
        </p:txBody>
      </p:sp>
      <p:sp>
        <p:nvSpPr>
          <p:cNvPr id="3" name="Content Placeholder 2"/>
          <p:cNvSpPr>
            <a:spLocks noGrp="1"/>
          </p:cNvSpPr>
          <p:nvPr>
            <p:ph idx="1"/>
          </p:nvPr>
        </p:nvSpPr>
        <p:spPr>
          <a:xfrm>
            <a:off x="1676400" y="1516221"/>
            <a:ext cx="4495800" cy="4389120"/>
          </a:xfrm>
        </p:spPr>
        <p:txBody>
          <a:bodyPr>
            <a:normAutofit fontScale="92500"/>
          </a:bodyPr>
          <a:lstStyle/>
          <a:p>
            <a:r>
              <a:rPr lang="en-US" dirty="0" smtClean="0"/>
              <a:t>When using Pick-IT ASP in Internet Explorer, the SIP (software input panel, or virtual keyboard) will pop up when a textbox is activated. We cannot control this panel through Pick-IT.</a:t>
            </a:r>
            <a:br>
              <a:rPr lang="en-US" dirty="0" smtClean="0"/>
            </a:br>
            <a:r>
              <a:rPr lang="en-US" dirty="0" smtClean="0"/>
              <a:t/>
            </a:r>
            <a:br>
              <a:rPr lang="en-US" dirty="0" smtClean="0"/>
            </a:br>
            <a:r>
              <a:rPr lang="en-US" dirty="0" smtClean="0"/>
              <a:t>The method disables this SIP, depending on your mobile device model and operating system.</a:t>
            </a:r>
            <a:endParaRPr lang="en-US" dirty="0"/>
          </a:p>
        </p:txBody>
      </p:sp>
      <p:pic>
        <p:nvPicPr>
          <p:cNvPr id="1026" name="Picture 2" descr="http://www.exactsoftware.com/docs/DocBinBlob.aspx?ID=%7B7f09d989-9c12-4186-9ed5-e28d60867819%7D"/>
          <p:cNvPicPr>
            <a:picLocks noChangeAspect="1" noChangeArrowheads="1"/>
          </p:cNvPicPr>
          <p:nvPr/>
        </p:nvPicPr>
        <p:blipFill>
          <a:blip r:embed="rId2"/>
          <a:srcRect/>
          <a:stretch>
            <a:fillRect/>
          </a:stretch>
        </p:blipFill>
        <p:spPr bwMode="auto">
          <a:xfrm>
            <a:off x="7400925" y="-11364"/>
            <a:ext cx="4791075" cy="6540751"/>
          </a:xfrm>
          <a:prstGeom prst="rect">
            <a:avLst/>
          </a:prstGeom>
          <a:noFill/>
        </p:spPr>
      </p:pic>
    </p:spTree>
    <p:extLst>
      <p:ext uri="{BB962C8B-B14F-4D97-AF65-F5344CB8AC3E}">
        <p14:creationId xmlns:p14="http://schemas.microsoft.com/office/powerpoint/2010/main" val="42105972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65113"/>
            <a:ext cx="10515600" cy="1325563"/>
          </a:xfrm>
        </p:spPr>
        <p:txBody>
          <a:bodyPr>
            <a:normAutofit/>
          </a:bodyPr>
          <a:lstStyle/>
          <a:p>
            <a:r>
              <a:rPr lang="en-US" dirty="0" smtClean="0"/>
              <a:t>2. Authentication Service Security</a:t>
            </a:r>
            <a:endParaRPr lang="en-US" dirty="0"/>
          </a:p>
        </p:txBody>
      </p:sp>
      <p:sp>
        <p:nvSpPr>
          <p:cNvPr id="3" name="Content Placeholder 2"/>
          <p:cNvSpPr>
            <a:spLocks noGrp="1"/>
          </p:cNvSpPr>
          <p:nvPr>
            <p:ph idx="1"/>
          </p:nvPr>
        </p:nvSpPr>
        <p:spPr>
          <a:xfrm>
            <a:off x="1676400" y="1590676"/>
            <a:ext cx="10515600" cy="4351338"/>
          </a:xfrm>
        </p:spPr>
        <p:txBody>
          <a:bodyPr/>
          <a:lstStyle/>
          <a:p>
            <a:pPr>
              <a:buNone/>
            </a:pPr>
            <a:r>
              <a:rPr lang="en-US" dirty="0" smtClean="0"/>
              <a:t>Two components of security in mobile computing:</a:t>
            </a:r>
          </a:p>
          <a:p>
            <a:pPr marL="514350" indent="-514350">
              <a:buAutoNum type="arabicPeriod"/>
            </a:pPr>
            <a:r>
              <a:rPr lang="en-US" dirty="0" smtClean="0"/>
              <a:t>Security of devices</a:t>
            </a:r>
          </a:p>
          <a:p>
            <a:pPr marL="514350" indent="-514350">
              <a:buAutoNum type="arabicPeriod"/>
            </a:pPr>
            <a:r>
              <a:rPr lang="en-US" dirty="0" smtClean="0"/>
              <a:t>Security in Networks</a:t>
            </a:r>
          </a:p>
          <a:p>
            <a:pPr marL="880110" lvl="1" indent="-514350"/>
            <a:r>
              <a:rPr lang="en-US" dirty="0" smtClean="0"/>
              <a:t>Involves mutual authentication between the device and the base station/ servers.</a:t>
            </a:r>
          </a:p>
          <a:p>
            <a:pPr marL="880110" lvl="1" indent="-514350"/>
            <a:r>
              <a:rPr lang="en-US" dirty="0" smtClean="0"/>
              <a:t>Ensures that only authenticated devices can be connected to the network</a:t>
            </a:r>
          </a:p>
          <a:p>
            <a:pPr marL="880110" lvl="1" indent="-514350"/>
            <a:r>
              <a:rPr lang="en-US" dirty="0" smtClean="0"/>
              <a:t>Hence, no malicious code can impersonate the service provider to trick the device.</a:t>
            </a:r>
            <a:endParaRPr lang="en-US" dirty="0"/>
          </a:p>
        </p:txBody>
      </p:sp>
    </p:spTree>
    <p:extLst>
      <p:ext uri="{BB962C8B-B14F-4D97-AF65-F5344CB8AC3E}">
        <p14:creationId xmlns:p14="http://schemas.microsoft.com/office/powerpoint/2010/main" val="27571707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Eminent kinds of attacks on mobile devices:</a:t>
            </a:r>
            <a:endParaRPr lang="en-US" dirty="0"/>
          </a:p>
        </p:txBody>
      </p:sp>
      <p:sp>
        <p:nvSpPr>
          <p:cNvPr id="3" name="Content Placeholder 2"/>
          <p:cNvSpPr>
            <a:spLocks noGrp="1"/>
          </p:cNvSpPr>
          <p:nvPr>
            <p:ph idx="1"/>
          </p:nvPr>
        </p:nvSpPr>
        <p:spPr>
          <a:xfrm>
            <a:off x="1676400" y="1711325"/>
            <a:ext cx="10515600" cy="4351338"/>
          </a:xfrm>
        </p:spPr>
        <p:txBody>
          <a:bodyPr/>
          <a:lstStyle/>
          <a:p>
            <a:r>
              <a:rPr lang="en-US" dirty="0" smtClean="0"/>
              <a:t>Push attacks</a:t>
            </a:r>
          </a:p>
          <a:p>
            <a:pPr>
              <a:buNone/>
            </a:pPr>
            <a:endParaRPr lang="en-US" dirty="0" smtClean="0"/>
          </a:p>
          <a:p>
            <a:r>
              <a:rPr lang="en-US" dirty="0" smtClean="0"/>
              <a:t>Pull attacks</a:t>
            </a:r>
          </a:p>
          <a:p>
            <a:pPr>
              <a:buNone/>
            </a:pPr>
            <a:endParaRPr lang="en-US" dirty="0" smtClean="0"/>
          </a:p>
          <a:p>
            <a:r>
              <a:rPr lang="en-US" dirty="0" smtClean="0"/>
              <a:t>Crash attack</a:t>
            </a:r>
            <a:endParaRPr lang="en-US" dirty="0"/>
          </a:p>
        </p:txBody>
      </p:sp>
    </p:spTree>
    <p:extLst>
      <p:ext uri="{BB962C8B-B14F-4D97-AF65-F5344CB8AC3E}">
        <p14:creationId xmlns:p14="http://schemas.microsoft.com/office/powerpoint/2010/main" val="41922413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609600"/>
          </a:xfrm>
        </p:spPr>
        <p:txBody>
          <a:bodyPr>
            <a:normAutofit fontScale="90000"/>
          </a:bodyPr>
          <a:lstStyle/>
          <a:p>
            <a:r>
              <a:rPr lang="en-IN" dirty="0" smtClean="0"/>
              <a:t>Push Attack</a:t>
            </a:r>
            <a:endParaRPr lang="en-IN" dirty="0"/>
          </a:p>
        </p:txBody>
      </p:sp>
      <p:pic>
        <p:nvPicPr>
          <p:cNvPr id="3074" name="Picture 2"/>
          <p:cNvPicPr>
            <a:picLocks noGrp="1" noChangeAspect="1" noChangeArrowheads="1"/>
          </p:cNvPicPr>
          <p:nvPr>
            <p:ph idx="1"/>
          </p:nvPr>
        </p:nvPicPr>
        <p:blipFill>
          <a:blip r:embed="rId2"/>
          <a:srcRect/>
          <a:stretch>
            <a:fillRect/>
          </a:stretch>
        </p:blipFill>
        <p:spPr bwMode="auto">
          <a:xfrm>
            <a:off x="2486025" y="714525"/>
            <a:ext cx="8382000" cy="5667225"/>
          </a:xfrm>
          <a:prstGeom prst="rect">
            <a:avLst/>
          </a:prstGeom>
          <a:noFill/>
          <a:ln w="9525">
            <a:noFill/>
            <a:miter lim="800000"/>
            <a:headEnd/>
            <a:tailEnd/>
          </a:ln>
          <a:effectLst/>
        </p:spPr>
      </p:pic>
    </p:spTree>
    <p:extLst>
      <p:ext uri="{BB962C8B-B14F-4D97-AF65-F5344CB8AC3E}">
        <p14:creationId xmlns:p14="http://schemas.microsoft.com/office/powerpoint/2010/main" val="37122836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15112"/>
          </a:xfrm>
        </p:spPr>
        <p:txBody>
          <a:bodyPr>
            <a:normAutofit fontScale="90000"/>
          </a:bodyPr>
          <a:lstStyle/>
          <a:p>
            <a:r>
              <a:rPr lang="en-IN" dirty="0" smtClean="0"/>
              <a:t>Pull attack</a:t>
            </a:r>
            <a:endParaRPr lang="en-IN" dirty="0"/>
          </a:p>
        </p:txBody>
      </p:sp>
      <p:pic>
        <p:nvPicPr>
          <p:cNvPr id="2050" name="Picture 2"/>
          <p:cNvPicPr>
            <a:picLocks noGrp="1" noChangeAspect="1" noChangeArrowheads="1"/>
          </p:cNvPicPr>
          <p:nvPr>
            <p:ph idx="1"/>
          </p:nvPr>
        </p:nvPicPr>
        <p:blipFill>
          <a:blip r:embed="rId2"/>
          <a:srcRect/>
          <a:stretch>
            <a:fillRect/>
          </a:stretch>
        </p:blipFill>
        <p:spPr bwMode="auto">
          <a:xfrm>
            <a:off x="2400300" y="674735"/>
            <a:ext cx="8534400" cy="5749878"/>
          </a:xfrm>
          <a:prstGeom prst="rect">
            <a:avLst/>
          </a:prstGeom>
          <a:noFill/>
          <a:ln w="9525">
            <a:noFill/>
            <a:miter lim="800000"/>
            <a:headEnd/>
            <a:tailEnd/>
          </a:ln>
          <a:effectLst/>
        </p:spPr>
      </p:pic>
    </p:spTree>
    <p:extLst>
      <p:ext uri="{BB962C8B-B14F-4D97-AF65-F5344CB8AC3E}">
        <p14:creationId xmlns:p14="http://schemas.microsoft.com/office/powerpoint/2010/main" val="10479629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2576512" y="515112"/>
            <a:ext cx="8424248" cy="5927159"/>
          </a:xfrm>
          <a:prstGeom prst="rect">
            <a:avLst/>
          </a:prstGeom>
          <a:noFill/>
          <a:ln w="9525">
            <a:noFill/>
            <a:miter lim="800000"/>
            <a:headEnd/>
            <a:tailEnd/>
          </a:ln>
          <a:effectLst/>
        </p:spPr>
      </p:pic>
      <p:sp>
        <p:nvSpPr>
          <p:cNvPr id="5" name="Title 1"/>
          <p:cNvSpPr>
            <a:spLocks noGrp="1"/>
          </p:cNvSpPr>
          <p:nvPr>
            <p:ph type="title"/>
          </p:nvPr>
        </p:nvSpPr>
        <p:spPr>
          <a:xfrm>
            <a:off x="1981200" y="0"/>
            <a:ext cx="8229600" cy="515112"/>
          </a:xfrm>
        </p:spPr>
        <p:txBody>
          <a:bodyPr>
            <a:normAutofit fontScale="90000"/>
          </a:bodyPr>
          <a:lstStyle/>
          <a:p>
            <a:r>
              <a:rPr lang="en-IN" dirty="0" smtClean="0"/>
              <a:t>Crash attack</a:t>
            </a:r>
            <a:endParaRPr lang="en-IN" dirty="0"/>
          </a:p>
        </p:txBody>
      </p:sp>
    </p:spTree>
    <p:extLst>
      <p:ext uri="{BB962C8B-B14F-4D97-AF65-F5344CB8AC3E}">
        <p14:creationId xmlns:p14="http://schemas.microsoft.com/office/powerpoint/2010/main" val="5625304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8" y="150813"/>
            <a:ext cx="10515600" cy="1325563"/>
          </a:xfrm>
        </p:spPr>
        <p:txBody>
          <a:bodyPr>
            <a:normAutofit/>
          </a:bodyPr>
          <a:lstStyle/>
          <a:p>
            <a:r>
              <a:rPr lang="en-US" dirty="0" smtClean="0"/>
              <a:t>3.Cryptographic Security for Mobile Devices:</a:t>
            </a:r>
            <a:endParaRPr lang="en-US" dirty="0"/>
          </a:p>
        </p:txBody>
      </p:sp>
      <p:sp>
        <p:nvSpPr>
          <p:cNvPr id="3" name="Content Placeholder 2"/>
          <p:cNvSpPr>
            <a:spLocks noGrp="1"/>
          </p:cNvSpPr>
          <p:nvPr>
            <p:ph idx="1"/>
          </p:nvPr>
        </p:nvSpPr>
        <p:spPr>
          <a:xfrm>
            <a:off x="1538288" y="1611312"/>
            <a:ext cx="10515600" cy="4351338"/>
          </a:xfrm>
        </p:spPr>
        <p:txBody>
          <a:bodyPr>
            <a:normAutofit lnSpcReduction="10000"/>
          </a:bodyPr>
          <a:lstStyle/>
          <a:p>
            <a:r>
              <a:rPr lang="en-US" dirty="0" smtClean="0"/>
              <a:t>Cryptographically Generated Address (CGA)</a:t>
            </a:r>
          </a:p>
          <a:p>
            <a:r>
              <a:rPr lang="en-US" dirty="0" smtClean="0"/>
              <a:t>CGA is IPv6: generated by hashing owner’s public-key address</a:t>
            </a:r>
          </a:p>
          <a:p>
            <a:r>
              <a:rPr lang="en-US" dirty="0" smtClean="0"/>
              <a:t>The address the owner uses is the corresponding private key to assert address ownership and</a:t>
            </a:r>
          </a:p>
          <a:p>
            <a:r>
              <a:rPr lang="en-US" dirty="0" smtClean="0"/>
              <a:t>To sign messages sent from the address without a Public-Key Infrastructure(PKI)</a:t>
            </a:r>
          </a:p>
          <a:p>
            <a:r>
              <a:rPr lang="en-US" dirty="0" smtClean="0"/>
              <a:t>CGA-based Authentication can be used to protect IP-Layer signaling protocols </a:t>
            </a:r>
          </a:p>
          <a:p>
            <a:r>
              <a:rPr lang="en-US" dirty="0" smtClean="0"/>
              <a:t>Also used in key –exchange and create  an IPSec security association for encryption and data authentication</a:t>
            </a:r>
            <a:endParaRPr lang="en-US" dirty="0"/>
          </a:p>
        </p:txBody>
      </p:sp>
    </p:spTree>
    <p:extLst>
      <p:ext uri="{BB962C8B-B14F-4D97-AF65-F5344CB8AC3E}">
        <p14:creationId xmlns:p14="http://schemas.microsoft.com/office/powerpoint/2010/main" val="198417983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7" y="165100"/>
            <a:ext cx="10515600" cy="1325563"/>
          </a:xfrm>
        </p:spPr>
        <p:txBody>
          <a:bodyPr/>
          <a:lstStyle/>
          <a:p>
            <a:r>
              <a:rPr lang="en-US" dirty="0" smtClean="0"/>
              <a:t>Example: Palm OS5</a:t>
            </a:r>
            <a:endParaRPr lang="en-US" dirty="0"/>
          </a:p>
        </p:txBody>
      </p:sp>
      <p:sp>
        <p:nvSpPr>
          <p:cNvPr id="3" name="Content Placeholder 2"/>
          <p:cNvSpPr>
            <a:spLocks noGrp="1"/>
          </p:cNvSpPr>
          <p:nvPr>
            <p:ph idx="1"/>
          </p:nvPr>
        </p:nvSpPr>
        <p:spPr>
          <a:xfrm>
            <a:off x="1538287" y="1611312"/>
            <a:ext cx="10515600" cy="4351338"/>
          </a:xfrm>
        </p:spPr>
        <p:txBody>
          <a:bodyPr/>
          <a:lstStyle/>
          <a:p>
            <a:r>
              <a:rPr lang="en-US" dirty="0" smtClean="0"/>
              <a:t>Cryptographic Provider Manage(CPM) in Palm OS5 is a system-wide suite of cryptographic services for securing data and resources on a Palm- powered device</a:t>
            </a:r>
            <a:endParaRPr lang="en-US" dirty="0"/>
          </a:p>
        </p:txBody>
      </p:sp>
    </p:spTree>
    <p:extLst>
      <p:ext uri="{BB962C8B-B14F-4D97-AF65-F5344CB8AC3E}">
        <p14:creationId xmlns:p14="http://schemas.microsoft.com/office/powerpoint/2010/main" val="425738530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07950"/>
            <a:ext cx="10515600" cy="1325563"/>
          </a:xfrm>
        </p:spPr>
        <p:txBody>
          <a:bodyPr>
            <a:normAutofit/>
          </a:bodyPr>
          <a:lstStyle/>
          <a:p>
            <a:r>
              <a:rPr lang="en-US" dirty="0" smtClean="0"/>
              <a:t>4. LDAP security for hand held mobile computing devices</a:t>
            </a:r>
            <a:endParaRPr lang="en-US" dirty="0"/>
          </a:p>
        </p:txBody>
      </p:sp>
      <p:sp>
        <p:nvSpPr>
          <p:cNvPr id="3" name="Content Placeholder 2"/>
          <p:cNvSpPr>
            <a:spLocks noGrp="1"/>
          </p:cNvSpPr>
          <p:nvPr>
            <p:ph idx="1"/>
          </p:nvPr>
        </p:nvSpPr>
        <p:spPr>
          <a:xfrm>
            <a:off x="1676400" y="1654175"/>
            <a:ext cx="10515600" cy="4351338"/>
          </a:xfrm>
        </p:spPr>
        <p:txBody>
          <a:bodyPr/>
          <a:lstStyle/>
          <a:p>
            <a:r>
              <a:rPr lang="en-US" dirty="0" smtClean="0"/>
              <a:t>LDAP is a software protocol for enabling anyone to locate individuals, organizations and other resources like files and devices on the network</a:t>
            </a:r>
          </a:p>
          <a:p>
            <a:r>
              <a:rPr lang="en-US" dirty="0" smtClean="0"/>
              <a:t>LDAP is light weight version of Directory Access Protocol(DAP) since it does not include security features in its initial version.</a:t>
            </a:r>
          </a:p>
          <a:p>
            <a:r>
              <a:rPr lang="en-US" dirty="0" smtClean="0"/>
              <a:t>It originated at the University of Michigan</a:t>
            </a:r>
          </a:p>
          <a:p>
            <a:r>
              <a:rPr lang="en-US" dirty="0" smtClean="0"/>
              <a:t>Endorsed by </a:t>
            </a:r>
            <a:r>
              <a:rPr lang="en-US" dirty="0" err="1" smtClean="0"/>
              <a:t>atleast</a:t>
            </a:r>
            <a:r>
              <a:rPr lang="en-US" dirty="0" smtClean="0"/>
              <a:t> 40 companies</a:t>
            </a:r>
          </a:p>
          <a:p>
            <a:r>
              <a:rPr lang="en-US" dirty="0" smtClean="0"/>
              <a:t>Centralized directories such as LDAP make revoking permissions quick and easy.</a:t>
            </a:r>
          </a:p>
          <a:p>
            <a:endParaRPr lang="en-US" dirty="0"/>
          </a:p>
        </p:txBody>
      </p:sp>
    </p:spTree>
    <p:extLst>
      <p:ext uri="{BB962C8B-B14F-4D97-AF65-F5344CB8AC3E}">
        <p14:creationId xmlns:p14="http://schemas.microsoft.com/office/powerpoint/2010/main" val="222365518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7" y="107950"/>
            <a:ext cx="10515600" cy="1325563"/>
          </a:xfrm>
        </p:spPr>
        <p:txBody>
          <a:bodyPr>
            <a:normAutofit/>
          </a:bodyPr>
          <a:lstStyle/>
          <a:p>
            <a:r>
              <a:rPr lang="en-US" dirty="0" smtClean="0"/>
              <a:t>LDAP directory Structure: simple tree structure</a:t>
            </a:r>
            <a:endParaRPr lang="en-US" dirty="0"/>
          </a:p>
        </p:txBody>
      </p:sp>
      <p:sp>
        <p:nvSpPr>
          <p:cNvPr id="3" name="Content Placeholder 2"/>
          <p:cNvSpPr>
            <a:spLocks noGrp="1"/>
          </p:cNvSpPr>
          <p:nvPr>
            <p:ph idx="1"/>
          </p:nvPr>
        </p:nvSpPr>
        <p:spPr>
          <a:xfrm>
            <a:off x="1676400" y="1768475"/>
            <a:ext cx="10515600" cy="4351338"/>
          </a:xfrm>
        </p:spPr>
        <p:txBody>
          <a:bodyPr/>
          <a:lstStyle/>
          <a:p>
            <a:r>
              <a:rPr lang="en-US" dirty="0" smtClean="0"/>
              <a:t>Root directory</a:t>
            </a:r>
          </a:p>
          <a:p>
            <a:r>
              <a:rPr lang="en-US" dirty="0" smtClean="0"/>
              <a:t>Countries</a:t>
            </a:r>
          </a:p>
          <a:p>
            <a:r>
              <a:rPr lang="en-US" dirty="0" smtClean="0"/>
              <a:t>Organizations</a:t>
            </a:r>
          </a:p>
          <a:p>
            <a:r>
              <a:rPr lang="en-US" dirty="0" smtClean="0"/>
              <a:t>Organizational units</a:t>
            </a:r>
          </a:p>
          <a:p>
            <a:r>
              <a:rPr lang="en-US" dirty="0" smtClean="0"/>
              <a:t>individuals</a:t>
            </a:r>
            <a:endParaRPr lang="en-US" dirty="0"/>
          </a:p>
        </p:txBody>
      </p:sp>
    </p:spTree>
    <p:extLst>
      <p:ext uri="{BB962C8B-B14F-4D97-AF65-F5344CB8AC3E}">
        <p14:creationId xmlns:p14="http://schemas.microsoft.com/office/powerpoint/2010/main" val="215021842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5. RAS security for mobile devices</a:t>
            </a:r>
            <a:endParaRPr lang="en-US" dirty="0"/>
          </a:p>
        </p:txBody>
      </p:sp>
      <p:sp>
        <p:nvSpPr>
          <p:cNvPr id="3" name="Content Placeholder 2"/>
          <p:cNvSpPr>
            <a:spLocks noGrp="1"/>
          </p:cNvSpPr>
          <p:nvPr>
            <p:ph idx="1"/>
          </p:nvPr>
        </p:nvSpPr>
        <p:spPr>
          <a:xfrm>
            <a:off x="1676400" y="1611313"/>
            <a:ext cx="10515600" cy="4351338"/>
          </a:xfrm>
        </p:spPr>
        <p:txBody>
          <a:bodyPr>
            <a:normAutofit/>
          </a:bodyPr>
          <a:lstStyle/>
          <a:p>
            <a:r>
              <a:rPr lang="en-US" dirty="0" smtClean="0"/>
              <a:t>RAS is important for protecting business sensitive data that ay reside on the employee’s mobile devices.</a:t>
            </a:r>
          </a:p>
          <a:p>
            <a:r>
              <a:rPr lang="en-US" dirty="0" smtClean="0"/>
              <a:t>Vulnerable to unauthorized access : resulting in providing a route into the systems with which they connect</a:t>
            </a:r>
          </a:p>
          <a:p>
            <a:pPr lvl="1"/>
            <a:r>
              <a:rPr lang="en-US" dirty="0" smtClean="0"/>
              <a:t>By impersonating or masquerading to these systems, a cracker is able to steal data or compromise corporate systems in other ways.</a:t>
            </a:r>
          </a:p>
          <a:p>
            <a:r>
              <a:rPr lang="en-US" dirty="0" smtClean="0"/>
              <a:t>Another threat is by port scanning: DNS server- locate IP address- scan the port on this IP address that are unprotected.</a:t>
            </a:r>
          </a:p>
          <a:p>
            <a:r>
              <a:rPr lang="en-US" dirty="0" smtClean="0"/>
              <a:t>Precautions: a personal firewall</a:t>
            </a:r>
            <a:endParaRPr lang="en-US" dirty="0"/>
          </a:p>
        </p:txBody>
      </p:sp>
    </p:spTree>
    <p:extLst>
      <p:ext uri="{BB962C8B-B14F-4D97-AF65-F5344CB8AC3E}">
        <p14:creationId xmlns:p14="http://schemas.microsoft.com/office/powerpoint/2010/main" val="6410476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RAS system security for Mobile device clients</a:t>
            </a:r>
            <a:endParaRPr lang="en-US" dirty="0"/>
          </a:p>
        </p:txBody>
      </p:sp>
      <p:sp>
        <p:nvSpPr>
          <p:cNvPr id="3" name="Content Placeholder 2"/>
          <p:cNvSpPr>
            <a:spLocks noGrp="1"/>
          </p:cNvSpPr>
          <p:nvPr>
            <p:ph idx="1"/>
          </p:nvPr>
        </p:nvSpPr>
        <p:spPr>
          <a:xfrm>
            <a:off x="1676400" y="1682750"/>
            <a:ext cx="10515600" cy="4351338"/>
          </a:xfrm>
        </p:spPr>
        <p:txBody>
          <a:bodyPr/>
          <a:lstStyle/>
          <a:p>
            <a:r>
              <a:rPr lang="en-US" dirty="0" smtClean="0"/>
              <a:t>The security of the RAS server</a:t>
            </a:r>
          </a:p>
          <a:p>
            <a:r>
              <a:rPr lang="en-US" dirty="0" smtClean="0"/>
              <a:t>The security of the RAS client</a:t>
            </a:r>
          </a:p>
          <a:p>
            <a:r>
              <a:rPr lang="en-US" dirty="0" smtClean="0"/>
              <a:t>The secure data transmission</a:t>
            </a:r>
          </a:p>
          <a:p>
            <a:endParaRPr lang="en-US" dirty="0"/>
          </a:p>
        </p:txBody>
      </p:sp>
    </p:spTree>
    <p:extLst>
      <p:ext uri="{BB962C8B-B14F-4D97-AF65-F5344CB8AC3E}">
        <p14:creationId xmlns:p14="http://schemas.microsoft.com/office/powerpoint/2010/main" val="427893308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6. Media Player Control Security</a:t>
            </a:r>
            <a:endParaRPr lang="en-US" dirty="0"/>
          </a:p>
        </p:txBody>
      </p:sp>
      <p:sp>
        <p:nvSpPr>
          <p:cNvPr id="3" name="Content Placeholder 2"/>
          <p:cNvSpPr>
            <a:spLocks noGrp="1"/>
          </p:cNvSpPr>
          <p:nvPr>
            <p:ph idx="1"/>
          </p:nvPr>
        </p:nvSpPr>
        <p:spPr>
          <a:xfrm>
            <a:off x="1676400" y="1568450"/>
            <a:ext cx="10515600" cy="4351338"/>
          </a:xfrm>
        </p:spPr>
        <p:txBody>
          <a:bodyPr/>
          <a:lstStyle/>
          <a:p>
            <a:r>
              <a:rPr lang="en-US" dirty="0" smtClean="0"/>
              <a:t>Potential security attacks on mobile devices through the “music gateways”</a:t>
            </a:r>
          </a:p>
          <a:p>
            <a:r>
              <a:rPr lang="en-US" dirty="0" smtClean="0"/>
              <a:t>Windows media player: MS warned about security loop holes</a:t>
            </a:r>
          </a:p>
          <a:p>
            <a:r>
              <a:rPr lang="en-US" dirty="0" smtClean="0"/>
              <a:t>Corrupt files posing as normal music and video files</a:t>
            </a:r>
          </a:p>
          <a:p>
            <a:pPr lvl="1"/>
            <a:r>
              <a:rPr lang="en-US" dirty="0" smtClean="0"/>
              <a:t>May open a website from where the </a:t>
            </a:r>
            <a:r>
              <a:rPr lang="en-US" dirty="0" err="1" smtClean="0"/>
              <a:t>Javascript</a:t>
            </a:r>
            <a:r>
              <a:rPr lang="en-US" dirty="0" smtClean="0"/>
              <a:t> can be operated.</a:t>
            </a:r>
          </a:p>
          <a:p>
            <a:pPr lvl="1"/>
            <a:r>
              <a:rPr lang="en-US" dirty="0" smtClean="0"/>
              <a:t>Allow attacker to download and use the code on user’s machine</a:t>
            </a:r>
          </a:p>
          <a:p>
            <a:pPr lvl="1"/>
            <a:r>
              <a:rPr lang="en-US" dirty="0" smtClean="0"/>
              <a:t>Create buffer overrun errors.</a:t>
            </a:r>
          </a:p>
          <a:p>
            <a:pPr lvl="1"/>
            <a:endParaRPr lang="en-US" dirty="0"/>
          </a:p>
        </p:txBody>
      </p:sp>
    </p:spTree>
    <p:extLst>
      <p:ext uri="{BB962C8B-B14F-4D97-AF65-F5344CB8AC3E}">
        <p14:creationId xmlns:p14="http://schemas.microsoft.com/office/powerpoint/2010/main" val="40952434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689" y="0"/>
            <a:ext cx="10515600" cy="1325563"/>
          </a:xfrm>
        </p:spPr>
        <p:txBody>
          <a:bodyPr>
            <a:normAutofit/>
          </a:bodyPr>
          <a:lstStyle/>
          <a:p>
            <a:r>
              <a:rPr lang="en-US" dirty="0" smtClean="0"/>
              <a:t>7. Networking API security for mobile computing applications</a:t>
            </a:r>
            <a:endParaRPr lang="en-US" dirty="0"/>
          </a:p>
        </p:txBody>
      </p:sp>
      <p:sp>
        <p:nvSpPr>
          <p:cNvPr id="3" name="Content Placeholder 2"/>
          <p:cNvSpPr>
            <a:spLocks noGrp="1"/>
          </p:cNvSpPr>
          <p:nvPr>
            <p:ph idx="1"/>
          </p:nvPr>
        </p:nvSpPr>
        <p:spPr>
          <a:xfrm>
            <a:off x="1560689" y="1645003"/>
            <a:ext cx="10515600" cy="4351338"/>
          </a:xfrm>
        </p:spPr>
        <p:txBody>
          <a:bodyPr/>
          <a:lstStyle/>
          <a:p>
            <a:pPr algn="just"/>
            <a:r>
              <a:rPr lang="en-US" dirty="0" smtClean="0"/>
              <a:t>With advent of E-commerce and M-commerce payments are becoming common phenomenon with the payment gateways accessed remotely and wirelessly.</a:t>
            </a:r>
          </a:p>
          <a:p>
            <a:pPr algn="just"/>
            <a:endParaRPr lang="en-US" dirty="0" smtClean="0"/>
          </a:p>
          <a:p>
            <a:pPr algn="just"/>
            <a:r>
              <a:rPr lang="en-US" dirty="0" smtClean="0"/>
              <a:t>Development of various API’s to enable software and hardware developers to write single applications to target multiple security platforms .</a:t>
            </a:r>
            <a:endParaRPr lang="en-US" dirty="0"/>
          </a:p>
        </p:txBody>
      </p:sp>
    </p:spTree>
    <p:extLst>
      <p:ext uri="{BB962C8B-B14F-4D97-AF65-F5344CB8AC3E}">
        <p14:creationId xmlns:p14="http://schemas.microsoft.com/office/powerpoint/2010/main" val="19792575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ATTACKS ON MOBILE/ CELL PHONES</a:t>
            </a:r>
            <a:endParaRPr lang="en-US" dirty="0"/>
          </a:p>
        </p:txBody>
      </p:sp>
      <p:sp>
        <p:nvSpPr>
          <p:cNvPr id="3" name="Content Placeholder 2"/>
          <p:cNvSpPr>
            <a:spLocks noGrp="1"/>
          </p:cNvSpPr>
          <p:nvPr>
            <p:ph idx="1"/>
          </p:nvPr>
        </p:nvSpPr>
        <p:spPr>
          <a:xfrm>
            <a:off x="1676400" y="1611313"/>
            <a:ext cx="10515600" cy="4351338"/>
          </a:xfrm>
        </p:spPr>
        <p:txBody>
          <a:bodyPr/>
          <a:lstStyle/>
          <a:p>
            <a:r>
              <a:rPr lang="en-US" dirty="0" smtClean="0"/>
              <a:t>Mobile Phone Theft</a:t>
            </a:r>
          </a:p>
          <a:p>
            <a:r>
              <a:rPr lang="en-US" dirty="0" smtClean="0"/>
              <a:t>Mobile Viruses</a:t>
            </a:r>
          </a:p>
          <a:p>
            <a:r>
              <a:rPr lang="en-US" dirty="0" err="1" smtClean="0"/>
              <a:t>Mishing</a:t>
            </a:r>
            <a:endParaRPr lang="en-US" dirty="0" smtClean="0"/>
          </a:p>
          <a:p>
            <a:r>
              <a:rPr lang="en-US" dirty="0" err="1" smtClean="0"/>
              <a:t>Vishing</a:t>
            </a:r>
            <a:endParaRPr lang="en-US" dirty="0" smtClean="0"/>
          </a:p>
          <a:p>
            <a:r>
              <a:rPr lang="en-US" dirty="0" err="1" smtClean="0"/>
              <a:t>Smishing</a:t>
            </a:r>
            <a:endParaRPr lang="en-US" dirty="0" smtClean="0"/>
          </a:p>
          <a:p>
            <a:r>
              <a:rPr lang="en-US" dirty="0" smtClean="0"/>
              <a:t>Hacking </a:t>
            </a:r>
            <a:r>
              <a:rPr lang="en-US" dirty="0" err="1" smtClean="0"/>
              <a:t>bluetooth</a:t>
            </a:r>
            <a:endParaRPr lang="en-US" dirty="0"/>
          </a:p>
        </p:txBody>
      </p:sp>
    </p:spTree>
    <p:extLst>
      <p:ext uri="{BB962C8B-B14F-4D97-AF65-F5344CB8AC3E}">
        <p14:creationId xmlns:p14="http://schemas.microsoft.com/office/powerpoint/2010/main" val="184064588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1143000"/>
          </a:xfrm>
        </p:spPr>
        <p:txBody>
          <a:bodyPr/>
          <a:lstStyle/>
          <a:p>
            <a:r>
              <a:rPr lang="en-US" dirty="0" smtClean="0"/>
              <a:t>Mobile phone theft</a:t>
            </a:r>
            <a:endParaRPr lang="en-IN" dirty="0"/>
          </a:p>
        </p:txBody>
      </p:sp>
      <p:sp>
        <p:nvSpPr>
          <p:cNvPr id="3" name="Content Placeholder 2"/>
          <p:cNvSpPr>
            <a:spLocks noGrp="1"/>
          </p:cNvSpPr>
          <p:nvPr>
            <p:ph idx="1"/>
          </p:nvPr>
        </p:nvSpPr>
        <p:spPr>
          <a:xfrm>
            <a:off x="1632479" y="1566334"/>
            <a:ext cx="10286999" cy="5029200"/>
          </a:xfrm>
        </p:spPr>
        <p:txBody>
          <a:bodyPr/>
          <a:lstStyle/>
          <a:p>
            <a:r>
              <a:rPr lang="en-US" dirty="0" smtClean="0"/>
              <a:t>With mobiles or cell phones becoming fancier, more popular, and more expensive, they are increasingly liable to theft.</a:t>
            </a:r>
          </a:p>
          <a:p>
            <a:endParaRPr lang="en-IN" dirty="0" smtClean="0"/>
          </a:p>
          <a:p>
            <a:r>
              <a:rPr lang="en-IN" dirty="0" smtClean="0"/>
              <a:t>Many insurance companies stopped offering Mobile Theft insurance due to large number of false claims.</a:t>
            </a:r>
          </a:p>
          <a:p>
            <a:endParaRPr lang="en-IN" dirty="0" smtClean="0"/>
          </a:p>
          <a:p>
            <a:r>
              <a:rPr lang="en-IN" dirty="0" smtClean="0"/>
              <a:t>When anyone losses his/her mobile phone, more than anything “Contact List” and “Personal Identifiable Information”, that really matter are lost.</a:t>
            </a:r>
            <a:endParaRPr lang="en-IN" dirty="0"/>
          </a:p>
        </p:txBody>
      </p:sp>
    </p:spTree>
    <p:extLst>
      <p:ext uri="{BB962C8B-B14F-4D97-AF65-F5344CB8AC3E}">
        <p14:creationId xmlns:p14="http://schemas.microsoft.com/office/powerpoint/2010/main" val="23481834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0"/>
            <a:ext cx="8229600" cy="1143000"/>
          </a:xfrm>
        </p:spPr>
        <p:txBody>
          <a:bodyPr/>
          <a:lstStyle/>
          <a:p>
            <a:r>
              <a:rPr lang="en-US" dirty="0" smtClean="0"/>
              <a:t>Mobile phone theft</a:t>
            </a:r>
            <a:endParaRPr lang="en-US" dirty="0"/>
          </a:p>
        </p:txBody>
      </p:sp>
      <p:sp>
        <p:nvSpPr>
          <p:cNvPr id="3" name="Content Placeholder 2"/>
          <p:cNvSpPr>
            <a:spLocks noGrp="1"/>
          </p:cNvSpPr>
          <p:nvPr>
            <p:ph idx="1"/>
          </p:nvPr>
        </p:nvSpPr>
        <p:spPr>
          <a:xfrm>
            <a:off x="1681161" y="1395413"/>
            <a:ext cx="9991725" cy="5562600"/>
          </a:xfrm>
        </p:spPr>
        <p:txBody>
          <a:bodyPr>
            <a:normAutofit/>
          </a:bodyPr>
          <a:lstStyle/>
          <a:p>
            <a:pPr algn="just"/>
            <a:r>
              <a:rPr lang="en-US" dirty="0" smtClean="0"/>
              <a:t>After PC, the attackers new playground is cell phones.</a:t>
            </a:r>
          </a:p>
          <a:p>
            <a:pPr algn="just">
              <a:buNone/>
            </a:pPr>
            <a:endParaRPr lang="en-US" dirty="0" smtClean="0"/>
          </a:p>
          <a:p>
            <a:pPr algn="just">
              <a:buNone/>
            </a:pPr>
            <a:r>
              <a:rPr lang="en-US" dirty="0" smtClean="0"/>
              <a:t>The following factors contribute for outbreaks on mobile devices:</a:t>
            </a:r>
          </a:p>
          <a:p>
            <a:pPr marL="514350" indent="-514350" algn="just">
              <a:buNone/>
            </a:pPr>
            <a:r>
              <a:rPr lang="en-US" b="1" dirty="0" smtClean="0"/>
              <a:t>1. Enough target terminals:</a:t>
            </a:r>
            <a:r>
              <a:rPr lang="en-US" dirty="0" smtClean="0"/>
              <a:t> first mobile virus in 2004 :- Mosquito – this virus sent SMS text messages to the organization(</a:t>
            </a:r>
            <a:r>
              <a:rPr lang="en-US" dirty="0" err="1" smtClean="0"/>
              <a:t>Ojam</a:t>
            </a:r>
            <a:r>
              <a:rPr lang="en-US" dirty="0" smtClean="0"/>
              <a:t>) without the user knowledge.</a:t>
            </a:r>
          </a:p>
          <a:p>
            <a:pPr marL="514350" indent="-514350" algn="just">
              <a:buNone/>
            </a:pPr>
            <a:r>
              <a:rPr lang="en-US" b="1" dirty="0" smtClean="0"/>
              <a:t>2. Enough functionality: </a:t>
            </a:r>
            <a:r>
              <a:rPr lang="en-US" dirty="0" smtClean="0"/>
              <a:t>Mobile devices are equipped with office functionality, critical data and applications are protected insufficiently or not at all.</a:t>
            </a:r>
          </a:p>
          <a:p>
            <a:pPr marL="514350" indent="-514350" algn="just">
              <a:buNone/>
            </a:pPr>
            <a:r>
              <a:rPr lang="en-US" dirty="0" smtClean="0"/>
              <a:t>	expanded functionality also increases the probability of malware</a:t>
            </a:r>
            <a:r>
              <a:rPr lang="en-US" dirty="0"/>
              <a:t>.</a:t>
            </a:r>
            <a:endParaRPr lang="en-US" dirty="0" smtClean="0"/>
          </a:p>
        </p:txBody>
      </p:sp>
    </p:spTree>
    <p:extLst>
      <p:ext uri="{BB962C8B-B14F-4D97-AF65-F5344CB8AC3E}">
        <p14:creationId xmlns:p14="http://schemas.microsoft.com/office/powerpoint/2010/main" val="21376438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425" y="36512"/>
            <a:ext cx="10515600" cy="1325563"/>
          </a:xfrm>
        </p:spPr>
        <p:txBody>
          <a:bodyPr/>
          <a:lstStyle/>
          <a:p>
            <a:endParaRPr lang="en-IN"/>
          </a:p>
        </p:txBody>
      </p:sp>
      <p:sp>
        <p:nvSpPr>
          <p:cNvPr id="3" name="Content Placeholder 2"/>
          <p:cNvSpPr>
            <a:spLocks noGrp="1"/>
          </p:cNvSpPr>
          <p:nvPr>
            <p:ph idx="1"/>
          </p:nvPr>
        </p:nvSpPr>
        <p:spPr>
          <a:xfrm>
            <a:off x="1495425" y="1897062"/>
            <a:ext cx="10515600" cy="4351338"/>
          </a:xfrm>
        </p:spPr>
        <p:txBody>
          <a:bodyPr/>
          <a:lstStyle/>
          <a:p>
            <a:r>
              <a:rPr lang="en-US" b="1" dirty="0" smtClean="0"/>
              <a:t>3. Enough connectivity: </a:t>
            </a:r>
            <a:r>
              <a:rPr lang="en-US" dirty="0" err="1" smtClean="0"/>
              <a:t>Smartphones</a:t>
            </a:r>
            <a:r>
              <a:rPr lang="en-US" dirty="0" smtClean="0"/>
              <a:t> offer multiple communication options like SMS, MMS, Synchronization, Bluetooth, infrared(IR) and WLAN connections.</a:t>
            </a:r>
          </a:p>
          <a:p>
            <a:r>
              <a:rPr lang="en-US" dirty="0" smtClean="0"/>
              <a:t>The increased amount of freedom also offers more choices of virus writers.</a:t>
            </a:r>
          </a:p>
          <a:p>
            <a:endParaRPr lang="en-IN" dirty="0"/>
          </a:p>
        </p:txBody>
      </p:sp>
    </p:spTree>
    <p:extLst>
      <p:ext uri="{BB962C8B-B14F-4D97-AF65-F5344CB8AC3E}">
        <p14:creationId xmlns:p14="http://schemas.microsoft.com/office/powerpoint/2010/main" val="49723009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6862" y="122237"/>
            <a:ext cx="10515600" cy="1325563"/>
          </a:xfrm>
        </p:spPr>
        <p:txBody>
          <a:bodyPr>
            <a:normAutofit/>
          </a:bodyPr>
          <a:lstStyle/>
          <a:p>
            <a:r>
              <a:rPr lang="en-US" b="1" dirty="0" smtClean="0">
                <a:solidFill>
                  <a:schemeClr val="tx1"/>
                </a:solidFill>
              </a:rPr>
              <a:t>How to Protect a Mobile Phone from Being Stolen</a:t>
            </a:r>
            <a:endParaRPr lang="en-US" dirty="0"/>
          </a:p>
        </p:txBody>
      </p:sp>
      <p:sp>
        <p:nvSpPr>
          <p:cNvPr id="3" name="Content Placeholder 2"/>
          <p:cNvSpPr>
            <a:spLocks noGrp="1"/>
          </p:cNvSpPr>
          <p:nvPr>
            <p:ph idx="1"/>
          </p:nvPr>
        </p:nvSpPr>
        <p:spPr>
          <a:xfrm>
            <a:off x="1676400" y="1625600"/>
            <a:ext cx="10515600" cy="4351338"/>
          </a:xfrm>
        </p:spPr>
        <p:txBody>
          <a:bodyPr/>
          <a:lstStyle/>
          <a:p>
            <a:r>
              <a:rPr lang="en-US" b="1" dirty="0" smtClean="0"/>
              <a:t>Keep details.</a:t>
            </a:r>
            <a:r>
              <a:rPr lang="en-US" dirty="0" smtClean="0"/>
              <a:t> Make a record of all your phone information and keep this in a safe place. Include the following elements in the information: Your phone number</a:t>
            </a:r>
          </a:p>
          <a:p>
            <a:r>
              <a:rPr lang="en-US" dirty="0" smtClean="0"/>
              <a:t>The make and model</a:t>
            </a:r>
          </a:p>
          <a:p>
            <a:r>
              <a:rPr lang="en-US" dirty="0" smtClean="0"/>
              <a:t>Color and appearance details</a:t>
            </a:r>
          </a:p>
          <a:p>
            <a:r>
              <a:rPr lang="en-US" dirty="0" smtClean="0"/>
              <a:t>The pin or security lock code</a:t>
            </a:r>
          </a:p>
          <a:p>
            <a:r>
              <a:rPr lang="en-US" dirty="0" smtClean="0">
                <a:hlinkClick r:id="rId2" tooltip="Find the IMEI Number on a Mobile Phone"/>
              </a:rPr>
              <a:t>The IMEI number</a:t>
            </a:r>
            <a:r>
              <a:rPr lang="en-US" dirty="0" smtClean="0"/>
              <a:t> (on GSM phones) </a:t>
            </a:r>
          </a:p>
          <a:p>
            <a:pPr lvl="1"/>
            <a:r>
              <a:rPr lang="en-US" dirty="0" smtClean="0"/>
              <a:t>International Mobile Equipment Identity</a:t>
            </a:r>
          </a:p>
          <a:p>
            <a:endParaRPr lang="en-US" dirty="0"/>
          </a:p>
        </p:txBody>
      </p:sp>
    </p:spTree>
    <p:extLst>
      <p:ext uri="{BB962C8B-B14F-4D97-AF65-F5344CB8AC3E}">
        <p14:creationId xmlns:p14="http://schemas.microsoft.com/office/powerpoint/2010/main" val="334000525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10091738" cy="1143000"/>
          </a:xfrm>
        </p:spPr>
        <p:txBody>
          <a:bodyPr>
            <a:normAutofit/>
          </a:bodyPr>
          <a:lstStyle/>
          <a:p>
            <a:r>
              <a:rPr lang="en-US" dirty="0" smtClean="0"/>
              <a:t>									Contd..</a:t>
            </a:r>
            <a:endParaRPr lang="en-US" dirty="0"/>
          </a:p>
        </p:txBody>
      </p:sp>
      <p:sp>
        <p:nvSpPr>
          <p:cNvPr id="3" name="Content Placeholder 2"/>
          <p:cNvSpPr>
            <a:spLocks noGrp="1"/>
          </p:cNvSpPr>
          <p:nvPr>
            <p:ph idx="1"/>
          </p:nvPr>
        </p:nvSpPr>
        <p:spPr>
          <a:xfrm>
            <a:off x="1676400" y="1568450"/>
            <a:ext cx="10515600" cy="4351338"/>
          </a:xfrm>
        </p:spPr>
        <p:txBody>
          <a:bodyPr>
            <a:normAutofit/>
          </a:bodyPr>
          <a:lstStyle/>
          <a:p>
            <a:pPr algn="just"/>
            <a:r>
              <a:rPr lang="en-US" b="1" dirty="0" smtClean="0"/>
              <a:t>Add a security mark.</a:t>
            </a:r>
            <a:r>
              <a:rPr lang="en-US" dirty="0" smtClean="0"/>
              <a:t> Use an permanent marker or ultra violet pen to print your post code and house number onto both your mobile handset and battery. This makes it easily identifiable as your property if lost or stolen. It would also be good if you write your alternate contact number or email id on your phone.</a:t>
            </a:r>
          </a:p>
          <a:p>
            <a:pPr algn="just"/>
            <a:r>
              <a:rPr lang="en-US" dirty="0" smtClean="0"/>
              <a:t> This would help the finder of your handset to contact you if he or she intents to return it. The ultra-violet pen marking will wear off every couple of months, so reapply it when you feel necessary.</a:t>
            </a:r>
            <a:endParaRPr lang="en-US" dirty="0"/>
          </a:p>
        </p:txBody>
      </p:sp>
    </p:spTree>
    <p:extLst>
      <p:ext uri="{BB962C8B-B14F-4D97-AF65-F5344CB8AC3E}">
        <p14:creationId xmlns:p14="http://schemas.microsoft.com/office/powerpoint/2010/main" val="191544175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22225"/>
            <a:ext cx="10515600" cy="1325563"/>
          </a:xfrm>
        </p:spPr>
        <p:txBody>
          <a:bodyPr/>
          <a:lstStyle/>
          <a:p>
            <a:endParaRPr lang="en-US"/>
          </a:p>
        </p:txBody>
      </p:sp>
      <p:sp>
        <p:nvSpPr>
          <p:cNvPr id="3" name="Content Placeholder 2"/>
          <p:cNvSpPr>
            <a:spLocks noGrp="1"/>
          </p:cNvSpPr>
          <p:nvPr>
            <p:ph idx="1"/>
          </p:nvPr>
        </p:nvSpPr>
        <p:spPr>
          <a:xfrm>
            <a:off x="1552575" y="1497013"/>
            <a:ext cx="10515600" cy="4351338"/>
          </a:xfrm>
        </p:spPr>
        <p:txBody>
          <a:bodyPr/>
          <a:lstStyle/>
          <a:p>
            <a:r>
              <a:rPr lang="en-US" b="1" dirty="0" smtClean="0"/>
              <a:t>Use the security lock code, or PIN feature, to lock your phone.</a:t>
            </a:r>
            <a:r>
              <a:rPr lang="en-US" dirty="0" smtClean="0"/>
              <a:t> This will make it less valuable to a thief and deny them access to personal numbers stored on your </a:t>
            </a:r>
            <a:r>
              <a:rPr lang="en-US" dirty="0" smtClean="0">
                <a:hlinkClick r:id="rId2" tooltip="Make SIM Card Earrings"/>
              </a:rPr>
              <a:t>SIM card</a:t>
            </a:r>
            <a:r>
              <a:rPr lang="en-US" dirty="0" smtClean="0"/>
              <a:t>.</a:t>
            </a:r>
            <a:endParaRPr lang="en-US" dirty="0"/>
          </a:p>
        </p:txBody>
      </p:sp>
    </p:spTree>
    <p:extLst>
      <p:ext uri="{BB962C8B-B14F-4D97-AF65-F5344CB8AC3E}">
        <p14:creationId xmlns:p14="http://schemas.microsoft.com/office/powerpoint/2010/main" val="39933014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6512"/>
            <a:ext cx="10515600" cy="1325563"/>
          </a:xfrm>
        </p:spPr>
        <p:txBody>
          <a:bodyPr/>
          <a:lstStyle/>
          <a:p>
            <a:endParaRPr lang="en-US"/>
          </a:p>
        </p:txBody>
      </p:sp>
      <p:sp>
        <p:nvSpPr>
          <p:cNvPr id="3" name="Content Placeholder 2"/>
          <p:cNvSpPr>
            <a:spLocks noGrp="1"/>
          </p:cNvSpPr>
          <p:nvPr>
            <p:ph idx="1"/>
          </p:nvPr>
        </p:nvSpPr>
        <p:spPr>
          <a:xfrm>
            <a:off x="1509712" y="1582737"/>
            <a:ext cx="10515600" cy="4351338"/>
          </a:xfrm>
        </p:spPr>
        <p:txBody>
          <a:bodyPr>
            <a:normAutofit lnSpcReduction="10000"/>
          </a:bodyPr>
          <a:lstStyle/>
          <a:p>
            <a:pPr algn="just"/>
            <a:r>
              <a:rPr lang="en-US" b="1" dirty="0" smtClean="0"/>
              <a:t>Register your phone with your network operator.</a:t>
            </a:r>
            <a:r>
              <a:rPr lang="en-US" dirty="0" smtClean="0"/>
              <a:t> If your phone is stolen, report the loss to them immediately. Using your </a:t>
            </a:r>
            <a:r>
              <a:rPr lang="en-US" dirty="0" smtClean="0">
                <a:hlinkClick r:id="rId2" tooltip="Find the IMEI Number on a Mobile Phone"/>
              </a:rPr>
              <a:t>IMEI number</a:t>
            </a:r>
            <a:r>
              <a:rPr lang="en-US" dirty="0" smtClean="0"/>
              <a:t>, they may be able to block your hand set and account details. </a:t>
            </a:r>
          </a:p>
          <a:p>
            <a:pPr algn="just"/>
            <a:r>
              <a:rPr lang="en-US" dirty="0" smtClean="0"/>
              <a:t>Some wireless carriers are willing to do this, and some aren't. If done, this will prevent anyone from using the phone across any network, even if the SIM card is changed. Keep in mind that once the phone is disabled, it may not be able to be used again, even if you get it back.</a:t>
            </a:r>
          </a:p>
          <a:p>
            <a:pPr algn="just"/>
            <a:r>
              <a:rPr lang="en-US" dirty="0" smtClean="0"/>
              <a:t>Keep records of this call--the date, time, name of the person you spoke to, what they said, and their extension. Ask for confirmation in writing that your phone has been disabled.</a:t>
            </a:r>
            <a:r>
              <a:rPr lang="en-US" baseline="30000" dirty="0" smtClean="0">
                <a:hlinkClick r:id="rId3"/>
              </a:rPr>
              <a:t>[2]</a:t>
            </a:r>
            <a:r>
              <a:rPr lang="en-US" dirty="0" smtClean="0"/>
              <a:t> This is important in case the thief makes fraudulent charges on your account.</a:t>
            </a:r>
          </a:p>
          <a:p>
            <a:pPr algn="just"/>
            <a:endParaRPr lang="en-US" dirty="0"/>
          </a:p>
        </p:txBody>
      </p:sp>
    </p:spTree>
    <p:extLst>
      <p:ext uri="{BB962C8B-B14F-4D97-AF65-F5344CB8AC3E}">
        <p14:creationId xmlns:p14="http://schemas.microsoft.com/office/powerpoint/2010/main" val="26762552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713" y="50800"/>
            <a:ext cx="10515600" cy="1325563"/>
          </a:xfrm>
        </p:spPr>
        <p:txBody>
          <a:bodyPr/>
          <a:lstStyle/>
          <a:p>
            <a:endParaRPr lang="en-US"/>
          </a:p>
        </p:txBody>
      </p:sp>
      <p:sp>
        <p:nvSpPr>
          <p:cNvPr id="3" name="Content Placeholder 2"/>
          <p:cNvSpPr>
            <a:spLocks noGrp="1"/>
          </p:cNvSpPr>
          <p:nvPr>
            <p:ph idx="1"/>
          </p:nvPr>
        </p:nvSpPr>
        <p:spPr>
          <a:xfrm>
            <a:off x="1509713" y="1811337"/>
            <a:ext cx="10515600" cy="4351338"/>
          </a:xfrm>
        </p:spPr>
        <p:txBody>
          <a:bodyPr>
            <a:normAutofit/>
          </a:bodyPr>
          <a:lstStyle/>
          <a:p>
            <a:r>
              <a:rPr lang="en-US" b="1" dirty="0" smtClean="0"/>
              <a:t>Have your phone number disabled.</a:t>
            </a:r>
            <a:r>
              <a:rPr lang="en-US" dirty="0" smtClean="0"/>
              <a:t> In addition to reporting your phone lost or stolen, you should also disable your phone number (not account) so that no further charges can be applied. This is in case the thief figures out how to access your account through another hand set, or in case the carrier is unwilling to block the handset. Remember that, as mentioned earlier, many thieves stand to benefit from using your service rather than selling your phone, especially between the moment they steal it and the moment you realize your phone is missing.</a:t>
            </a:r>
            <a:r>
              <a:rPr lang="en-US" baseline="30000" dirty="0" smtClean="0">
                <a:hlinkClick r:id="rId2"/>
              </a:rPr>
              <a:t>[3]</a:t>
            </a:r>
            <a:r>
              <a:rPr lang="en-US" dirty="0" smtClean="0"/>
              <a:t> As in the previous step, keep detailed records of when you requested your account to be disabled.</a:t>
            </a:r>
            <a:endParaRPr lang="en-US" dirty="0"/>
          </a:p>
        </p:txBody>
      </p:sp>
    </p:spTree>
    <p:extLst>
      <p:ext uri="{BB962C8B-B14F-4D97-AF65-F5344CB8AC3E}">
        <p14:creationId xmlns:p14="http://schemas.microsoft.com/office/powerpoint/2010/main" val="387834083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endParaRPr lang="en-US"/>
          </a:p>
        </p:txBody>
      </p:sp>
      <p:sp>
        <p:nvSpPr>
          <p:cNvPr id="3" name="Content Placeholder 2"/>
          <p:cNvSpPr>
            <a:spLocks noGrp="1"/>
          </p:cNvSpPr>
          <p:nvPr>
            <p:ph idx="1"/>
          </p:nvPr>
        </p:nvSpPr>
        <p:spPr>
          <a:xfrm>
            <a:off x="1552575" y="1611313"/>
            <a:ext cx="10515600" cy="4351338"/>
          </a:xfrm>
        </p:spPr>
        <p:txBody>
          <a:bodyPr>
            <a:normAutofit lnSpcReduction="10000"/>
          </a:bodyPr>
          <a:lstStyle/>
          <a:p>
            <a:r>
              <a:rPr lang="en-US" b="1" dirty="0" smtClean="0"/>
              <a:t>Request an immediate, formal investigation from your carrier.</a:t>
            </a:r>
            <a:r>
              <a:rPr lang="en-US" dirty="0" smtClean="0"/>
              <a:t> Sometimes this can prevent (or at least delay) the carrier from launching a collections effort and tainting your credit, if things get ugly. </a:t>
            </a:r>
            <a:r>
              <a:rPr lang="en-US" baseline="30000" dirty="0" smtClean="0">
                <a:hlinkClick r:id="rId2"/>
              </a:rPr>
              <a:t>[4]</a:t>
            </a:r>
            <a:r>
              <a:rPr lang="en-US" dirty="0" smtClean="0"/>
              <a:t> </a:t>
            </a:r>
          </a:p>
          <a:p>
            <a:r>
              <a:rPr lang="en-US" b="1" dirty="0" smtClean="0"/>
              <a:t>File a police report immediately.</a:t>
            </a:r>
            <a:r>
              <a:rPr lang="en-US" dirty="0" smtClean="0"/>
              <a:t> Time is money, literally. A thief can add over US$10,000 to your cell phone bill in just hours by making international calls, and you might end up being asked to foot the bill. Some phone companies may require proof that the phone was actually stolen, versus it having been lost. A police report serves as evidence, which will make your wireless provider more cooperative, especially if insurance is involved.</a:t>
            </a:r>
            <a:endParaRPr lang="en-US" dirty="0"/>
          </a:p>
        </p:txBody>
      </p:sp>
    </p:spTree>
    <p:extLst>
      <p:ext uri="{BB962C8B-B14F-4D97-AF65-F5344CB8AC3E}">
        <p14:creationId xmlns:p14="http://schemas.microsoft.com/office/powerpoint/2010/main" val="191886785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2225"/>
            <a:ext cx="10515600" cy="1325563"/>
          </a:xfrm>
        </p:spPr>
        <p:txBody>
          <a:bodyPr/>
          <a:lstStyle/>
          <a:p>
            <a:endParaRPr lang="en-US"/>
          </a:p>
        </p:txBody>
      </p:sp>
      <p:sp>
        <p:nvSpPr>
          <p:cNvPr id="3" name="Content Placeholder 2"/>
          <p:cNvSpPr>
            <a:spLocks noGrp="1"/>
          </p:cNvSpPr>
          <p:nvPr>
            <p:ph idx="1"/>
          </p:nvPr>
        </p:nvSpPr>
        <p:spPr>
          <a:xfrm>
            <a:off x="1676400" y="1690688"/>
            <a:ext cx="10515600" cy="4351338"/>
          </a:xfrm>
        </p:spPr>
        <p:txBody>
          <a:bodyPr/>
          <a:lstStyle/>
          <a:p>
            <a:r>
              <a:rPr lang="en-US" b="1" dirty="0" smtClean="0"/>
              <a:t>Install anti phone theft software.</a:t>
            </a:r>
            <a:r>
              <a:rPr lang="en-US" dirty="0" smtClean="0"/>
              <a:t> There are suppliers that provide modern anti theft software for your phone. The software enables you to remotely contact your mobile and stay in control. For example, one of the recently published solutions for </a:t>
            </a:r>
            <a:r>
              <a:rPr lang="en-US" dirty="0" err="1" smtClean="0"/>
              <a:t>Symbian</a:t>
            </a:r>
            <a:r>
              <a:rPr lang="en-US" dirty="0" smtClean="0"/>
              <a:t> and Android is Theft Aware; others provide Windows Mobile or Blackberry support </a:t>
            </a:r>
          </a:p>
          <a:p>
            <a:r>
              <a:rPr lang="en-US" b="1" dirty="0" smtClean="0"/>
              <a:t>Never let the phone get out of your sight.</a:t>
            </a:r>
            <a:r>
              <a:rPr lang="en-US" dirty="0" smtClean="0"/>
              <a:t> Unless you are sleeping of course, always have your eyes on the phone.</a:t>
            </a:r>
            <a:endParaRPr lang="en-US" dirty="0"/>
          </a:p>
        </p:txBody>
      </p:sp>
    </p:spTree>
    <p:extLst>
      <p:ext uri="{BB962C8B-B14F-4D97-AF65-F5344CB8AC3E}">
        <p14:creationId xmlns:p14="http://schemas.microsoft.com/office/powerpoint/2010/main" val="894895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461" y="242888"/>
            <a:ext cx="8229600" cy="838200"/>
          </a:xfrm>
        </p:spPr>
        <p:txBody>
          <a:bodyPr/>
          <a:lstStyle/>
          <a:p>
            <a:r>
              <a:rPr lang="en-US" dirty="0" smtClean="0"/>
              <a:t>2. Mobile Viruses</a:t>
            </a:r>
            <a:endParaRPr lang="en-US" dirty="0"/>
          </a:p>
        </p:txBody>
      </p:sp>
      <p:sp>
        <p:nvSpPr>
          <p:cNvPr id="3" name="Content Placeholder 2"/>
          <p:cNvSpPr>
            <a:spLocks noGrp="1"/>
          </p:cNvSpPr>
          <p:nvPr>
            <p:ph idx="1"/>
          </p:nvPr>
        </p:nvSpPr>
        <p:spPr>
          <a:xfrm>
            <a:off x="1795461" y="1419225"/>
            <a:ext cx="9906001" cy="5638800"/>
          </a:xfrm>
        </p:spPr>
        <p:txBody>
          <a:bodyPr/>
          <a:lstStyle/>
          <a:p>
            <a:r>
              <a:rPr lang="en-US" dirty="0" smtClean="0"/>
              <a:t>A mobile virus is similar to a computer virus that targets mobile phones data or applications/software installed </a:t>
            </a:r>
            <a:r>
              <a:rPr lang="en-US" dirty="0" err="1" smtClean="0"/>
              <a:t>init.</a:t>
            </a:r>
            <a:endParaRPr lang="en-US" dirty="0" smtClean="0"/>
          </a:p>
          <a:p>
            <a:r>
              <a:rPr lang="en-US" dirty="0" smtClean="0"/>
              <a:t>In total 40 mobile virus families and more than 300+ mobile viruses identified</a:t>
            </a:r>
          </a:p>
          <a:p>
            <a:r>
              <a:rPr lang="en-US" dirty="0" smtClean="0"/>
              <a:t>First mobile virus : </a:t>
            </a:r>
            <a:r>
              <a:rPr lang="en-US" dirty="0" err="1" smtClean="0"/>
              <a:t>june</a:t>
            </a:r>
            <a:r>
              <a:rPr lang="en-US" dirty="0" smtClean="0"/>
              <a:t> 2004</a:t>
            </a:r>
          </a:p>
          <a:p>
            <a:r>
              <a:rPr lang="en-US" dirty="0" smtClean="0"/>
              <a:t>Spread through dominant communication protocols</a:t>
            </a:r>
          </a:p>
          <a:p>
            <a:pPr lvl="1"/>
            <a:r>
              <a:rPr lang="en-US" dirty="0" smtClean="0"/>
              <a:t>Bluetooth, MMS.</a:t>
            </a:r>
          </a:p>
          <a:p>
            <a:pPr marL="269875" lvl="1" indent="-269875"/>
            <a:r>
              <a:rPr lang="en-US" dirty="0" smtClean="0"/>
              <a:t>Bluetooth virus can easily spread within a distance of 10-30 </a:t>
            </a:r>
            <a:r>
              <a:rPr lang="en-US" dirty="0" err="1" smtClean="0"/>
              <a:t>mt</a:t>
            </a:r>
            <a:r>
              <a:rPr lang="en-US" dirty="0" smtClean="0"/>
              <a:t>.</a:t>
            </a:r>
          </a:p>
          <a:p>
            <a:pPr marL="269875" lvl="1" indent="-269875"/>
            <a:r>
              <a:rPr lang="en-US" dirty="0" smtClean="0"/>
              <a:t>MMS virus can send a copy of itself to all mobile users whose numbers are available in the infected mobile phone address book.</a:t>
            </a:r>
          </a:p>
        </p:txBody>
      </p:sp>
    </p:spTree>
    <p:extLst>
      <p:ext uri="{BB962C8B-B14F-4D97-AF65-F5344CB8AC3E}">
        <p14:creationId xmlns:p14="http://schemas.microsoft.com/office/powerpoint/2010/main" val="24456653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10515600" cy="1325563"/>
          </a:xfrm>
        </p:spPr>
        <p:txBody>
          <a:bodyPr/>
          <a:lstStyle/>
          <a:p>
            <a:r>
              <a:rPr lang="en-US" b="1" dirty="0" smtClean="0"/>
              <a:t>Mobile Phone Virus Hoax</a:t>
            </a:r>
            <a:endParaRPr lang="en-US" dirty="0"/>
          </a:p>
        </p:txBody>
      </p:sp>
      <p:sp>
        <p:nvSpPr>
          <p:cNvPr id="3" name="Content Placeholder 2"/>
          <p:cNvSpPr>
            <a:spLocks noGrp="1"/>
          </p:cNvSpPr>
          <p:nvPr>
            <p:ph idx="1"/>
          </p:nvPr>
        </p:nvSpPr>
        <p:spPr>
          <a:xfrm>
            <a:off x="1524000" y="1568450"/>
            <a:ext cx="10515600" cy="4351338"/>
          </a:xfrm>
        </p:spPr>
        <p:txBody>
          <a:bodyPr/>
          <a:lstStyle/>
          <a:p>
            <a:r>
              <a:rPr lang="en-US" dirty="0" smtClean="0"/>
              <a:t>Variants of this hoax have been circulating since 1999. The information in the email is completely untrue and has certainly not been "confirmed by both Motorola and Nokia".</a:t>
            </a:r>
            <a:endParaRPr lang="en-US" dirty="0"/>
          </a:p>
        </p:txBody>
      </p:sp>
    </p:spTree>
    <p:extLst>
      <p:ext uri="{BB962C8B-B14F-4D97-AF65-F5344CB8AC3E}">
        <p14:creationId xmlns:p14="http://schemas.microsoft.com/office/powerpoint/2010/main" val="41914871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b="1" dirty="0" smtClean="0"/>
              <a:t>Mobile Phone Virus Hoax </a:t>
            </a:r>
            <a:r>
              <a:rPr lang="en-US" dirty="0" smtClean="0"/>
              <a:t>Example</a:t>
            </a:r>
            <a:endParaRPr lang="en-US" dirty="0"/>
          </a:p>
        </p:txBody>
      </p:sp>
      <p:sp>
        <p:nvSpPr>
          <p:cNvPr id="3" name="Content Placeholder 2"/>
          <p:cNvSpPr>
            <a:spLocks noGrp="1"/>
          </p:cNvSpPr>
          <p:nvPr>
            <p:ph idx="1"/>
          </p:nvPr>
        </p:nvSpPr>
        <p:spPr>
          <a:xfrm>
            <a:off x="1676400" y="1568450"/>
            <a:ext cx="10515600" cy="4351338"/>
          </a:xfrm>
        </p:spPr>
        <p:txBody>
          <a:bodyPr>
            <a:normAutofit fontScale="92500" lnSpcReduction="20000"/>
          </a:bodyPr>
          <a:lstStyle/>
          <a:p>
            <a:r>
              <a:rPr lang="en-US" dirty="0" smtClean="0"/>
              <a:t>All mobile users pay attention!!!!!!!!!</a:t>
            </a:r>
            <a:br>
              <a:rPr lang="en-US" dirty="0" smtClean="0"/>
            </a:br>
            <a:r>
              <a:rPr lang="en-US" dirty="0" smtClean="0"/>
              <a:t/>
            </a:r>
            <a:br>
              <a:rPr lang="en-US" dirty="0" smtClean="0"/>
            </a:br>
            <a:r>
              <a:rPr lang="en-US" i="1" dirty="0" smtClean="0"/>
              <a:t>If you receive a phone call and your mobile phone displays(XALAN)on the screen don't answer the call, END THE CALL </a:t>
            </a:r>
            <a:r>
              <a:rPr lang="en-US" i="1" dirty="0" err="1" smtClean="0"/>
              <a:t>IMMEDIATELY,if</a:t>
            </a:r>
            <a:r>
              <a:rPr lang="en-US" i="1" dirty="0" smtClean="0"/>
              <a:t> you answer the </a:t>
            </a:r>
            <a:r>
              <a:rPr lang="en-US" i="1" dirty="0" err="1" smtClean="0"/>
              <a:t>call,your</a:t>
            </a:r>
            <a:r>
              <a:rPr lang="en-US" i="1" dirty="0" smtClean="0"/>
              <a:t> phone will be infected by a virus. This virus WILL ERASE all IMEI and IMSI information from both your phone and your SIM card, which will make your phone unable to connect with the telephone network. You will have to buy a new phone. This information has been confirmed by both Motorola and Nokia. There are over 3 Million mobile phones being infected by this virus in all around the world now. You can also check this news in the CNN web site.</a:t>
            </a:r>
            <a:br>
              <a:rPr lang="en-US" i="1" dirty="0" smtClean="0"/>
            </a:br>
            <a:r>
              <a:rPr lang="en-US" dirty="0" smtClean="0"/>
              <a:t/>
            </a:r>
            <a:br>
              <a:rPr lang="en-US" dirty="0" smtClean="0"/>
            </a:br>
            <a:r>
              <a:rPr lang="en-US" dirty="0" smtClean="0"/>
              <a:t>PLEASE FORWARD THIS PIECE OF INFORMATION TO ALL YOUR FRIENDS HAVING A MOBILE PHONE.</a:t>
            </a:r>
            <a:br>
              <a:rPr lang="en-US" dirty="0" smtClean="0"/>
            </a:br>
            <a:endParaRPr lang="en-US" dirty="0" smtClean="0"/>
          </a:p>
          <a:p>
            <a:endParaRPr lang="en-US" dirty="0"/>
          </a:p>
        </p:txBody>
      </p:sp>
    </p:spTree>
    <p:extLst>
      <p:ext uri="{BB962C8B-B14F-4D97-AF65-F5344CB8AC3E}">
        <p14:creationId xmlns:p14="http://schemas.microsoft.com/office/powerpoint/2010/main" val="29795435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7" y="0"/>
            <a:ext cx="10515600" cy="1325563"/>
          </a:xfrm>
        </p:spPr>
        <p:txBody>
          <a:bodyPr>
            <a:normAutofit/>
          </a:bodyPr>
          <a:lstStyle/>
          <a:p>
            <a:r>
              <a:rPr lang="en-US" dirty="0" smtClean="0"/>
              <a:t>How to protect from mobile malware attacks</a:t>
            </a:r>
            <a:endParaRPr lang="en-US" dirty="0"/>
          </a:p>
        </p:txBody>
      </p:sp>
      <p:sp>
        <p:nvSpPr>
          <p:cNvPr id="3" name="Content Placeholder 2"/>
          <p:cNvSpPr>
            <a:spLocks noGrp="1"/>
          </p:cNvSpPr>
          <p:nvPr>
            <p:ph idx="1"/>
          </p:nvPr>
        </p:nvSpPr>
        <p:spPr>
          <a:xfrm>
            <a:off x="1676400" y="1511300"/>
            <a:ext cx="10515600" cy="4351338"/>
          </a:xfrm>
        </p:spPr>
        <p:txBody>
          <a:bodyPr/>
          <a:lstStyle/>
          <a:p>
            <a:pPr>
              <a:buNone/>
            </a:pPr>
            <a:r>
              <a:rPr lang="en-US" dirty="0" smtClean="0"/>
              <a:t>Following are some tips to protect mobile platform malware attacks.</a:t>
            </a:r>
          </a:p>
          <a:p>
            <a:endParaRPr lang="en-US" dirty="0" smtClean="0"/>
          </a:p>
          <a:p>
            <a:r>
              <a:rPr lang="en-US" dirty="0" smtClean="0"/>
              <a:t>Download or accept programs and content only from a trusted source</a:t>
            </a:r>
          </a:p>
          <a:p>
            <a:r>
              <a:rPr lang="en-US" dirty="0" smtClean="0"/>
              <a:t>Turn off </a:t>
            </a:r>
            <a:r>
              <a:rPr lang="en-US" dirty="0" err="1" smtClean="0"/>
              <a:t>bluetooth</a:t>
            </a:r>
            <a:r>
              <a:rPr lang="en-US" dirty="0" smtClean="0"/>
              <a:t> or set it to non-discoverable when not in use</a:t>
            </a:r>
          </a:p>
          <a:p>
            <a:r>
              <a:rPr lang="en-US" dirty="0" smtClean="0"/>
              <a:t>Receive IR ( Infra Red) beams only from trusted source</a:t>
            </a:r>
          </a:p>
          <a:p>
            <a:r>
              <a:rPr lang="en-US" dirty="0" smtClean="0"/>
              <a:t>Install antivirus software for mobile devices.</a:t>
            </a:r>
            <a:endParaRPr lang="en-US" dirty="0"/>
          </a:p>
        </p:txBody>
      </p:sp>
    </p:spTree>
    <p:extLst>
      <p:ext uri="{BB962C8B-B14F-4D97-AF65-F5344CB8AC3E}">
        <p14:creationId xmlns:p14="http://schemas.microsoft.com/office/powerpoint/2010/main" val="277395709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914400"/>
          </a:xfrm>
        </p:spPr>
        <p:txBody>
          <a:bodyPr/>
          <a:lstStyle/>
          <a:p>
            <a:r>
              <a:rPr lang="en-US" dirty="0" smtClean="0"/>
              <a:t>3. </a:t>
            </a:r>
            <a:r>
              <a:rPr lang="en-US" dirty="0" err="1" smtClean="0"/>
              <a:t>Mishing</a:t>
            </a:r>
            <a:endParaRPr lang="en-US" dirty="0"/>
          </a:p>
        </p:txBody>
      </p:sp>
      <p:sp>
        <p:nvSpPr>
          <p:cNvPr id="3" name="Content Placeholder 2"/>
          <p:cNvSpPr>
            <a:spLocks noGrp="1"/>
          </p:cNvSpPr>
          <p:nvPr>
            <p:ph idx="1"/>
          </p:nvPr>
        </p:nvSpPr>
        <p:spPr>
          <a:xfrm>
            <a:off x="1866900" y="1524000"/>
            <a:ext cx="8458200" cy="5334000"/>
          </a:xfrm>
        </p:spPr>
        <p:txBody>
          <a:bodyPr>
            <a:normAutofit fontScale="92500" lnSpcReduction="20000"/>
          </a:bodyPr>
          <a:lstStyle/>
          <a:p>
            <a:r>
              <a:rPr lang="en-US" dirty="0" smtClean="0"/>
              <a:t>'</a:t>
            </a:r>
            <a:r>
              <a:rPr lang="en-US" dirty="0" err="1" smtClean="0"/>
              <a:t>Mishing</a:t>
            </a:r>
            <a:r>
              <a:rPr lang="en-US" dirty="0" smtClean="0"/>
              <a:t>' is a combination of the words mobile phone and phishing. </a:t>
            </a:r>
          </a:p>
          <a:p>
            <a:r>
              <a:rPr lang="en-US" dirty="0" err="1" smtClean="0"/>
              <a:t>Mishing</a:t>
            </a:r>
            <a:r>
              <a:rPr lang="en-US" dirty="0" smtClean="0"/>
              <a:t> is very similar to phishing—the only difference is the technology. </a:t>
            </a:r>
          </a:p>
          <a:p>
            <a:r>
              <a:rPr lang="en-US" dirty="0" smtClean="0"/>
              <a:t>Phishing(</a:t>
            </a:r>
            <a:r>
              <a:rPr lang="en-US" dirty="0" err="1" smtClean="0"/>
              <a:t>wikipedia</a:t>
            </a:r>
            <a:r>
              <a:rPr lang="en-US" dirty="0" smtClean="0"/>
              <a:t>) : It is the criminally fraudulent process of attempting to acquire sensitive  information such as usernames , passwords and credit card details by masquerading as a trustworthy entity in an electronic communication. </a:t>
            </a:r>
          </a:p>
          <a:p>
            <a:r>
              <a:rPr lang="en-US" dirty="0" smtClean="0"/>
              <a:t>Phishing involves the use of emails to trick you into providing your personal details, whereas </a:t>
            </a:r>
            <a:r>
              <a:rPr lang="en-US" dirty="0" err="1" smtClean="0"/>
              <a:t>mishing</a:t>
            </a:r>
            <a:r>
              <a:rPr lang="en-US" dirty="0" smtClean="0"/>
              <a:t> involves mobile phones. </a:t>
            </a:r>
          </a:p>
          <a:p>
            <a:r>
              <a:rPr lang="en-US" dirty="0" smtClean="0"/>
              <a:t>If you use your mobile phone for purchasing goods and services and convenient banking, you could be more vulnerable to a </a:t>
            </a:r>
            <a:r>
              <a:rPr lang="en-US" dirty="0" err="1" smtClean="0"/>
              <a:t>mishing</a:t>
            </a:r>
            <a:r>
              <a:rPr lang="en-US" dirty="0" smtClean="0"/>
              <a:t> scam.</a:t>
            </a:r>
            <a:endParaRPr lang="en-US" dirty="0"/>
          </a:p>
        </p:txBody>
      </p:sp>
    </p:spTree>
    <p:extLst>
      <p:ext uri="{BB962C8B-B14F-4D97-AF65-F5344CB8AC3E}">
        <p14:creationId xmlns:p14="http://schemas.microsoft.com/office/powerpoint/2010/main" val="106667128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22238"/>
            <a:ext cx="10515600" cy="1325563"/>
          </a:xfrm>
        </p:spPr>
        <p:txBody>
          <a:bodyPr/>
          <a:lstStyle/>
          <a:p>
            <a:r>
              <a:rPr lang="en-US" dirty="0" smtClean="0"/>
              <a:t>Variants of </a:t>
            </a:r>
            <a:r>
              <a:rPr lang="en-US" dirty="0" err="1" smtClean="0"/>
              <a:t>Mishing</a:t>
            </a:r>
            <a:endParaRPr lang="en-US" dirty="0"/>
          </a:p>
        </p:txBody>
      </p:sp>
      <p:sp>
        <p:nvSpPr>
          <p:cNvPr id="3" name="Content Placeholder 2"/>
          <p:cNvSpPr>
            <a:spLocks noGrp="1"/>
          </p:cNvSpPr>
          <p:nvPr>
            <p:ph idx="1"/>
          </p:nvPr>
        </p:nvSpPr>
        <p:spPr>
          <a:xfrm>
            <a:off x="1509713" y="1597025"/>
            <a:ext cx="10515600" cy="4351338"/>
          </a:xfrm>
        </p:spPr>
        <p:txBody>
          <a:bodyPr/>
          <a:lstStyle/>
          <a:p>
            <a:endParaRPr lang="en-US" dirty="0" smtClean="0"/>
          </a:p>
          <a:p>
            <a:r>
              <a:rPr lang="en-US" dirty="0" err="1" smtClean="0"/>
              <a:t>Vishing</a:t>
            </a:r>
            <a:r>
              <a:rPr lang="en-US" dirty="0" smtClean="0"/>
              <a:t>  : </a:t>
            </a:r>
            <a:r>
              <a:rPr lang="en-US" dirty="0" err="1" smtClean="0"/>
              <a:t>Mishing</a:t>
            </a:r>
            <a:r>
              <a:rPr lang="en-US" dirty="0" smtClean="0"/>
              <a:t> attacker makes call for phishing</a:t>
            </a:r>
          </a:p>
          <a:p>
            <a:endParaRPr lang="en-US" dirty="0" smtClean="0"/>
          </a:p>
          <a:p>
            <a:r>
              <a:rPr lang="en-US" dirty="0" err="1" smtClean="0"/>
              <a:t>Smishing</a:t>
            </a:r>
            <a:r>
              <a:rPr lang="en-US" dirty="0" smtClean="0"/>
              <a:t>: </a:t>
            </a:r>
            <a:r>
              <a:rPr lang="en-US" dirty="0" err="1" smtClean="0"/>
              <a:t>Mishing</a:t>
            </a:r>
            <a:r>
              <a:rPr lang="en-US" dirty="0" smtClean="0"/>
              <a:t> attacker sends SMS for phishing</a:t>
            </a:r>
            <a:endParaRPr lang="en-US" dirty="0"/>
          </a:p>
        </p:txBody>
      </p:sp>
    </p:spTree>
    <p:extLst>
      <p:ext uri="{BB962C8B-B14F-4D97-AF65-F5344CB8AC3E}">
        <p14:creationId xmlns:p14="http://schemas.microsoft.com/office/powerpoint/2010/main" val="363048101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lstStyle/>
          <a:p>
            <a:r>
              <a:rPr lang="en-US" dirty="0" err="1" smtClean="0"/>
              <a:t>Vishing</a:t>
            </a:r>
            <a:r>
              <a:rPr lang="en-US" dirty="0" smtClean="0"/>
              <a:t> </a:t>
            </a:r>
            <a:endParaRPr lang="en-US" dirty="0"/>
          </a:p>
        </p:txBody>
      </p:sp>
      <p:sp>
        <p:nvSpPr>
          <p:cNvPr id="3" name="Content Placeholder 2"/>
          <p:cNvSpPr>
            <a:spLocks noGrp="1"/>
          </p:cNvSpPr>
          <p:nvPr>
            <p:ph idx="1"/>
          </p:nvPr>
        </p:nvSpPr>
        <p:spPr>
          <a:xfrm>
            <a:off x="1743075" y="1466850"/>
            <a:ext cx="10301288" cy="4389120"/>
          </a:xfrm>
        </p:spPr>
        <p:txBody>
          <a:bodyPr>
            <a:normAutofit fontScale="92500"/>
          </a:bodyPr>
          <a:lstStyle/>
          <a:p>
            <a:pPr algn="just"/>
            <a:r>
              <a:rPr lang="en-US" dirty="0" smtClean="0"/>
              <a:t>The term "</a:t>
            </a:r>
            <a:r>
              <a:rPr lang="en-US" dirty="0" err="1" smtClean="0"/>
              <a:t>vishing</a:t>
            </a:r>
            <a:r>
              <a:rPr lang="en-US" dirty="0" smtClean="0"/>
              <a:t>" is a socially engineered technique for stealing information or money from consumers using the telephone network. </a:t>
            </a:r>
          </a:p>
          <a:p>
            <a:pPr algn="just"/>
            <a:r>
              <a:rPr lang="en-US" dirty="0" smtClean="0"/>
              <a:t>The term comes from combining "voice" with "phishing," which are online scams that get people to give up personal information.</a:t>
            </a:r>
          </a:p>
          <a:p>
            <a:pPr algn="just"/>
            <a:r>
              <a:rPr lang="en-US" dirty="0" err="1" smtClean="0"/>
              <a:t>Vishing</a:t>
            </a:r>
            <a:r>
              <a:rPr lang="en-US" dirty="0" smtClean="0"/>
              <a:t> is very similar to phishing—the only difference is the technology. </a:t>
            </a:r>
          </a:p>
          <a:p>
            <a:pPr algn="just"/>
            <a:r>
              <a:rPr lang="en-US" dirty="0" err="1" smtClean="0"/>
              <a:t>Vishing</a:t>
            </a:r>
            <a:r>
              <a:rPr lang="en-US" dirty="0" smtClean="0"/>
              <a:t> involves voice or telephone services. If you use a Voice over Internet Protocol (VoIP) phone service, you are particularly vulnerable to a </a:t>
            </a:r>
            <a:r>
              <a:rPr lang="en-US" dirty="0" err="1" smtClean="0"/>
              <a:t>vishing</a:t>
            </a:r>
            <a:r>
              <a:rPr lang="en-US" dirty="0" smtClean="0"/>
              <a:t> scam. </a:t>
            </a:r>
          </a:p>
          <a:p>
            <a:pPr algn="just"/>
            <a:r>
              <a:rPr lang="en-US" dirty="0" err="1" smtClean="0"/>
              <a:t>Vishing</a:t>
            </a:r>
            <a:r>
              <a:rPr lang="en-US" dirty="0" smtClean="0"/>
              <a:t> is usually used to steal credit card numbers or other related data used in ID theft schemes from individuals.</a:t>
            </a:r>
          </a:p>
        </p:txBody>
      </p:sp>
    </p:spTree>
    <p:extLst>
      <p:ext uri="{BB962C8B-B14F-4D97-AF65-F5344CB8AC3E}">
        <p14:creationId xmlns:p14="http://schemas.microsoft.com/office/powerpoint/2010/main" val="294973366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1163" y="104775"/>
            <a:ext cx="10077450" cy="1143000"/>
          </a:xfrm>
        </p:spPr>
        <p:txBody>
          <a:bodyPr>
            <a:normAutofit fontScale="90000"/>
          </a:bodyPr>
          <a:lstStyle/>
          <a:p>
            <a:r>
              <a:rPr lang="en-US" dirty="0" smtClean="0"/>
              <a:t>Profitable uses of the information gained through a </a:t>
            </a:r>
            <a:r>
              <a:rPr lang="en-US" dirty="0" err="1" smtClean="0"/>
              <a:t>Vishing</a:t>
            </a:r>
            <a:r>
              <a:rPr lang="en-US" dirty="0" smtClean="0"/>
              <a:t> attack include:</a:t>
            </a:r>
            <a:endParaRPr lang="en-US" dirty="0"/>
          </a:p>
        </p:txBody>
      </p:sp>
      <p:sp>
        <p:nvSpPr>
          <p:cNvPr id="3" name="Content Placeholder 2"/>
          <p:cNvSpPr>
            <a:spLocks noGrp="1"/>
          </p:cNvSpPr>
          <p:nvPr>
            <p:ph idx="1"/>
          </p:nvPr>
        </p:nvSpPr>
        <p:spPr>
          <a:xfrm>
            <a:off x="1681163" y="1578292"/>
            <a:ext cx="8229600" cy="4389120"/>
          </a:xfrm>
        </p:spPr>
        <p:txBody>
          <a:bodyPr/>
          <a:lstStyle/>
          <a:p>
            <a:r>
              <a:rPr lang="en-US" dirty="0" smtClean="0"/>
              <a:t>ID theft</a:t>
            </a:r>
          </a:p>
          <a:p>
            <a:r>
              <a:rPr lang="en-US" dirty="0" smtClean="0"/>
              <a:t>Purchasing luxury goods and services</a:t>
            </a:r>
          </a:p>
          <a:p>
            <a:r>
              <a:rPr lang="en-US" dirty="0" smtClean="0"/>
              <a:t>Transferring money/ funds</a:t>
            </a:r>
          </a:p>
          <a:p>
            <a:r>
              <a:rPr lang="en-US" dirty="0" smtClean="0"/>
              <a:t>Monitoring the victims bank accounts</a:t>
            </a:r>
          </a:p>
          <a:p>
            <a:r>
              <a:rPr lang="en-US" dirty="0" smtClean="0"/>
              <a:t>Making applications for loans and credit cards</a:t>
            </a:r>
            <a:endParaRPr lang="en-US" dirty="0"/>
          </a:p>
        </p:txBody>
      </p:sp>
    </p:spTree>
    <p:extLst>
      <p:ext uri="{BB962C8B-B14F-4D97-AF65-F5344CB8AC3E}">
        <p14:creationId xmlns:p14="http://schemas.microsoft.com/office/powerpoint/2010/main" val="14868520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How </a:t>
            </a:r>
            <a:r>
              <a:rPr lang="en-US" dirty="0" err="1" smtClean="0"/>
              <a:t>Vishing</a:t>
            </a:r>
            <a:r>
              <a:rPr lang="en-US" dirty="0" smtClean="0"/>
              <a:t> works?</a:t>
            </a:r>
            <a:endParaRPr lang="en-US" dirty="0"/>
          </a:p>
        </p:txBody>
      </p:sp>
      <p:sp>
        <p:nvSpPr>
          <p:cNvPr id="3" name="Content Placeholder 2"/>
          <p:cNvSpPr>
            <a:spLocks noGrp="1"/>
          </p:cNvSpPr>
          <p:nvPr>
            <p:ph idx="1"/>
          </p:nvPr>
        </p:nvSpPr>
        <p:spPr>
          <a:xfrm>
            <a:off x="1676400" y="1325563"/>
            <a:ext cx="10515600" cy="4351338"/>
          </a:xfrm>
        </p:spPr>
        <p:txBody>
          <a:bodyPr>
            <a:normAutofit/>
          </a:bodyPr>
          <a:lstStyle/>
          <a:p>
            <a:pPr algn="just"/>
            <a:r>
              <a:rPr lang="en-US" dirty="0" smtClean="0"/>
              <a:t>a </a:t>
            </a:r>
            <a:r>
              <a:rPr lang="en-US" dirty="0" err="1" smtClean="0"/>
              <a:t>vishing</a:t>
            </a:r>
            <a:r>
              <a:rPr lang="en-US" dirty="0" smtClean="0"/>
              <a:t> perpetrator (</a:t>
            </a:r>
            <a:r>
              <a:rPr lang="en-US" dirty="0" err="1" smtClean="0"/>
              <a:t>visher</a:t>
            </a:r>
            <a:r>
              <a:rPr lang="en-US" dirty="0" smtClean="0"/>
              <a:t>) may gain access to a group of private customer phone numbers.</a:t>
            </a:r>
          </a:p>
          <a:p>
            <a:pPr algn="just"/>
            <a:r>
              <a:rPr lang="en-US" dirty="0" smtClean="0"/>
              <a:t>The </a:t>
            </a:r>
            <a:r>
              <a:rPr lang="en-US" dirty="0" err="1" smtClean="0"/>
              <a:t>visher</a:t>
            </a:r>
            <a:r>
              <a:rPr lang="en-US" dirty="0" smtClean="0"/>
              <a:t> may then call the group(may use war dialer) </a:t>
            </a:r>
          </a:p>
          <a:p>
            <a:pPr algn="just"/>
            <a:r>
              <a:rPr lang="en-US" dirty="0" smtClean="0"/>
              <a:t>When a potential victim answers the phone, he or she hears an automated recording informing him that his bank account has been compromised. </a:t>
            </a:r>
          </a:p>
          <a:p>
            <a:pPr algn="just"/>
            <a:r>
              <a:rPr lang="en-US" dirty="0" smtClean="0"/>
              <a:t>He then calls the specified toll-free number to reset his security settings and hears another automated message requesting the user’s bank account number and/or other personal details via the phone keypad.. </a:t>
            </a:r>
          </a:p>
        </p:txBody>
      </p:sp>
    </p:spTree>
    <p:extLst>
      <p:ext uri="{BB962C8B-B14F-4D97-AF65-F5344CB8AC3E}">
        <p14:creationId xmlns:p14="http://schemas.microsoft.com/office/powerpoint/2010/main" val="106126114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lstStyle/>
          <a:p>
            <a:r>
              <a:rPr lang="en-IN" dirty="0" smtClean="0"/>
              <a:t>Some examples</a:t>
            </a:r>
            <a:endParaRPr lang="en-IN" dirty="0"/>
          </a:p>
        </p:txBody>
      </p:sp>
      <p:sp>
        <p:nvSpPr>
          <p:cNvPr id="3" name="Content Placeholder 2"/>
          <p:cNvSpPr>
            <a:spLocks noGrp="1"/>
          </p:cNvSpPr>
          <p:nvPr>
            <p:ph idx="1"/>
          </p:nvPr>
        </p:nvSpPr>
        <p:spPr>
          <a:xfrm>
            <a:off x="1638299" y="1409700"/>
            <a:ext cx="9934575" cy="5334000"/>
          </a:xfrm>
        </p:spPr>
        <p:txBody>
          <a:bodyPr>
            <a:normAutofit/>
          </a:bodyPr>
          <a:lstStyle/>
          <a:p>
            <a:pPr algn="just"/>
            <a:r>
              <a:rPr lang="en-IN" dirty="0" smtClean="0"/>
              <a:t>1. Automated Message: Thank you for calling ( name of local bank). Your business is important to us. To help you reach the correct representative and answer your query fully, please press the appropriate number on your handset after listening voicemail, are as follow  </a:t>
            </a:r>
          </a:p>
          <a:p>
            <a:pPr algn="just"/>
            <a:r>
              <a:rPr lang="en-IN" dirty="0" smtClean="0"/>
              <a:t>Press 1 if you need to check your banking details and live balance .</a:t>
            </a:r>
          </a:p>
          <a:p>
            <a:pPr algn="just"/>
            <a:r>
              <a:rPr lang="en-IN" dirty="0" smtClean="0"/>
              <a:t>Press 2 if you wish to transfer funds.</a:t>
            </a:r>
          </a:p>
          <a:p>
            <a:pPr algn="just"/>
            <a:r>
              <a:rPr lang="en-IN" dirty="0" smtClean="0"/>
              <a:t>2. Regardless of what the victim enters, the automated system prompts him to authenticate himself.  To proceed further, we require that you authenticate your ID before proceeding. Please type your bank account number. Etc.</a:t>
            </a:r>
            <a:endParaRPr lang="en-IN" dirty="0"/>
          </a:p>
        </p:txBody>
      </p:sp>
    </p:spTree>
    <p:extLst>
      <p:ext uri="{BB962C8B-B14F-4D97-AF65-F5344CB8AC3E}">
        <p14:creationId xmlns:p14="http://schemas.microsoft.com/office/powerpoint/2010/main" val="185051837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8" y="0"/>
            <a:ext cx="10515600" cy="1325563"/>
          </a:xfrm>
        </p:spPr>
        <p:txBody>
          <a:bodyPr>
            <a:normAutofit/>
          </a:bodyPr>
          <a:lstStyle/>
          <a:p>
            <a:r>
              <a:rPr lang="en-US" dirty="0" smtClean="0"/>
              <a:t>How to protect from </a:t>
            </a:r>
            <a:r>
              <a:rPr lang="en-US" dirty="0" err="1" smtClean="0"/>
              <a:t>Vishing</a:t>
            </a:r>
            <a:r>
              <a:rPr lang="en-US" dirty="0" smtClean="0"/>
              <a:t> attack?</a:t>
            </a:r>
            <a:endParaRPr lang="en-US" dirty="0"/>
          </a:p>
        </p:txBody>
      </p:sp>
      <p:sp>
        <p:nvSpPr>
          <p:cNvPr id="3" name="Content Placeholder 2"/>
          <p:cNvSpPr>
            <a:spLocks noGrp="1"/>
          </p:cNvSpPr>
          <p:nvPr>
            <p:ph idx="1"/>
          </p:nvPr>
        </p:nvSpPr>
        <p:spPr>
          <a:xfrm>
            <a:off x="1538288" y="1597025"/>
            <a:ext cx="10515600" cy="4351338"/>
          </a:xfrm>
        </p:spPr>
        <p:txBody>
          <a:bodyPr/>
          <a:lstStyle/>
          <a:p>
            <a:r>
              <a:rPr lang="en-US" b="1" dirty="0" smtClean="0"/>
              <a:t>Be suspicious of all unknown callers</a:t>
            </a:r>
          </a:p>
          <a:p>
            <a:r>
              <a:rPr lang="en-US" b="1" dirty="0" smtClean="0"/>
              <a:t>Don't trust caller ID</a:t>
            </a:r>
            <a:r>
              <a:rPr lang="en-US" dirty="0" smtClean="0"/>
              <a:t>: caller ID spoofing is easy</a:t>
            </a:r>
          </a:p>
          <a:p>
            <a:r>
              <a:rPr lang="en-US" b="1" dirty="0" smtClean="0"/>
              <a:t>Ask questions</a:t>
            </a:r>
            <a:r>
              <a:rPr lang="en-US" dirty="0" smtClean="0"/>
              <a:t>: ask them to identify who they work for, and then check them out to see if they are legitimate.</a:t>
            </a:r>
          </a:p>
          <a:p>
            <a:r>
              <a:rPr lang="en-US" b="1" dirty="0" smtClean="0"/>
              <a:t>Call them back</a:t>
            </a:r>
            <a:r>
              <a:rPr lang="en-US" dirty="0" smtClean="0"/>
              <a:t>: call them back using a number from your bill or your card. Never provide credit card information or other private information to anyone who calls you</a:t>
            </a:r>
          </a:p>
          <a:p>
            <a:r>
              <a:rPr lang="en-US" b="1" dirty="0" smtClean="0"/>
              <a:t>Report incidents</a:t>
            </a:r>
            <a:r>
              <a:rPr lang="en-US" dirty="0" smtClean="0"/>
              <a:t>: to nearest  </a:t>
            </a:r>
            <a:r>
              <a:rPr lang="en-US" dirty="0" err="1" smtClean="0"/>
              <a:t>cyberpolice</a:t>
            </a:r>
            <a:r>
              <a:rPr lang="en-US" dirty="0" smtClean="0"/>
              <a:t> cell.</a:t>
            </a:r>
            <a:endParaRPr lang="en-US" dirty="0"/>
          </a:p>
        </p:txBody>
      </p:sp>
    </p:spTree>
    <p:extLst>
      <p:ext uri="{BB962C8B-B14F-4D97-AF65-F5344CB8AC3E}">
        <p14:creationId xmlns:p14="http://schemas.microsoft.com/office/powerpoint/2010/main" val="118856570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43000"/>
          </a:xfrm>
        </p:spPr>
        <p:txBody>
          <a:bodyPr/>
          <a:lstStyle/>
          <a:p>
            <a:r>
              <a:rPr lang="en-US" dirty="0" err="1" smtClean="0"/>
              <a:t>Smishing</a:t>
            </a:r>
            <a:r>
              <a:rPr lang="en-US" dirty="0" smtClean="0"/>
              <a:t> </a:t>
            </a:r>
            <a:endParaRPr lang="en-US" dirty="0"/>
          </a:p>
        </p:txBody>
      </p:sp>
      <p:sp>
        <p:nvSpPr>
          <p:cNvPr id="3" name="Content Placeholder 2"/>
          <p:cNvSpPr>
            <a:spLocks noGrp="1"/>
          </p:cNvSpPr>
          <p:nvPr>
            <p:ph idx="1"/>
          </p:nvPr>
        </p:nvSpPr>
        <p:spPr>
          <a:xfrm>
            <a:off x="1790699" y="1524000"/>
            <a:ext cx="10196513" cy="5334000"/>
          </a:xfrm>
        </p:spPr>
        <p:txBody>
          <a:bodyPr/>
          <a:lstStyle/>
          <a:p>
            <a:r>
              <a:rPr lang="en-US" dirty="0" smtClean="0"/>
              <a:t>Short for SMS Phishing, </a:t>
            </a:r>
            <a:r>
              <a:rPr lang="en-US" dirty="0" err="1" smtClean="0"/>
              <a:t>smishing</a:t>
            </a:r>
            <a:r>
              <a:rPr lang="en-US" dirty="0" smtClean="0"/>
              <a:t> is a variant of phishing email scams that instead utilizes Short Message Service (SMS) systems to send bogus text messages. </a:t>
            </a:r>
          </a:p>
          <a:p>
            <a:r>
              <a:rPr lang="en-US" dirty="0" smtClean="0"/>
              <a:t>Also written as </a:t>
            </a:r>
            <a:r>
              <a:rPr lang="en-US" dirty="0" err="1" smtClean="0"/>
              <a:t>SMiShing</a:t>
            </a:r>
            <a:r>
              <a:rPr lang="en-US" dirty="0" smtClean="0"/>
              <a:t>, SMS phishing made recent headlines when a vulnerability in the iPhone's SMS text messaging system was discovered that made </a:t>
            </a:r>
            <a:r>
              <a:rPr lang="en-US" dirty="0" err="1" smtClean="0"/>
              <a:t>smishing</a:t>
            </a:r>
            <a:r>
              <a:rPr lang="en-US" dirty="0" smtClean="0"/>
              <a:t> on the mobile device possible.</a:t>
            </a:r>
          </a:p>
          <a:p>
            <a:endParaRPr lang="en-US" dirty="0"/>
          </a:p>
        </p:txBody>
      </p:sp>
    </p:spTree>
    <p:extLst>
      <p:ext uri="{BB962C8B-B14F-4D97-AF65-F5344CB8AC3E}">
        <p14:creationId xmlns:p14="http://schemas.microsoft.com/office/powerpoint/2010/main" val="405277812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713" y="107950"/>
            <a:ext cx="10515600" cy="1325563"/>
          </a:xfrm>
        </p:spPr>
        <p:txBody>
          <a:bodyPr/>
          <a:lstStyle/>
          <a:p>
            <a:r>
              <a:rPr lang="en-US" dirty="0" smtClean="0"/>
              <a:t>How </a:t>
            </a:r>
            <a:r>
              <a:rPr lang="en-US" dirty="0" err="1" smtClean="0"/>
              <a:t>smishing</a:t>
            </a:r>
            <a:r>
              <a:rPr lang="en-US" dirty="0" smtClean="0"/>
              <a:t> works?</a:t>
            </a:r>
            <a:endParaRPr lang="en-US" dirty="0"/>
          </a:p>
        </p:txBody>
      </p:sp>
      <p:sp>
        <p:nvSpPr>
          <p:cNvPr id="3" name="Content Placeholder 2"/>
          <p:cNvSpPr>
            <a:spLocks noGrp="1"/>
          </p:cNvSpPr>
          <p:nvPr>
            <p:ph idx="1"/>
          </p:nvPr>
        </p:nvSpPr>
        <p:spPr>
          <a:xfrm>
            <a:off x="1509713" y="1554163"/>
            <a:ext cx="10515600" cy="4351338"/>
          </a:xfrm>
        </p:spPr>
        <p:txBody>
          <a:bodyPr/>
          <a:lstStyle/>
          <a:p>
            <a:pPr algn="just"/>
            <a:r>
              <a:rPr lang="en-US" dirty="0" err="1" smtClean="0"/>
              <a:t>Smishing</a:t>
            </a:r>
            <a:r>
              <a:rPr lang="en-US" dirty="0" smtClean="0"/>
              <a:t> scams frequently seek to direct the text message recipient to visit a website or call a phone number, at which point the person being scammed is enticed to provide sensitive information such as credit card details or passwords. </a:t>
            </a:r>
          </a:p>
          <a:p>
            <a:pPr algn="just"/>
            <a:r>
              <a:rPr lang="en-US" dirty="0" err="1" smtClean="0"/>
              <a:t>Smishing</a:t>
            </a:r>
            <a:r>
              <a:rPr lang="en-US" dirty="0" smtClean="0"/>
              <a:t> websites are also known to attempt to infect the person's computer with </a:t>
            </a:r>
            <a:r>
              <a:rPr lang="en-US" dirty="0" smtClean="0">
                <a:hlinkClick r:id="rId2"/>
              </a:rPr>
              <a:t>malware</a:t>
            </a:r>
            <a:r>
              <a:rPr lang="en-US" dirty="0" smtClean="0"/>
              <a:t>.</a:t>
            </a:r>
            <a:endParaRPr lang="en-US" dirty="0"/>
          </a:p>
        </p:txBody>
      </p:sp>
    </p:spTree>
    <p:extLst>
      <p:ext uri="{BB962C8B-B14F-4D97-AF65-F5344CB8AC3E}">
        <p14:creationId xmlns:p14="http://schemas.microsoft.com/office/powerpoint/2010/main" val="378461509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2575" y="0"/>
            <a:ext cx="10515600" cy="1325563"/>
          </a:xfrm>
        </p:spPr>
        <p:txBody>
          <a:bodyPr/>
          <a:lstStyle/>
          <a:p>
            <a:r>
              <a:rPr lang="en-US" dirty="0" smtClean="0"/>
              <a:t>Example </a:t>
            </a:r>
            <a:endParaRPr lang="en-US" dirty="0"/>
          </a:p>
        </p:txBody>
      </p:sp>
      <p:sp>
        <p:nvSpPr>
          <p:cNvPr id="3" name="Content Placeholder 2"/>
          <p:cNvSpPr>
            <a:spLocks noGrp="1"/>
          </p:cNvSpPr>
          <p:nvPr>
            <p:ph idx="1"/>
          </p:nvPr>
        </p:nvSpPr>
        <p:spPr>
          <a:xfrm>
            <a:off x="1552575" y="1468437"/>
            <a:ext cx="10515600" cy="4351338"/>
          </a:xfrm>
        </p:spPr>
        <p:txBody>
          <a:bodyPr>
            <a:normAutofit/>
          </a:bodyPr>
          <a:lstStyle/>
          <a:p>
            <a:pPr>
              <a:buNone/>
            </a:pPr>
            <a:r>
              <a:rPr lang="en-US" dirty="0" smtClean="0"/>
              <a:t>Text message originating from either </a:t>
            </a:r>
            <a:r>
              <a:rPr lang="en-US" dirty="0" err="1" smtClean="0"/>
              <a:t>notice@jpecu</a:t>
            </a:r>
            <a:r>
              <a:rPr lang="en-US" dirty="0" smtClean="0"/>
              <a:t> or  </a:t>
            </a:r>
            <a:r>
              <a:rPr lang="en-US" dirty="0" err="1" smtClean="0"/>
              <a:t>message@cccu</a:t>
            </a:r>
            <a:r>
              <a:rPr lang="en-US" dirty="0" smtClean="0"/>
              <a:t> : </a:t>
            </a:r>
          </a:p>
          <a:p>
            <a:r>
              <a:rPr lang="en-US" dirty="0" smtClean="0"/>
              <a:t>ABC CU – has –deactivated – your </a:t>
            </a:r>
            <a:r>
              <a:rPr lang="en-US" dirty="0" err="1" smtClean="0"/>
              <a:t>Debit_card</a:t>
            </a:r>
            <a:r>
              <a:rPr lang="en-US" dirty="0" smtClean="0"/>
              <a:t>. To reactivate contact:210957XXXX </a:t>
            </a:r>
          </a:p>
          <a:p>
            <a:pPr>
              <a:buNone/>
            </a:pPr>
            <a:r>
              <a:rPr lang="en-US" dirty="0" smtClean="0"/>
              <a:t>This is an automated message from ABC Bank. </a:t>
            </a:r>
          </a:p>
          <a:p>
            <a:r>
              <a:rPr lang="en-US" dirty="0" smtClean="0"/>
              <a:t>Your ATM card has been suspended. To reactivate call  urgent at  1 866 215 XXXX </a:t>
            </a:r>
          </a:p>
          <a:p>
            <a:pPr>
              <a:buNone/>
            </a:pPr>
            <a:r>
              <a:rPr lang="en-US" dirty="0" smtClean="0"/>
              <a:t>Text message originating from  </a:t>
            </a:r>
            <a:r>
              <a:rPr lang="en-US" dirty="0" smtClean="0">
                <a:hlinkClick r:id="rId2"/>
              </a:rPr>
              <a:t>sms.alert@visa.com</a:t>
            </a:r>
            <a:r>
              <a:rPr lang="en-US" dirty="0" smtClean="0"/>
              <a:t> : </a:t>
            </a:r>
          </a:p>
          <a:p>
            <a:r>
              <a:rPr lang="en-US" dirty="0" smtClean="0">
                <a:hlinkClick r:id="rId3"/>
              </a:rPr>
              <a:t>sms.alert@visa.com/VISA</a:t>
            </a:r>
            <a:r>
              <a:rPr lang="en-US" dirty="0" smtClean="0"/>
              <a:t>. (Card Blocked) Alert. For more information please call 1-877-269-XXXX</a:t>
            </a:r>
          </a:p>
          <a:p>
            <a:endParaRPr lang="en-US" dirty="0"/>
          </a:p>
        </p:txBody>
      </p:sp>
    </p:spTree>
    <p:extLst>
      <p:ext uri="{BB962C8B-B14F-4D97-AF65-F5344CB8AC3E}">
        <p14:creationId xmlns:p14="http://schemas.microsoft.com/office/powerpoint/2010/main" val="378413924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713" y="0"/>
            <a:ext cx="10515600" cy="1325563"/>
          </a:xfrm>
        </p:spPr>
        <p:txBody>
          <a:bodyPr>
            <a:normAutofit/>
          </a:bodyPr>
          <a:lstStyle/>
          <a:p>
            <a:r>
              <a:rPr lang="en-US" dirty="0" smtClean="0"/>
              <a:t>How to protect from </a:t>
            </a:r>
            <a:r>
              <a:rPr lang="en-US" dirty="0" err="1" smtClean="0"/>
              <a:t>Smishing</a:t>
            </a:r>
            <a:r>
              <a:rPr lang="en-US" dirty="0" smtClean="0"/>
              <a:t> attacks?</a:t>
            </a:r>
            <a:endParaRPr lang="en-US" dirty="0"/>
          </a:p>
        </p:txBody>
      </p:sp>
      <p:sp>
        <p:nvSpPr>
          <p:cNvPr id="3" name="Content Placeholder 2"/>
          <p:cNvSpPr>
            <a:spLocks noGrp="1"/>
          </p:cNvSpPr>
          <p:nvPr>
            <p:ph idx="1"/>
          </p:nvPr>
        </p:nvSpPr>
        <p:spPr>
          <a:xfrm>
            <a:off x="1509713" y="1511300"/>
            <a:ext cx="10515600" cy="4351338"/>
          </a:xfrm>
        </p:spPr>
        <p:txBody>
          <a:bodyPr/>
          <a:lstStyle/>
          <a:p>
            <a:r>
              <a:rPr lang="en-US" dirty="0" smtClean="0"/>
              <a:t>Do not answer a text message that you have received asking for your Personal Information.</a:t>
            </a:r>
          </a:p>
          <a:p>
            <a:endParaRPr lang="en-US" dirty="0" smtClean="0"/>
          </a:p>
          <a:p>
            <a:r>
              <a:rPr lang="en-US" dirty="0" smtClean="0"/>
              <a:t>Avoid calling any phone numbers, as mentioned in the receiving message, to cancel a membership or confirming a transaction which you have not initiated but mentioned in the message.</a:t>
            </a:r>
          </a:p>
          <a:p>
            <a:endParaRPr lang="en-US" dirty="0" smtClean="0"/>
          </a:p>
          <a:p>
            <a:r>
              <a:rPr lang="en-US" dirty="0" smtClean="0"/>
              <a:t>Never click on a hot link received through messages.</a:t>
            </a:r>
            <a:endParaRPr lang="en-US" dirty="0"/>
          </a:p>
        </p:txBody>
      </p:sp>
    </p:spTree>
    <p:extLst>
      <p:ext uri="{BB962C8B-B14F-4D97-AF65-F5344CB8AC3E}">
        <p14:creationId xmlns:p14="http://schemas.microsoft.com/office/powerpoint/2010/main" val="403478125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obile Bluetooth Hacking"/>
          <p:cNvPicPr>
            <a:picLocks noChangeAspect="1" noChangeArrowheads="1"/>
          </p:cNvPicPr>
          <p:nvPr/>
        </p:nvPicPr>
        <p:blipFill>
          <a:blip r:embed="rId2"/>
          <a:srcRect/>
          <a:stretch>
            <a:fillRect/>
          </a:stretch>
        </p:blipFill>
        <p:spPr bwMode="auto">
          <a:xfrm>
            <a:off x="8210550" y="0"/>
            <a:ext cx="1345868" cy="1295400"/>
          </a:xfrm>
          <a:prstGeom prst="rect">
            <a:avLst/>
          </a:prstGeom>
          <a:noFill/>
        </p:spPr>
      </p:pic>
      <p:sp>
        <p:nvSpPr>
          <p:cNvPr id="2" name="Title 1"/>
          <p:cNvSpPr>
            <a:spLocks noGrp="1"/>
          </p:cNvSpPr>
          <p:nvPr>
            <p:ph type="title"/>
          </p:nvPr>
        </p:nvSpPr>
        <p:spPr>
          <a:xfrm>
            <a:off x="1552575" y="236537"/>
            <a:ext cx="10515600" cy="1325563"/>
          </a:xfrm>
        </p:spPr>
        <p:txBody>
          <a:bodyPr/>
          <a:lstStyle/>
          <a:p>
            <a:r>
              <a:rPr lang="en-US" dirty="0" smtClean="0"/>
              <a:t>Hacking </a:t>
            </a:r>
            <a:r>
              <a:rPr lang="en-US" dirty="0" err="1" smtClean="0"/>
              <a:t>bluetooth</a:t>
            </a:r>
            <a:endParaRPr lang="en-US" dirty="0"/>
          </a:p>
        </p:txBody>
      </p:sp>
      <p:sp>
        <p:nvSpPr>
          <p:cNvPr id="3" name="Content Placeholder 2"/>
          <p:cNvSpPr>
            <a:spLocks noGrp="1"/>
          </p:cNvSpPr>
          <p:nvPr>
            <p:ph idx="1"/>
          </p:nvPr>
        </p:nvSpPr>
        <p:spPr>
          <a:xfrm>
            <a:off x="1552575" y="1501774"/>
            <a:ext cx="10515600" cy="4351338"/>
          </a:xfrm>
        </p:spPr>
        <p:txBody>
          <a:bodyPr>
            <a:normAutofit lnSpcReduction="10000"/>
          </a:bodyPr>
          <a:lstStyle/>
          <a:p>
            <a:pPr algn="just"/>
            <a:endParaRPr lang="en-US" dirty="0" smtClean="0"/>
          </a:p>
          <a:p>
            <a:pPr algn="just"/>
            <a:r>
              <a:rPr lang="en-US" dirty="0" smtClean="0"/>
              <a:t>Bluetooth hacking is a technique used to get information from another Bluetooth enabled device without any permissions from the host.</a:t>
            </a:r>
          </a:p>
          <a:p>
            <a:pPr algn="just"/>
            <a:r>
              <a:rPr lang="en-US" dirty="0" smtClean="0"/>
              <a:t>This event takes place due to security flaws in the Bluetooth technology.</a:t>
            </a:r>
          </a:p>
          <a:p>
            <a:pPr algn="just"/>
            <a:r>
              <a:rPr lang="en-US" dirty="0" smtClean="0"/>
              <a:t>It is also known as Bluesnarfing.</a:t>
            </a:r>
          </a:p>
          <a:p>
            <a:pPr algn="just"/>
            <a:r>
              <a:rPr lang="en-US" dirty="0" smtClean="0"/>
              <a:t>Bluetooth hacking is not limited to cell phones, but is also used to hack PDAs, Laptops and desktop computers. </a:t>
            </a:r>
          </a:p>
          <a:p>
            <a:pPr algn="just"/>
            <a:r>
              <a:rPr lang="en-US" dirty="0" smtClean="0"/>
              <a:t>Bluetooth hacking is illegal and can lead to serious consequences. </a:t>
            </a:r>
            <a:endParaRPr lang="en-US" dirty="0"/>
          </a:p>
        </p:txBody>
      </p:sp>
    </p:spTree>
    <p:extLst>
      <p:ext uri="{BB962C8B-B14F-4D97-AF65-F5344CB8AC3E}">
        <p14:creationId xmlns:p14="http://schemas.microsoft.com/office/powerpoint/2010/main" val="273084902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7350" y="119062"/>
            <a:ext cx="10115550" cy="1143000"/>
          </a:xfrm>
        </p:spPr>
        <p:txBody>
          <a:bodyPr>
            <a:noAutofit/>
          </a:bodyPr>
          <a:lstStyle/>
          <a:p>
            <a:r>
              <a:rPr lang="en-US" sz="4000" dirty="0"/>
              <a:t>Following are threats a person can face when his/her mobile phone gets </a:t>
            </a:r>
            <a:r>
              <a:rPr lang="en-US" sz="4000" dirty="0" err="1"/>
              <a:t>bluesnarfed</a:t>
            </a:r>
            <a:r>
              <a:rPr lang="en-US" sz="4000" dirty="0"/>
              <a:t>: </a:t>
            </a:r>
          </a:p>
        </p:txBody>
      </p:sp>
      <p:sp>
        <p:nvSpPr>
          <p:cNvPr id="3" name="Content Placeholder 2"/>
          <p:cNvSpPr>
            <a:spLocks noGrp="1"/>
          </p:cNvSpPr>
          <p:nvPr>
            <p:ph idx="1"/>
          </p:nvPr>
        </p:nvSpPr>
        <p:spPr>
          <a:xfrm>
            <a:off x="1657349" y="1595437"/>
            <a:ext cx="10387013" cy="4465320"/>
          </a:xfrm>
        </p:spPr>
        <p:txBody>
          <a:bodyPr>
            <a:normAutofit fontScale="92500" lnSpcReduction="10000"/>
          </a:bodyPr>
          <a:lstStyle/>
          <a:p>
            <a:r>
              <a:rPr lang="en-US" dirty="0" smtClean="0"/>
              <a:t>The hacker can steal, delete contacts</a:t>
            </a:r>
          </a:p>
          <a:p>
            <a:r>
              <a:rPr lang="en-US" dirty="0" smtClean="0"/>
              <a:t>Hacker can extract personal files/pictures etc</a:t>
            </a:r>
          </a:p>
          <a:p>
            <a:r>
              <a:rPr lang="en-US" dirty="0" smtClean="0"/>
              <a:t>Your cell phone can be used for making calls and using internet at your expense</a:t>
            </a:r>
          </a:p>
          <a:p>
            <a:r>
              <a:rPr lang="en-US" dirty="0" smtClean="0"/>
              <a:t>The hacker may call or text your contacts to annoy them</a:t>
            </a:r>
          </a:p>
          <a:p>
            <a:r>
              <a:rPr lang="en-US" dirty="0" smtClean="0"/>
              <a:t>You mobile phone can be reset to default factory settings hence deleting your personal settings</a:t>
            </a:r>
          </a:p>
          <a:p>
            <a:r>
              <a:rPr lang="en-US" dirty="0" smtClean="0"/>
              <a:t>Hacker can even access your calendar, clock, International Mobile Equipment Identity (IMEI) number. IMEI number can be used to clone your cell phone so that your messages are also routed to another number. Cloning is also considered illegal.</a:t>
            </a:r>
          </a:p>
          <a:p>
            <a:endParaRPr lang="en-US" dirty="0"/>
          </a:p>
        </p:txBody>
      </p:sp>
    </p:spTree>
    <p:extLst>
      <p:ext uri="{BB962C8B-B14F-4D97-AF65-F5344CB8AC3E}">
        <p14:creationId xmlns:p14="http://schemas.microsoft.com/office/powerpoint/2010/main" val="202177095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00038"/>
            <a:ext cx="8229600" cy="762000"/>
          </a:xfrm>
        </p:spPr>
        <p:txBody>
          <a:bodyPr>
            <a:normAutofit/>
          </a:bodyPr>
          <a:lstStyle/>
          <a:p>
            <a:r>
              <a:rPr lang="en-US" dirty="0" smtClean="0"/>
              <a:t>Common attacks</a:t>
            </a:r>
            <a:endParaRPr lang="en-US" dirty="0"/>
          </a:p>
        </p:txBody>
      </p:sp>
      <p:sp>
        <p:nvSpPr>
          <p:cNvPr id="3" name="Content Placeholder 2"/>
          <p:cNvSpPr>
            <a:spLocks noGrp="1"/>
          </p:cNvSpPr>
          <p:nvPr>
            <p:ph idx="1"/>
          </p:nvPr>
        </p:nvSpPr>
        <p:spPr>
          <a:xfrm>
            <a:off x="1695450" y="1447800"/>
            <a:ext cx="10306050" cy="5562600"/>
          </a:xfrm>
        </p:spPr>
        <p:txBody>
          <a:bodyPr/>
          <a:lstStyle/>
          <a:p>
            <a:r>
              <a:rPr lang="en-US" dirty="0" err="1" smtClean="0"/>
              <a:t>Bluejacking</a:t>
            </a:r>
            <a:r>
              <a:rPr lang="en-US" dirty="0" smtClean="0"/>
              <a:t>:  It is sending message over </a:t>
            </a:r>
            <a:r>
              <a:rPr lang="en-US" dirty="0" err="1" smtClean="0"/>
              <a:t>bluetooth</a:t>
            </a:r>
            <a:r>
              <a:rPr lang="en-US" dirty="0" smtClean="0"/>
              <a:t> to </a:t>
            </a:r>
            <a:r>
              <a:rPr lang="en-US" dirty="0" err="1" smtClean="0"/>
              <a:t>bluetooth</a:t>
            </a:r>
            <a:r>
              <a:rPr lang="en-US" dirty="0" smtClean="0"/>
              <a:t>-enabled devices such as mobile phones. For example, sending a visiting card which contains a message in the name field. User sometimes may add it to contacts and a message is sent back automatically. This attack is harmless as users think phone may be malfunctioning.</a:t>
            </a:r>
          </a:p>
          <a:p>
            <a:endParaRPr lang="en-US" dirty="0" smtClean="0"/>
          </a:p>
          <a:p>
            <a:r>
              <a:rPr lang="en-US" dirty="0" err="1" smtClean="0"/>
              <a:t>Bluesnarfing</a:t>
            </a:r>
            <a:r>
              <a:rPr lang="en-US" dirty="0" smtClean="0"/>
              <a:t>: It is unauthorized access and </a:t>
            </a:r>
            <a:r>
              <a:rPr lang="en-US" dirty="0" err="1" smtClean="0"/>
              <a:t>attackes</a:t>
            </a:r>
            <a:r>
              <a:rPr lang="en-US" dirty="0" smtClean="0"/>
              <a:t> are allowed to access </a:t>
            </a:r>
            <a:r>
              <a:rPr lang="en-US" dirty="0" err="1" smtClean="0"/>
              <a:t>calender</a:t>
            </a:r>
            <a:r>
              <a:rPr lang="en-US" dirty="0" smtClean="0"/>
              <a:t>, contact list, SMS and Email, picture and videos.</a:t>
            </a:r>
          </a:p>
        </p:txBody>
      </p:sp>
    </p:spTree>
    <p:extLst>
      <p:ext uri="{BB962C8B-B14F-4D97-AF65-F5344CB8AC3E}">
        <p14:creationId xmlns:p14="http://schemas.microsoft.com/office/powerpoint/2010/main" val="403330098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lstStyle/>
          <a:p>
            <a:endParaRPr lang="en-IN" dirty="0"/>
          </a:p>
        </p:txBody>
      </p:sp>
      <p:sp>
        <p:nvSpPr>
          <p:cNvPr id="3" name="Content Placeholder 2"/>
          <p:cNvSpPr>
            <a:spLocks noGrp="1"/>
          </p:cNvSpPr>
          <p:nvPr>
            <p:ph idx="1"/>
          </p:nvPr>
        </p:nvSpPr>
        <p:spPr>
          <a:xfrm>
            <a:off x="1638299" y="1576388"/>
            <a:ext cx="9948863" cy="4876800"/>
          </a:xfrm>
        </p:spPr>
        <p:txBody>
          <a:bodyPr/>
          <a:lstStyle/>
          <a:p>
            <a:r>
              <a:rPr lang="en-US" dirty="0" err="1" smtClean="0"/>
              <a:t>Bluebugging</a:t>
            </a:r>
            <a:r>
              <a:rPr lang="en-US" dirty="0" smtClean="0"/>
              <a:t>: It allows attackers to remotely access users phone and use its features like listening to calls and in next level they may make calls, send SMS read and write phone book contacts. </a:t>
            </a:r>
          </a:p>
          <a:p>
            <a:endParaRPr lang="en-US" dirty="0" smtClean="0"/>
          </a:p>
          <a:p>
            <a:r>
              <a:rPr lang="en-US" dirty="0" smtClean="0"/>
              <a:t>Car </a:t>
            </a:r>
            <a:r>
              <a:rPr lang="en-US" dirty="0" err="1" smtClean="0"/>
              <a:t>wishper</a:t>
            </a:r>
            <a:r>
              <a:rPr lang="en-US" dirty="0" smtClean="0"/>
              <a:t>: It is a piece of software that allows attackers to send and receive audio files from a Bluetooth enabled car stereo. More serious damage can be done by attackers by disabling airbags or brakes through this kind of attack.</a:t>
            </a:r>
          </a:p>
          <a:p>
            <a:endParaRPr lang="en-IN" dirty="0"/>
          </a:p>
        </p:txBody>
      </p:sp>
    </p:spTree>
    <p:extLst>
      <p:ext uri="{BB962C8B-B14F-4D97-AF65-F5344CB8AC3E}">
        <p14:creationId xmlns:p14="http://schemas.microsoft.com/office/powerpoint/2010/main" val="420162572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endParaRPr lang="en-US" dirty="0"/>
          </a:p>
        </p:txBody>
      </p:sp>
      <p:sp>
        <p:nvSpPr>
          <p:cNvPr id="3" name="Content Placeholder 2"/>
          <p:cNvSpPr>
            <a:spLocks noGrp="1"/>
          </p:cNvSpPr>
          <p:nvPr>
            <p:ph idx="1"/>
          </p:nvPr>
        </p:nvSpPr>
        <p:spPr>
          <a:xfrm>
            <a:off x="1495425" y="1690688"/>
            <a:ext cx="10515600" cy="4351338"/>
          </a:xfrm>
        </p:spPr>
        <p:txBody>
          <a:bodyPr/>
          <a:lstStyle/>
          <a:p>
            <a:r>
              <a:rPr lang="en-US" dirty="0" smtClean="0"/>
              <a:t>The best way to avoid being "Car Whispered" is to simply connect the in-car system to a Bluetooth phone, because only one such device can be connected at a time.</a:t>
            </a:r>
          </a:p>
          <a:p>
            <a:endParaRPr lang="en-US" dirty="0"/>
          </a:p>
        </p:txBody>
      </p:sp>
    </p:spTree>
    <p:extLst>
      <p:ext uri="{BB962C8B-B14F-4D97-AF65-F5344CB8AC3E}">
        <p14:creationId xmlns:p14="http://schemas.microsoft.com/office/powerpoint/2010/main" val="50269569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8287" y="0"/>
            <a:ext cx="10515600" cy="1325563"/>
          </a:xfrm>
        </p:spPr>
        <p:txBody>
          <a:bodyPr/>
          <a:lstStyle/>
          <a:p>
            <a:r>
              <a:rPr lang="en-US" dirty="0" smtClean="0"/>
              <a:t>Common </a:t>
            </a:r>
            <a:r>
              <a:rPr lang="en-US" dirty="0" err="1" smtClean="0"/>
              <a:t>bluetooth</a:t>
            </a:r>
            <a:r>
              <a:rPr lang="en-US" dirty="0" smtClean="0"/>
              <a:t> attack tools</a:t>
            </a:r>
            <a:endParaRPr lang="en-US" dirty="0"/>
          </a:p>
        </p:txBody>
      </p:sp>
      <p:sp>
        <p:nvSpPr>
          <p:cNvPr id="3" name="Content Placeholder 2"/>
          <p:cNvSpPr>
            <a:spLocks noGrp="1"/>
          </p:cNvSpPr>
          <p:nvPr>
            <p:ph idx="1"/>
          </p:nvPr>
        </p:nvSpPr>
        <p:spPr>
          <a:xfrm>
            <a:off x="1676400" y="1597025"/>
            <a:ext cx="10515600" cy="4351338"/>
          </a:xfrm>
        </p:spPr>
        <p:txBody>
          <a:bodyPr/>
          <a:lstStyle/>
          <a:p>
            <a:r>
              <a:rPr lang="en-US" b="1" dirty="0" err="1" smtClean="0"/>
              <a:t>BlueScanner</a:t>
            </a:r>
            <a:endParaRPr lang="en-US" b="1" dirty="0" smtClean="0"/>
          </a:p>
          <a:p>
            <a:r>
              <a:rPr lang="en-US" b="1" dirty="0" err="1" smtClean="0"/>
              <a:t>Bluesnarfer</a:t>
            </a:r>
            <a:endParaRPr lang="en-US" b="1" dirty="0" smtClean="0"/>
          </a:p>
          <a:p>
            <a:r>
              <a:rPr lang="en-US" b="1" dirty="0" err="1" smtClean="0"/>
              <a:t>BlueDiving</a:t>
            </a:r>
            <a:endParaRPr lang="en-US" b="1" dirty="0" smtClean="0"/>
          </a:p>
          <a:p>
            <a:r>
              <a:rPr lang="en-US" b="1" dirty="0" err="1" smtClean="0"/>
              <a:t>BlueBugger</a:t>
            </a:r>
            <a:endParaRPr lang="en-US" b="1" dirty="0" smtClean="0"/>
          </a:p>
          <a:p>
            <a:r>
              <a:rPr lang="en-US" b="1" dirty="0" err="1" smtClean="0"/>
              <a:t>bluesniff</a:t>
            </a:r>
            <a:endParaRPr lang="en-US" b="1" dirty="0" smtClean="0"/>
          </a:p>
          <a:p>
            <a:pPr>
              <a:buNone/>
            </a:pPr>
            <a:endParaRPr lang="en-US" b="1" dirty="0" smtClean="0"/>
          </a:p>
          <a:p>
            <a:endParaRPr lang="en-US" dirty="0"/>
          </a:p>
        </p:txBody>
      </p:sp>
    </p:spTree>
    <p:extLst>
      <p:ext uri="{BB962C8B-B14F-4D97-AF65-F5344CB8AC3E}">
        <p14:creationId xmlns:p14="http://schemas.microsoft.com/office/powerpoint/2010/main" val="226870590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sz="2800" dirty="0" smtClean="0"/>
              <a:t>MOBILE DEVICES: SECURITY IMPLICATIONS FOR ORGANIZATIONS</a:t>
            </a:r>
            <a:endParaRPr lang="en-US" sz="2800" dirty="0"/>
          </a:p>
        </p:txBody>
      </p:sp>
      <p:sp>
        <p:nvSpPr>
          <p:cNvPr id="3" name="Content Placeholder 2"/>
          <p:cNvSpPr>
            <a:spLocks noGrp="1"/>
          </p:cNvSpPr>
          <p:nvPr>
            <p:ph idx="1"/>
          </p:nvPr>
        </p:nvSpPr>
        <p:spPr>
          <a:xfrm>
            <a:off x="1495425" y="1582738"/>
            <a:ext cx="10515600" cy="4351338"/>
          </a:xfrm>
        </p:spPr>
        <p:txBody>
          <a:bodyPr/>
          <a:lstStyle/>
          <a:p>
            <a:r>
              <a:rPr lang="en-US" dirty="0" smtClean="0"/>
              <a:t>Managing diversity and proliferation of Hand-Held devices</a:t>
            </a:r>
          </a:p>
          <a:p>
            <a:r>
              <a:rPr lang="en-US" dirty="0" smtClean="0"/>
              <a:t>Unconventional/ stealth storage devices</a:t>
            </a:r>
          </a:p>
          <a:p>
            <a:r>
              <a:rPr lang="en-US" dirty="0" smtClean="0"/>
              <a:t>Threat through lost and stolen devices</a:t>
            </a:r>
          </a:p>
          <a:p>
            <a:r>
              <a:rPr lang="en-US" dirty="0" smtClean="0"/>
              <a:t>Protecting data on lost devices</a:t>
            </a:r>
          </a:p>
          <a:p>
            <a:r>
              <a:rPr lang="en-US" dirty="0" smtClean="0"/>
              <a:t>Educating the laptop users </a:t>
            </a:r>
            <a:endParaRPr lang="en-US" dirty="0"/>
          </a:p>
        </p:txBody>
      </p:sp>
    </p:spTree>
    <p:extLst>
      <p:ext uri="{BB962C8B-B14F-4D97-AF65-F5344CB8AC3E}">
        <p14:creationId xmlns:p14="http://schemas.microsoft.com/office/powerpoint/2010/main" val="46492558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22238"/>
            <a:ext cx="10515600" cy="1325563"/>
          </a:xfrm>
        </p:spPr>
        <p:txBody>
          <a:bodyPr>
            <a:normAutofit/>
          </a:bodyPr>
          <a:lstStyle/>
          <a:p>
            <a:r>
              <a:rPr lang="en-US" dirty="0" smtClean="0"/>
              <a:t>1. Managing diversity and proliferation of Hand-Held devices</a:t>
            </a:r>
            <a:endParaRPr lang="en-US" dirty="0"/>
          </a:p>
        </p:txBody>
      </p:sp>
      <p:sp>
        <p:nvSpPr>
          <p:cNvPr id="3" name="Content Placeholder 2"/>
          <p:cNvSpPr>
            <a:spLocks noGrp="1"/>
          </p:cNvSpPr>
          <p:nvPr>
            <p:ph idx="1"/>
          </p:nvPr>
        </p:nvSpPr>
        <p:spPr>
          <a:xfrm>
            <a:off x="1676400" y="1447801"/>
            <a:ext cx="10515600" cy="4351338"/>
          </a:xfrm>
        </p:spPr>
        <p:txBody>
          <a:bodyPr/>
          <a:lstStyle/>
          <a:p>
            <a:r>
              <a:rPr lang="en-US" dirty="0" smtClean="0"/>
              <a:t>Employees aren't just bringing their mobile devices to the workplace—they're </a:t>
            </a:r>
            <a:r>
              <a:rPr lang="en-US" i="1" dirty="0" smtClean="0"/>
              <a:t>living</a:t>
            </a:r>
            <a:r>
              <a:rPr lang="en-US" dirty="0" smtClean="0"/>
              <a:t> on them</a:t>
            </a:r>
          </a:p>
          <a:p>
            <a:r>
              <a:rPr lang="en-US" dirty="0" smtClean="0"/>
              <a:t>As </a:t>
            </a:r>
            <a:r>
              <a:rPr lang="en-US" dirty="0" err="1" smtClean="0"/>
              <a:t>smartphones</a:t>
            </a:r>
            <a:r>
              <a:rPr lang="en-US" dirty="0" smtClean="0"/>
              <a:t> and tablets become constant companions, cyber attackers are using every avenue available to break into them.</a:t>
            </a:r>
          </a:p>
          <a:p>
            <a:r>
              <a:rPr lang="en-US" dirty="0" smtClean="0"/>
              <a:t>With the right (inexpensive) equipment, hackers can gain access to a nearby mobile device in less than 30 seconds and either mirror the device and see everything on it, or install malware that will enable them to siphon data from it at their leisure.</a:t>
            </a:r>
            <a:endParaRPr lang="en-US" dirty="0"/>
          </a:p>
        </p:txBody>
      </p:sp>
    </p:spTree>
    <p:extLst>
      <p:ext uri="{BB962C8B-B14F-4D97-AF65-F5344CB8AC3E}">
        <p14:creationId xmlns:p14="http://schemas.microsoft.com/office/powerpoint/2010/main" val="124407301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1138" y="1597025"/>
            <a:ext cx="10515600" cy="4351338"/>
          </a:xfrm>
        </p:spPr>
        <p:txBody>
          <a:bodyPr/>
          <a:lstStyle/>
          <a:p>
            <a:pPr algn="just"/>
            <a:r>
              <a:rPr lang="en-US" dirty="0" smtClean="0"/>
              <a:t>Analysts predict that by 2018, 25 percent of corporate data will completely bypass perimeter security and flow directly from mobile devices to the cloud.</a:t>
            </a:r>
          </a:p>
          <a:p>
            <a:pPr algn="just"/>
            <a:r>
              <a:rPr lang="en-US" dirty="0" smtClean="0"/>
              <a:t>Chief information security officers (CISOs) and other security executives are finding that the proliferation of mobile devices and cloud services are their </a:t>
            </a:r>
            <a:r>
              <a:rPr lang="en-US" dirty="0" smtClean="0">
                <a:hlinkClick r:id="rId2"/>
              </a:rPr>
              <a:t>biggest barriers</a:t>
            </a:r>
            <a:r>
              <a:rPr lang="en-US" dirty="0" smtClean="0"/>
              <a:t> to effective breach response. </a:t>
            </a:r>
          </a:p>
          <a:p>
            <a:pPr algn="just"/>
            <a:r>
              <a:rPr lang="en-US" dirty="0" smtClean="0"/>
              <a:t>In order to secure the corporate data passing through or residing on mobile devices, it is imperative to fully understand the issues they present.</a:t>
            </a:r>
            <a:endParaRPr lang="en-US" dirty="0"/>
          </a:p>
        </p:txBody>
      </p:sp>
      <p:sp>
        <p:nvSpPr>
          <p:cNvPr id="4" name="Title 1"/>
          <p:cNvSpPr>
            <a:spLocks noGrp="1"/>
          </p:cNvSpPr>
          <p:nvPr>
            <p:ph type="title"/>
          </p:nvPr>
        </p:nvSpPr>
        <p:spPr>
          <a:xfrm>
            <a:off x="1481138" y="0"/>
            <a:ext cx="10515600" cy="1325563"/>
          </a:xfrm>
        </p:spPr>
        <p:txBody>
          <a:bodyPr>
            <a:normAutofit/>
          </a:bodyPr>
          <a:lstStyle/>
          <a:p>
            <a:r>
              <a:rPr lang="en-US" dirty="0" smtClean="0"/>
              <a:t>Managing diversity and proliferation of Hand-Held devices</a:t>
            </a:r>
            <a:endParaRPr lang="en-US" dirty="0"/>
          </a:p>
        </p:txBody>
      </p:sp>
    </p:spTree>
    <p:extLst>
      <p:ext uri="{BB962C8B-B14F-4D97-AF65-F5344CB8AC3E}">
        <p14:creationId xmlns:p14="http://schemas.microsoft.com/office/powerpoint/2010/main" val="179292866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71449"/>
            <a:ext cx="10515600" cy="1325563"/>
          </a:xfrm>
        </p:spPr>
        <p:txBody>
          <a:bodyPr>
            <a:normAutofit/>
          </a:bodyPr>
          <a:lstStyle/>
          <a:p>
            <a:r>
              <a:rPr lang="en-US" dirty="0" smtClean="0"/>
              <a:t>Unconventional/ Stealth Storage devices</a:t>
            </a:r>
            <a:endParaRPr lang="en-US" dirty="0"/>
          </a:p>
        </p:txBody>
      </p:sp>
      <p:sp>
        <p:nvSpPr>
          <p:cNvPr id="3" name="Content Placeholder 2"/>
          <p:cNvSpPr>
            <a:spLocks noGrp="1"/>
          </p:cNvSpPr>
          <p:nvPr>
            <p:ph idx="1"/>
          </p:nvPr>
        </p:nvSpPr>
        <p:spPr>
          <a:xfrm>
            <a:off x="1676400" y="1497012"/>
            <a:ext cx="10515600" cy="4351338"/>
          </a:xfrm>
        </p:spPr>
        <p:txBody>
          <a:bodyPr>
            <a:normAutofit/>
          </a:bodyPr>
          <a:lstStyle/>
          <a:p>
            <a:r>
              <a:rPr lang="en-US" dirty="0" smtClean="0"/>
              <a:t>Secondary storage devices</a:t>
            </a:r>
          </a:p>
          <a:p>
            <a:pPr lvl="1"/>
            <a:r>
              <a:rPr lang="en-US" dirty="0" smtClean="0"/>
              <a:t>CDs</a:t>
            </a:r>
          </a:p>
          <a:p>
            <a:pPr lvl="1"/>
            <a:r>
              <a:rPr lang="en-US" dirty="0" smtClean="0"/>
              <a:t>USBs</a:t>
            </a:r>
          </a:p>
          <a:p>
            <a:pPr lvl="1"/>
            <a:r>
              <a:rPr lang="en-US" dirty="0" smtClean="0"/>
              <a:t>Portable external hard disks</a:t>
            </a:r>
          </a:p>
          <a:p>
            <a:pPr marL="274320" lvl="1" indent="-274320">
              <a:buClr>
                <a:schemeClr val="accent3"/>
              </a:buClr>
              <a:buSzPct val="95000"/>
            </a:pPr>
            <a:r>
              <a:rPr lang="en-US" dirty="0" smtClean="0"/>
              <a:t>Portable storage devices  can be easily lost or stolen. </a:t>
            </a:r>
          </a:p>
          <a:p>
            <a:pPr marL="274320" lvl="1" indent="-274320">
              <a:buClr>
                <a:schemeClr val="accent3"/>
              </a:buClr>
              <a:buSzPct val="95000"/>
            </a:pPr>
            <a:r>
              <a:rPr lang="en-US" dirty="0" smtClean="0"/>
              <a:t>Decrease in size and emerge in new shape and sizes – difficult to detect </a:t>
            </a:r>
          </a:p>
          <a:p>
            <a:pPr marL="274320" lvl="1" indent="-274320">
              <a:buClr>
                <a:schemeClr val="accent3"/>
              </a:buClr>
              <a:buSzPct val="95000"/>
            </a:pPr>
            <a:r>
              <a:rPr lang="en-US" dirty="0" smtClean="0"/>
              <a:t>Prime challenge for organizational security</a:t>
            </a:r>
          </a:p>
          <a:p>
            <a:pPr marL="274320" lvl="1" indent="-274320">
              <a:buClr>
                <a:schemeClr val="accent3"/>
              </a:buClr>
              <a:buSzPct val="95000"/>
            </a:pPr>
            <a:r>
              <a:rPr lang="en-US" dirty="0" smtClean="0"/>
              <a:t>Firewalls and antivirus software are no defense against the open USB ports</a:t>
            </a:r>
          </a:p>
          <a:p>
            <a:pPr marL="274320" lvl="1" indent="-274320">
              <a:buClr>
                <a:schemeClr val="accent3"/>
              </a:buClr>
              <a:buSzPct val="95000"/>
            </a:pPr>
            <a:r>
              <a:rPr lang="en-US" dirty="0" smtClean="0"/>
              <a:t>Remedy- block these ports, but Windows OS do not support</a:t>
            </a:r>
          </a:p>
          <a:p>
            <a:pPr marL="274320" lvl="1" indent="-274320">
              <a:buClr>
                <a:schemeClr val="accent3"/>
              </a:buClr>
              <a:buSzPct val="95000"/>
            </a:pPr>
            <a:r>
              <a:rPr lang="en-US" dirty="0" smtClean="0"/>
              <a:t>Disgruntled employee can use these to download confidential data or upload harmful virus</a:t>
            </a:r>
          </a:p>
          <a:p>
            <a:endParaRPr lang="en-US" dirty="0" smtClean="0"/>
          </a:p>
          <a:p>
            <a:endParaRPr lang="en-US" dirty="0" smtClean="0"/>
          </a:p>
          <a:p>
            <a:pPr lvl="1">
              <a:buNone/>
            </a:pPr>
            <a:endParaRPr lang="en-US" dirty="0" smtClean="0"/>
          </a:p>
        </p:txBody>
      </p:sp>
    </p:spTree>
    <p:extLst>
      <p:ext uri="{BB962C8B-B14F-4D97-AF65-F5344CB8AC3E}">
        <p14:creationId xmlns:p14="http://schemas.microsoft.com/office/powerpoint/2010/main" val="347653821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err="1" smtClean="0"/>
              <a:t>Devicelock</a:t>
            </a:r>
            <a:r>
              <a:rPr lang="en-US" dirty="0" smtClean="0"/>
              <a:t> software</a:t>
            </a:r>
            <a:endParaRPr lang="en-US" dirty="0"/>
          </a:p>
        </p:txBody>
      </p:sp>
      <p:sp>
        <p:nvSpPr>
          <p:cNvPr id="3" name="Content Placeholder 2"/>
          <p:cNvSpPr>
            <a:spLocks noGrp="1"/>
          </p:cNvSpPr>
          <p:nvPr>
            <p:ph idx="1"/>
          </p:nvPr>
        </p:nvSpPr>
        <p:spPr>
          <a:xfrm>
            <a:off x="1452562" y="1539875"/>
            <a:ext cx="10515600" cy="4351338"/>
          </a:xfrm>
        </p:spPr>
        <p:txBody>
          <a:bodyPr/>
          <a:lstStyle/>
          <a:p>
            <a:pPr algn="just"/>
            <a:r>
              <a:rPr lang="en-US" b="1" dirty="0" err="1" smtClean="0"/>
              <a:t>DeviceLock</a:t>
            </a:r>
            <a:r>
              <a:rPr lang="en-US" dirty="0" smtClean="0"/>
              <a:t> provides network administrators the ability to set and enforce contextual policies for how, when, where to, and by whom data can or can’t be moved to or from company laptops or desktop PCs via devices like phones, digital cameras, USB sticks, CD/DVD-R, tablets, printers or MP3 players.</a:t>
            </a:r>
          </a:p>
          <a:p>
            <a:pPr algn="just"/>
            <a:r>
              <a:rPr lang="en-US" dirty="0" smtClean="0"/>
              <a:t>In addition, policies can be set and enforced for copy operations via the Windows Clipboard, as well as screenshot operations on the endpoint computer.</a:t>
            </a:r>
            <a:endParaRPr lang="en-US" dirty="0"/>
          </a:p>
        </p:txBody>
      </p:sp>
    </p:spTree>
    <p:extLst>
      <p:ext uri="{BB962C8B-B14F-4D97-AF65-F5344CB8AC3E}">
        <p14:creationId xmlns:p14="http://schemas.microsoft.com/office/powerpoint/2010/main" val="316805100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6" name="Picture 4" descr="http://www.axteq.com/product-images/premium/NU271.jpg"/>
          <p:cNvPicPr>
            <a:picLocks noChangeAspect="1" noChangeArrowheads="1"/>
          </p:cNvPicPr>
          <p:nvPr/>
        </p:nvPicPr>
        <p:blipFill>
          <a:blip r:embed="rId2"/>
          <a:srcRect/>
          <a:stretch>
            <a:fillRect/>
          </a:stretch>
        </p:blipFill>
        <p:spPr bwMode="auto">
          <a:xfrm>
            <a:off x="9334500" y="1381127"/>
            <a:ext cx="2857500" cy="2857500"/>
          </a:xfrm>
          <a:prstGeom prst="rect">
            <a:avLst/>
          </a:prstGeom>
          <a:noFill/>
        </p:spPr>
      </p:pic>
      <p:pic>
        <p:nvPicPr>
          <p:cNvPr id="69634" name="Picture 2" descr="http://i1-news.softpedia-static.com/images/news2/Super-Talent-Also-Delivers-Key-Shaped-Flash-Drives-2.jpg"/>
          <p:cNvPicPr>
            <a:picLocks noChangeAspect="1" noChangeArrowheads="1"/>
          </p:cNvPicPr>
          <p:nvPr/>
        </p:nvPicPr>
        <p:blipFill>
          <a:blip r:embed="rId3"/>
          <a:srcRect/>
          <a:stretch>
            <a:fillRect/>
          </a:stretch>
        </p:blipFill>
        <p:spPr bwMode="auto">
          <a:xfrm>
            <a:off x="4043364" y="1381127"/>
            <a:ext cx="2671762" cy="2671762"/>
          </a:xfrm>
          <a:prstGeom prst="rect">
            <a:avLst/>
          </a:prstGeom>
          <a:noFill/>
        </p:spPr>
      </p:pic>
      <p:sp>
        <p:nvSpPr>
          <p:cNvPr id="2" name="Title 1"/>
          <p:cNvSpPr>
            <a:spLocks noGrp="1"/>
          </p:cNvSpPr>
          <p:nvPr>
            <p:ph type="title"/>
          </p:nvPr>
        </p:nvSpPr>
        <p:spPr>
          <a:xfrm>
            <a:off x="1676400" y="-73025"/>
            <a:ext cx="10515600" cy="1325563"/>
          </a:xfrm>
        </p:spPr>
        <p:txBody>
          <a:bodyPr/>
          <a:lstStyle/>
          <a:p>
            <a:r>
              <a:rPr lang="en-US" dirty="0" smtClean="0"/>
              <a:t>Stealth storage devices</a:t>
            </a:r>
            <a:endParaRPr lang="en-US" dirty="0"/>
          </a:p>
        </p:txBody>
      </p:sp>
      <p:pic>
        <p:nvPicPr>
          <p:cNvPr id="69638" name="Picture 6" descr="http://cdn.hotfrog.in/companies/Fancy-Pen-Drives-Custom-and-Designer-USB-Flash-Drives/images/Fancy-Pen-Drives-Custom-and-Designer-USB-Flash-Drives_45473_image.jpg"/>
          <p:cNvPicPr>
            <a:picLocks noChangeAspect="1" noChangeArrowheads="1"/>
          </p:cNvPicPr>
          <p:nvPr/>
        </p:nvPicPr>
        <p:blipFill>
          <a:blip r:embed="rId4"/>
          <a:srcRect/>
          <a:stretch>
            <a:fillRect/>
          </a:stretch>
        </p:blipFill>
        <p:spPr bwMode="auto">
          <a:xfrm>
            <a:off x="1557338" y="3929064"/>
            <a:ext cx="2486025" cy="2486026"/>
          </a:xfrm>
          <a:prstGeom prst="rect">
            <a:avLst/>
          </a:prstGeom>
          <a:noFill/>
        </p:spPr>
      </p:pic>
      <p:pic>
        <p:nvPicPr>
          <p:cNvPr id="69640" name="Picture 8" descr="https://encrypted-tbn0.gstatic.com/images?q=tbn:ANd9GcRRYgoP9J75j0xPKLot6SmvH5rmH7W20MLTwNpsWKqT7lLbflt6"/>
          <p:cNvPicPr>
            <a:picLocks noChangeAspect="1" noChangeArrowheads="1"/>
          </p:cNvPicPr>
          <p:nvPr/>
        </p:nvPicPr>
        <p:blipFill>
          <a:blip r:embed="rId5"/>
          <a:srcRect/>
          <a:stretch>
            <a:fillRect/>
          </a:stretch>
        </p:blipFill>
        <p:spPr bwMode="auto">
          <a:xfrm>
            <a:off x="6570095" y="4052889"/>
            <a:ext cx="2909436" cy="2298279"/>
          </a:xfrm>
          <a:prstGeom prst="rect">
            <a:avLst/>
          </a:prstGeom>
          <a:noFill/>
        </p:spPr>
      </p:pic>
    </p:spTree>
    <p:extLst>
      <p:ext uri="{BB962C8B-B14F-4D97-AF65-F5344CB8AC3E}">
        <p14:creationId xmlns:p14="http://schemas.microsoft.com/office/powerpoint/2010/main" val="318819718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0"/>
            <a:ext cx="8229600" cy="1143000"/>
          </a:xfrm>
        </p:spPr>
        <p:txBody>
          <a:bodyPr/>
          <a:lstStyle/>
          <a:p>
            <a:endParaRPr lang="en-IN" dirty="0"/>
          </a:p>
        </p:txBody>
      </p:sp>
      <p:sp>
        <p:nvSpPr>
          <p:cNvPr id="3" name="Content Placeholder 2"/>
          <p:cNvSpPr>
            <a:spLocks noGrp="1"/>
          </p:cNvSpPr>
          <p:nvPr>
            <p:ph idx="1"/>
          </p:nvPr>
        </p:nvSpPr>
        <p:spPr>
          <a:xfrm>
            <a:off x="1828799" y="1500188"/>
            <a:ext cx="10044113" cy="4953000"/>
          </a:xfrm>
        </p:spPr>
        <p:txBody>
          <a:bodyPr/>
          <a:lstStyle/>
          <a:p>
            <a:r>
              <a:rPr lang="en-IN" dirty="0" smtClean="0"/>
              <a:t>Monitor which users or groups access USB ports, </a:t>
            </a:r>
            <a:r>
              <a:rPr lang="en-IN" dirty="0" err="1" smtClean="0"/>
              <a:t>Wifi</a:t>
            </a:r>
            <a:r>
              <a:rPr lang="en-IN" dirty="0" smtClean="0"/>
              <a:t>, Bluetooth, CD / DVD and other removable devices.</a:t>
            </a:r>
          </a:p>
          <a:p>
            <a:r>
              <a:rPr lang="en-IN" dirty="0" smtClean="0"/>
              <a:t>Control access to devices </a:t>
            </a:r>
          </a:p>
          <a:p>
            <a:endParaRPr lang="en-IN" dirty="0" smtClean="0"/>
          </a:p>
          <a:p>
            <a:r>
              <a:rPr lang="en-IN" dirty="0" smtClean="0"/>
              <a:t>Set devices in read-only mode.</a:t>
            </a:r>
          </a:p>
          <a:p>
            <a:endParaRPr lang="en-IN" dirty="0" smtClean="0"/>
          </a:p>
          <a:p>
            <a:r>
              <a:rPr lang="en-IN" dirty="0" smtClean="0"/>
              <a:t>Protect disks from accidental or intentional formatting.</a:t>
            </a:r>
            <a:endParaRPr lang="en-IN" dirty="0"/>
          </a:p>
        </p:txBody>
      </p:sp>
    </p:spTree>
    <p:extLst>
      <p:ext uri="{BB962C8B-B14F-4D97-AF65-F5344CB8AC3E}">
        <p14:creationId xmlns:p14="http://schemas.microsoft.com/office/powerpoint/2010/main" val="162751028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5425" y="107950"/>
            <a:ext cx="10515600" cy="1325563"/>
          </a:xfrm>
        </p:spPr>
        <p:txBody>
          <a:bodyPr>
            <a:normAutofit/>
          </a:bodyPr>
          <a:lstStyle/>
          <a:p>
            <a:r>
              <a:rPr lang="en-US" dirty="0" smtClean="0"/>
              <a:t>3. Threats through lost and stolen devices</a:t>
            </a:r>
            <a:endParaRPr lang="en-US" dirty="0"/>
          </a:p>
        </p:txBody>
      </p:sp>
      <p:sp>
        <p:nvSpPr>
          <p:cNvPr id="3" name="Content Placeholder 2"/>
          <p:cNvSpPr>
            <a:spLocks noGrp="1"/>
          </p:cNvSpPr>
          <p:nvPr>
            <p:ph idx="1"/>
          </p:nvPr>
        </p:nvSpPr>
        <p:spPr>
          <a:xfrm>
            <a:off x="1676400" y="1597025"/>
            <a:ext cx="10515600" cy="4351338"/>
          </a:xfrm>
        </p:spPr>
        <p:txBody>
          <a:bodyPr/>
          <a:lstStyle/>
          <a:p>
            <a:r>
              <a:rPr lang="en-US" dirty="0" smtClean="0"/>
              <a:t>Often mobile hand-held devices are lost while people on move.</a:t>
            </a:r>
          </a:p>
          <a:p>
            <a:endParaRPr lang="en-US" dirty="0" smtClean="0"/>
          </a:p>
          <a:p>
            <a:r>
              <a:rPr lang="en-US" dirty="0" smtClean="0"/>
              <a:t>Lost mobile devices are becoming even a large security risk to corporations.</a:t>
            </a:r>
          </a:p>
          <a:p>
            <a:endParaRPr lang="en-US" dirty="0" smtClean="0"/>
          </a:p>
          <a:p>
            <a:r>
              <a:rPr lang="en-US" dirty="0" smtClean="0"/>
              <a:t>Most of the lost devices have a wireless access to a corporate network and have potentially very little security, making a weak link and a major headache for security maintenance.</a:t>
            </a:r>
            <a:endParaRPr lang="en-US" dirty="0"/>
          </a:p>
        </p:txBody>
      </p:sp>
    </p:spTree>
    <p:extLst>
      <p:ext uri="{BB962C8B-B14F-4D97-AF65-F5344CB8AC3E}">
        <p14:creationId xmlns:p14="http://schemas.microsoft.com/office/powerpoint/2010/main" val="274554194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normAutofit/>
          </a:bodyPr>
          <a:lstStyle/>
          <a:p>
            <a:r>
              <a:rPr lang="en-US" dirty="0" smtClean="0"/>
              <a:t>4. Protecting data on lost devices</a:t>
            </a:r>
            <a:endParaRPr lang="en-US" dirty="0"/>
          </a:p>
        </p:txBody>
      </p:sp>
      <p:sp>
        <p:nvSpPr>
          <p:cNvPr id="3" name="Content Placeholder 2"/>
          <p:cNvSpPr>
            <a:spLocks noGrp="1"/>
          </p:cNvSpPr>
          <p:nvPr>
            <p:ph idx="1"/>
          </p:nvPr>
        </p:nvSpPr>
        <p:spPr>
          <a:xfrm>
            <a:off x="1676400" y="1611313"/>
            <a:ext cx="10515600" cy="4351338"/>
          </a:xfrm>
        </p:spPr>
        <p:txBody>
          <a:bodyPr/>
          <a:lstStyle/>
          <a:p>
            <a:r>
              <a:rPr lang="en-US" dirty="0" smtClean="0"/>
              <a:t>Encrypting sensitive data.</a:t>
            </a:r>
          </a:p>
          <a:p>
            <a:endParaRPr lang="en-US" dirty="0" smtClean="0"/>
          </a:p>
          <a:p>
            <a:r>
              <a:rPr lang="en-US" dirty="0" smtClean="0"/>
              <a:t>Encrypting entire file system.</a:t>
            </a:r>
          </a:p>
          <a:p>
            <a:endParaRPr lang="en-US" dirty="0" smtClean="0"/>
          </a:p>
          <a:p>
            <a:r>
              <a:rPr lang="en-US" dirty="0" smtClean="0"/>
              <a:t>Encrypting servers: third party solutions</a:t>
            </a:r>
          </a:p>
          <a:p>
            <a:endParaRPr lang="en-US" dirty="0" smtClean="0"/>
          </a:p>
          <a:p>
            <a:r>
              <a:rPr lang="en-US" dirty="0" smtClean="0"/>
              <a:t>Create  a database action to delete the entire data on the user’s device</a:t>
            </a:r>
          </a:p>
          <a:p>
            <a:endParaRPr lang="en-US" dirty="0" smtClean="0"/>
          </a:p>
          <a:p>
            <a:endParaRPr lang="en-US" dirty="0"/>
          </a:p>
        </p:txBody>
      </p:sp>
    </p:spTree>
    <p:extLst>
      <p:ext uri="{BB962C8B-B14F-4D97-AF65-F5344CB8AC3E}">
        <p14:creationId xmlns:p14="http://schemas.microsoft.com/office/powerpoint/2010/main" val="26454251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en-US" dirty="0" smtClean="0"/>
              <a:t>5. Educating the Laptop users</a:t>
            </a:r>
            <a:endParaRPr lang="en-US" dirty="0"/>
          </a:p>
        </p:txBody>
      </p:sp>
      <p:sp>
        <p:nvSpPr>
          <p:cNvPr id="3" name="Content Placeholder 2"/>
          <p:cNvSpPr>
            <a:spLocks noGrp="1"/>
          </p:cNvSpPr>
          <p:nvPr>
            <p:ph idx="1"/>
          </p:nvPr>
        </p:nvSpPr>
        <p:spPr>
          <a:xfrm>
            <a:off x="1538288" y="1582738"/>
            <a:ext cx="10515600" cy="4351338"/>
          </a:xfrm>
        </p:spPr>
        <p:txBody>
          <a:bodyPr/>
          <a:lstStyle/>
          <a:p>
            <a:r>
              <a:rPr lang="en-US" dirty="0" smtClean="0"/>
              <a:t>Often corporate laptop users could be putting company’s networks at risk by downloading non-work related software capable of spreading the viruses and spyware.</a:t>
            </a:r>
          </a:p>
          <a:p>
            <a:endParaRPr lang="en-US" dirty="0" smtClean="0"/>
          </a:p>
          <a:p>
            <a:r>
              <a:rPr lang="en-US" dirty="0" smtClean="0"/>
              <a:t> Many of the users use their laptops to download illegal music files and movies.</a:t>
            </a:r>
          </a:p>
          <a:p>
            <a:endParaRPr lang="en-US" dirty="0" smtClean="0"/>
          </a:p>
          <a:p>
            <a:r>
              <a:rPr lang="en-US" dirty="0" smtClean="0"/>
              <a:t>Only half of the companies have tools in place to manage the internet access on laptops.</a:t>
            </a:r>
          </a:p>
          <a:p>
            <a:pPr>
              <a:buNone/>
            </a:pPr>
            <a:endParaRPr lang="en-US" dirty="0"/>
          </a:p>
        </p:txBody>
      </p:sp>
    </p:spTree>
    <p:extLst>
      <p:ext uri="{BB962C8B-B14F-4D97-AF65-F5344CB8AC3E}">
        <p14:creationId xmlns:p14="http://schemas.microsoft.com/office/powerpoint/2010/main" val="34259465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3537" y="-161925"/>
            <a:ext cx="8534400" cy="1828800"/>
          </a:xfrm>
        </p:spPr>
        <p:txBody>
          <a:bodyPr>
            <a:normAutofit fontScale="90000"/>
          </a:bodyPr>
          <a:lstStyle/>
          <a:p>
            <a:r>
              <a:rPr lang="en-IN" dirty="0" smtClean="0"/>
              <a:t>Organizational Measures for Handling Mobile Devices-Related Security Issues</a:t>
            </a:r>
            <a:endParaRPr lang="en-IN" dirty="0"/>
          </a:p>
        </p:txBody>
      </p:sp>
      <p:sp>
        <p:nvSpPr>
          <p:cNvPr id="3" name="Content Placeholder 2"/>
          <p:cNvSpPr>
            <a:spLocks noGrp="1"/>
          </p:cNvSpPr>
          <p:nvPr>
            <p:ph idx="1"/>
          </p:nvPr>
        </p:nvSpPr>
        <p:spPr>
          <a:xfrm>
            <a:off x="1633537" y="1525588"/>
            <a:ext cx="10515600" cy="4351338"/>
          </a:xfrm>
        </p:spPr>
        <p:txBody>
          <a:bodyPr/>
          <a:lstStyle/>
          <a:p>
            <a:pPr marL="0" indent="0">
              <a:buNone/>
            </a:pPr>
            <a:r>
              <a:rPr lang="en-IN" dirty="0" smtClean="0"/>
              <a:t>1. Encrypting Organizational Databases</a:t>
            </a:r>
          </a:p>
          <a:p>
            <a:pPr marL="0" indent="0">
              <a:buNone/>
            </a:pPr>
            <a:r>
              <a:rPr lang="en-IN" dirty="0" smtClean="0"/>
              <a:t>2. Including Mobile Devices in Security Strategy</a:t>
            </a:r>
            <a:endParaRPr lang="en-IN" dirty="0"/>
          </a:p>
        </p:txBody>
      </p:sp>
    </p:spTree>
    <p:extLst>
      <p:ext uri="{BB962C8B-B14F-4D97-AF65-F5344CB8AC3E}">
        <p14:creationId xmlns:p14="http://schemas.microsoft.com/office/powerpoint/2010/main" val="302225459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304800"/>
            <a:ext cx="8229600" cy="685800"/>
          </a:xfrm>
        </p:spPr>
        <p:txBody>
          <a:bodyPr>
            <a:noAutofit/>
          </a:bodyPr>
          <a:lstStyle/>
          <a:p>
            <a:r>
              <a:rPr lang="en-IN" sz="4000" dirty="0"/>
              <a:t>Encrypting Organizational Databases</a:t>
            </a:r>
          </a:p>
        </p:txBody>
      </p:sp>
      <p:sp>
        <p:nvSpPr>
          <p:cNvPr id="3" name="Content Placeholder 2"/>
          <p:cNvSpPr>
            <a:spLocks noGrp="1"/>
          </p:cNvSpPr>
          <p:nvPr>
            <p:ph idx="1"/>
          </p:nvPr>
        </p:nvSpPr>
        <p:spPr>
          <a:xfrm>
            <a:off x="1714500" y="1528762"/>
            <a:ext cx="10172700" cy="5329237"/>
          </a:xfrm>
        </p:spPr>
        <p:txBody>
          <a:bodyPr>
            <a:normAutofit/>
          </a:bodyPr>
          <a:lstStyle/>
          <a:p>
            <a:pPr algn="just"/>
            <a:r>
              <a:rPr lang="en-IN" dirty="0" smtClean="0"/>
              <a:t>Critical Data resides on databases in </a:t>
            </a:r>
            <a:r>
              <a:rPr lang="en-IN" smtClean="0"/>
              <a:t>organizations. With </a:t>
            </a:r>
            <a:r>
              <a:rPr lang="en-IN" dirty="0" smtClean="0"/>
              <a:t>latest technologies accessing data  in databases through Hand-held devices is not impossible, so such databases should be encrypted.</a:t>
            </a:r>
          </a:p>
          <a:p>
            <a:pPr algn="just"/>
            <a:r>
              <a:rPr lang="en-IN" dirty="0" smtClean="0"/>
              <a:t>Two algorithms are specified for strong encryption:</a:t>
            </a:r>
          </a:p>
          <a:p>
            <a:pPr algn="just"/>
            <a:r>
              <a:rPr lang="en-IN" dirty="0" err="1" smtClean="0"/>
              <a:t>Rijndael</a:t>
            </a:r>
            <a:r>
              <a:rPr lang="en-IN" dirty="0" smtClean="0"/>
              <a:t>: a block encryption algorithm, chosen as the new Advanced Encryption Standard for block ciphers by the National Institute of Standards and Technology(NIST).</a:t>
            </a:r>
          </a:p>
          <a:p>
            <a:pPr algn="just"/>
            <a:r>
              <a:rPr lang="en-IN" dirty="0" smtClean="0"/>
              <a:t>MDSR(Multi-</a:t>
            </a:r>
            <a:r>
              <a:rPr lang="en-IN" dirty="0" err="1" smtClean="0"/>
              <a:t>dimentional</a:t>
            </a:r>
            <a:r>
              <a:rPr lang="en-IN" dirty="0" smtClean="0"/>
              <a:t> Space Rotation algorithm developed by </a:t>
            </a:r>
            <a:r>
              <a:rPr lang="en-IN" dirty="0" err="1" smtClean="0"/>
              <a:t>casio</a:t>
            </a:r>
            <a:r>
              <a:rPr lang="en-IN" dirty="0" smtClean="0"/>
              <a:t>.</a:t>
            </a:r>
          </a:p>
          <a:p>
            <a:pPr algn="just"/>
            <a:r>
              <a:rPr lang="en-IN" dirty="0" smtClean="0"/>
              <a:t>Storing key is also important for encryption.</a:t>
            </a:r>
          </a:p>
          <a:p>
            <a:endParaRPr lang="en-IN" dirty="0"/>
          </a:p>
        </p:txBody>
      </p:sp>
    </p:spTree>
    <p:extLst>
      <p:ext uri="{BB962C8B-B14F-4D97-AF65-F5344CB8AC3E}">
        <p14:creationId xmlns:p14="http://schemas.microsoft.com/office/powerpoint/2010/main" val="236122212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0"/>
            <a:ext cx="8229600" cy="1143000"/>
          </a:xfrm>
        </p:spPr>
        <p:txBody>
          <a:bodyPr>
            <a:normAutofit fontScale="90000"/>
          </a:bodyPr>
          <a:lstStyle/>
          <a:p>
            <a:r>
              <a:rPr lang="en-IN" dirty="0" smtClean="0"/>
              <a:t>Including Mobile Devices in Security Strategy </a:t>
            </a:r>
            <a:endParaRPr lang="en-IN" dirty="0"/>
          </a:p>
        </p:txBody>
      </p:sp>
      <p:sp>
        <p:nvSpPr>
          <p:cNvPr id="3" name="Content Placeholder 2"/>
          <p:cNvSpPr>
            <a:spLocks noGrp="1"/>
          </p:cNvSpPr>
          <p:nvPr>
            <p:ph idx="1"/>
          </p:nvPr>
        </p:nvSpPr>
        <p:spPr>
          <a:xfrm>
            <a:off x="1981200" y="1447800"/>
            <a:ext cx="10020300" cy="5410200"/>
          </a:xfrm>
        </p:spPr>
        <p:txBody>
          <a:bodyPr/>
          <a:lstStyle/>
          <a:p>
            <a:r>
              <a:rPr lang="en-IN" dirty="0" smtClean="0"/>
              <a:t>Organizational IT department cannot specify using a mobile device may be unsecure.</a:t>
            </a:r>
          </a:p>
          <a:p>
            <a:r>
              <a:rPr lang="en-IN" dirty="0" smtClean="0"/>
              <a:t>A few things that enterprises can do are:</a:t>
            </a:r>
          </a:p>
          <a:p>
            <a:r>
              <a:rPr lang="en-IN" dirty="0" smtClean="0"/>
              <a:t>1. Implement strong asset management, virus checking, loss prevention and other controls for mobile devices that will prohibit unauthorized access and the entry of corrupted data.</a:t>
            </a:r>
          </a:p>
          <a:p>
            <a:r>
              <a:rPr lang="en-IN" dirty="0" smtClean="0"/>
              <a:t>2. Investigate alternatives that allow a secure access to the company information through a firewall, such a mobile VPNs.</a:t>
            </a:r>
          </a:p>
          <a:p>
            <a:r>
              <a:rPr lang="en-IN" dirty="0" smtClean="0"/>
              <a:t>3. Develop a system of more frequent and through security audits for mobile devices.</a:t>
            </a:r>
            <a:endParaRPr lang="en-IN" dirty="0"/>
          </a:p>
        </p:txBody>
      </p:sp>
    </p:spTree>
    <p:extLst>
      <p:ext uri="{BB962C8B-B14F-4D97-AF65-F5344CB8AC3E}">
        <p14:creationId xmlns:p14="http://schemas.microsoft.com/office/powerpoint/2010/main" val="25470217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9906000" cy="1143000"/>
          </a:xfrm>
        </p:spPr>
        <p:txBody>
          <a:bodyPr>
            <a:normAutofit fontScale="90000"/>
          </a:bodyPr>
          <a:lstStyle/>
          <a:p>
            <a:r>
              <a:rPr lang="en-IN" dirty="0" smtClean="0"/>
              <a:t>									Contd..</a:t>
            </a:r>
            <a:endParaRPr lang="en-IN" dirty="0"/>
          </a:p>
        </p:txBody>
      </p:sp>
      <p:sp>
        <p:nvSpPr>
          <p:cNvPr id="3" name="Content Placeholder 2"/>
          <p:cNvSpPr>
            <a:spLocks noGrp="1"/>
          </p:cNvSpPr>
          <p:nvPr>
            <p:ph idx="1"/>
          </p:nvPr>
        </p:nvSpPr>
        <p:spPr>
          <a:xfrm>
            <a:off x="1981199" y="1447800"/>
            <a:ext cx="9720263" cy="4876800"/>
          </a:xfrm>
        </p:spPr>
        <p:txBody>
          <a:bodyPr/>
          <a:lstStyle/>
          <a:p>
            <a:r>
              <a:rPr lang="en-IN" dirty="0" smtClean="0"/>
              <a:t>4. Incorporate security awareness into your mobile training and support programs so that everyone understands how important an issue  security is within a company’s overall IT Strategy.</a:t>
            </a:r>
          </a:p>
          <a:p>
            <a:endParaRPr lang="en-IN" dirty="0" smtClean="0"/>
          </a:p>
          <a:p>
            <a:r>
              <a:rPr lang="en-IN" dirty="0" smtClean="0"/>
              <a:t>5. Notify the appropriate law-enforcement agency and change passwords. User accounts are closely monitored for any unusual activity for a period of time.</a:t>
            </a:r>
            <a:endParaRPr lang="en-IN" dirty="0"/>
          </a:p>
        </p:txBody>
      </p:sp>
    </p:spTree>
    <p:extLst>
      <p:ext uri="{BB962C8B-B14F-4D97-AF65-F5344CB8AC3E}">
        <p14:creationId xmlns:p14="http://schemas.microsoft.com/office/powerpoint/2010/main" val="119883615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749" y="142875"/>
            <a:ext cx="9420225" cy="1143000"/>
          </a:xfrm>
        </p:spPr>
        <p:txBody>
          <a:bodyPr>
            <a:normAutofit fontScale="90000"/>
          </a:bodyPr>
          <a:lstStyle/>
          <a:p>
            <a:r>
              <a:rPr lang="en-IN" dirty="0" smtClean="0"/>
              <a:t>Organizational Security Policies and Measures in Mobile Computing Era</a:t>
            </a:r>
            <a:endParaRPr lang="en-IN" dirty="0"/>
          </a:p>
        </p:txBody>
      </p:sp>
      <p:sp>
        <p:nvSpPr>
          <p:cNvPr id="3" name="Content Placeholder 2"/>
          <p:cNvSpPr>
            <a:spLocks noGrp="1"/>
          </p:cNvSpPr>
          <p:nvPr>
            <p:ph idx="1"/>
          </p:nvPr>
        </p:nvSpPr>
        <p:spPr>
          <a:xfrm>
            <a:off x="1809749" y="1582737"/>
            <a:ext cx="10515600" cy="4351338"/>
          </a:xfrm>
        </p:spPr>
        <p:txBody>
          <a:bodyPr/>
          <a:lstStyle/>
          <a:p>
            <a:r>
              <a:rPr lang="en-IN" smtClean="0"/>
              <a:t>Importance </a:t>
            </a:r>
            <a:r>
              <a:rPr lang="en-IN" dirty="0" smtClean="0"/>
              <a:t>of Security policies relating to Mobile Computing Devices.</a:t>
            </a:r>
          </a:p>
          <a:p>
            <a:r>
              <a:rPr lang="en-IN" smtClean="0"/>
              <a:t>Operating </a:t>
            </a:r>
            <a:r>
              <a:rPr lang="en-IN" dirty="0" smtClean="0"/>
              <a:t>Guidelines for Implementing Mobile Device Security.</a:t>
            </a:r>
          </a:p>
          <a:p>
            <a:r>
              <a:rPr lang="en-IN" smtClean="0"/>
              <a:t>Organization </a:t>
            </a:r>
            <a:r>
              <a:rPr lang="en-IN" dirty="0" smtClean="0"/>
              <a:t>policies for the user of Mobile hand-held devices.</a:t>
            </a:r>
            <a:endParaRPr lang="en-IN" dirty="0"/>
          </a:p>
        </p:txBody>
      </p:sp>
    </p:spTree>
    <p:extLst>
      <p:ext uri="{BB962C8B-B14F-4D97-AF65-F5344CB8AC3E}">
        <p14:creationId xmlns:p14="http://schemas.microsoft.com/office/powerpoint/2010/main" val="225484278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8312" y="190500"/>
            <a:ext cx="10063161" cy="1143000"/>
          </a:xfrm>
        </p:spPr>
        <p:txBody>
          <a:bodyPr>
            <a:normAutofit fontScale="90000"/>
          </a:bodyPr>
          <a:lstStyle/>
          <a:p>
            <a:r>
              <a:rPr lang="en-IN" dirty="0" smtClean="0"/>
              <a:t>Importance of Security policies relating to Mobile Computing Devices.</a:t>
            </a:r>
            <a:endParaRPr lang="en-IN" dirty="0"/>
          </a:p>
        </p:txBody>
      </p:sp>
      <p:sp>
        <p:nvSpPr>
          <p:cNvPr id="3" name="Content Placeholder 2"/>
          <p:cNvSpPr>
            <a:spLocks noGrp="1"/>
          </p:cNvSpPr>
          <p:nvPr>
            <p:ph idx="1"/>
          </p:nvPr>
        </p:nvSpPr>
        <p:spPr>
          <a:xfrm>
            <a:off x="1981199" y="1600200"/>
            <a:ext cx="9820275" cy="4953000"/>
          </a:xfrm>
        </p:spPr>
        <p:txBody>
          <a:bodyPr>
            <a:normAutofit lnSpcReduction="10000"/>
          </a:bodyPr>
          <a:lstStyle/>
          <a:p>
            <a:r>
              <a:rPr lang="en-IN" dirty="0" smtClean="0"/>
              <a:t>Most of the users treat hand held devices as a wallet. </a:t>
            </a:r>
          </a:p>
          <a:p>
            <a:r>
              <a:rPr lang="en-IN" dirty="0" smtClean="0"/>
              <a:t>All the sensitive data is kept in the device and keep it on risk if it is stolen or lost.</a:t>
            </a:r>
          </a:p>
          <a:p>
            <a:r>
              <a:rPr lang="en-IN" dirty="0" smtClean="0"/>
              <a:t>Organizations cannot enforce a policy to avoid using cell phone by the workers.</a:t>
            </a:r>
          </a:p>
          <a:p>
            <a:r>
              <a:rPr lang="en-IN" dirty="0" smtClean="0"/>
              <a:t>Awareness among the users may be effective.</a:t>
            </a:r>
          </a:p>
          <a:p>
            <a:r>
              <a:rPr lang="en-IN" dirty="0" smtClean="0"/>
              <a:t>Survey released by </a:t>
            </a:r>
            <a:r>
              <a:rPr lang="en-IN" dirty="0" err="1" smtClean="0"/>
              <a:t>Ponemon</a:t>
            </a:r>
            <a:r>
              <a:rPr lang="en-IN" dirty="0" smtClean="0"/>
              <a:t> Institute, on behalf of </a:t>
            </a:r>
            <a:r>
              <a:rPr lang="en-IN" dirty="0" err="1" smtClean="0"/>
              <a:t>cellcrypt</a:t>
            </a:r>
            <a:r>
              <a:rPr lang="en-IN" dirty="0" smtClean="0"/>
              <a:t>, reveals that large and medium businesses are putting themselves at risk as a result of cell phone voice call interception. </a:t>
            </a:r>
          </a:p>
          <a:p>
            <a:r>
              <a:rPr lang="en-IN" dirty="0" smtClean="0"/>
              <a:t>EX: In a important organization conference senior managers and others uses cell phones. </a:t>
            </a:r>
          </a:p>
          <a:p>
            <a:endParaRPr lang="en-IN" dirty="0"/>
          </a:p>
        </p:txBody>
      </p:sp>
    </p:spTree>
    <p:extLst>
      <p:ext uri="{BB962C8B-B14F-4D97-AF65-F5344CB8AC3E}">
        <p14:creationId xmlns:p14="http://schemas.microsoft.com/office/powerpoint/2010/main" val="269397111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799" y="218313"/>
            <a:ext cx="9572625" cy="1143000"/>
          </a:xfrm>
        </p:spPr>
        <p:txBody>
          <a:bodyPr>
            <a:noAutofit/>
          </a:bodyPr>
          <a:lstStyle/>
          <a:p>
            <a:r>
              <a:rPr lang="en-IN" dirty="0"/>
              <a:t>Operating Guidelines for Implementing Mobile Device Security.</a:t>
            </a:r>
          </a:p>
        </p:txBody>
      </p:sp>
      <p:pic>
        <p:nvPicPr>
          <p:cNvPr id="1026" name="Picture 2"/>
          <p:cNvPicPr>
            <a:picLocks noGrp="1" noChangeAspect="1" noChangeArrowheads="1"/>
          </p:cNvPicPr>
          <p:nvPr>
            <p:ph idx="1"/>
          </p:nvPr>
        </p:nvPicPr>
        <p:blipFill>
          <a:blip r:embed="rId2"/>
          <a:srcRect/>
          <a:stretch>
            <a:fillRect/>
          </a:stretch>
        </p:blipFill>
        <p:spPr bwMode="auto">
          <a:xfrm>
            <a:off x="1828799" y="1519238"/>
            <a:ext cx="8388154" cy="4724400"/>
          </a:xfrm>
          <a:prstGeom prst="rect">
            <a:avLst/>
          </a:prstGeom>
          <a:noFill/>
          <a:ln w="9525">
            <a:noFill/>
            <a:miter lim="800000"/>
            <a:headEnd/>
            <a:tailEnd/>
          </a:ln>
          <a:effectLst/>
        </p:spPr>
      </p:pic>
    </p:spTree>
    <p:extLst>
      <p:ext uri="{BB962C8B-B14F-4D97-AF65-F5344CB8AC3E}">
        <p14:creationId xmlns:p14="http://schemas.microsoft.com/office/powerpoint/2010/main" val="21714917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1738312" y="1414463"/>
            <a:ext cx="10263189" cy="5072927"/>
          </a:xfrm>
          <a:prstGeom prst="rect">
            <a:avLst/>
          </a:prstGeom>
          <a:noFill/>
          <a:ln w="9525">
            <a:noFill/>
            <a:miter lim="800000"/>
            <a:headEnd/>
            <a:tailEnd/>
          </a:ln>
          <a:effectLst/>
        </p:spPr>
      </p:pic>
    </p:spTree>
    <p:extLst>
      <p:ext uri="{BB962C8B-B14F-4D97-AF65-F5344CB8AC3E}">
        <p14:creationId xmlns:p14="http://schemas.microsoft.com/office/powerpoint/2010/main" val="151974781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57163"/>
            <a:ext cx="10282238" cy="1143000"/>
          </a:xfrm>
        </p:spPr>
        <p:txBody>
          <a:bodyPr>
            <a:normAutofit fontScale="90000"/>
          </a:bodyPr>
          <a:lstStyle/>
          <a:p>
            <a:r>
              <a:rPr lang="en-IN" dirty="0" smtClean="0"/>
              <a:t>Organization policies for the user of Mobile hand-held devices.</a:t>
            </a:r>
            <a:endParaRPr lang="en-IN" dirty="0"/>
          </a:p>
        </p:txBody>
      </p:sp>
      <p:sp>
        <p:nvSpPr>
          <p:cNvPr id="3" name="Content Placeholder 2"/>
          <p:cNvSpPr>
            <a:spLocks noGrp="1"/>
          </p:cNvSpPr>
          <p:nvPr>
            <p:ph idx="1"/>
          </p:nvPr>
        </p:nvSpPr>
        <p:spPr>
          <a:xfrm>
            <a:off x="1676400" y="1597025"/>
            <a:ext cx="10515600" cy="4351338"/>
          </a:xfrm>
        </p:spPr>
        <p:txBody>
          <a:bodyPr/>
          <a:lstStyle/>
          <a:p>
            <a:r>
              <a:rPr lang="en-IN" dirty="0" smtClean="0"/>
              <a:t>The first step in securing mobile devices is creating company policies that address the unique issues these devices raise.</a:t>
            </a:r>
          </a:p>
          <a:p>
            <a:r>
              <a:rPr lang="en-IN" dirty="0" smtClean="0"/>
              <a:t>There are many ways to create a policy:</a:t>
            </a:r>
          </a:p>
          <a:p>
            <a:pPr lvl="1"/>
            <a:r>
              <a:rPr lang="en-IN" dirty="0" smtClean="0"/>
              <a:t>Create a distinct mobile computing policy</a:t>
            </a:r>
          </a:p>
          <a:p>
            <a:pPr lvl="1"/>
            <a:r>
              <a:rPr lang="en-IN" dirty="0" smtClean="0"/>
              <a:t>Include such devices under existing policy</a:t>
            </a:r>
          </a:p>
          <a:p>
            <a:pPr lvl="1"/>
            <a:r>
              <a:rPr lang="en-IN" dirty="0" smtClean="0"/>
              <a:t>Hybrid: existing and new policies </a:t>
            </a:r>
          </a:p>
          <a:p>
            <a:endParaRPr lang="en-IN" dirty="0"/>
          </a:p>
        </p:txBody>
      </p:sp>
    </p:spTree>
    <p:extLst>
      <p:ext uri="{BB962C8B-B14F-4D97-AF65-F5344CB8AC3E}">
        <p14:creationId xmlns:p14="http://schemas.microsoft.com/office/powerpoint/2010/main" val="3999297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9262</TotalTime>
  <Words>5401</Words>
  <Application>Microsoft Office PowerPoint</Application>
  <PresentationFormat>Widescreen</PresentationFormat>
  <Paragraphs>460</Paragraphs>
  <Slides>88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88</vt:i4>
      </vt:variant>
    </vt:vector>
  </HeadingPairs>
  <TitlesOfParts>
    <vt:vector size="93" baseType="lpstr">
      <vt:lpstr>Arial</vt:lpstr>
      <vt:lpstr>Calibri</vt:lpstr>
      <vt:lpstr>Calibri Light</vt:lpstr>
      <vt:lpstr>Wingdings</vt:lpstr>
      <vt:lpstr>Office Theme</vt:lpstr>
      <vt:lpstr>CYBER SECURITY</vt:lpstr>
      <vt:lpstr>Syllabus</vt:lpstr>
      <vt:lpstr>Learning Objectives</vt:lpstr>
      <vt:lpstr>Cyber Security Definition</vt:lpstr>
      <vt:lpstr>Cyber security terminology</vt:lpstr>
      <vt:lpstr>Cybercrimes classification</vt:lpstr>
      <vt:lpstr>PROLIFERATION OF MOBILE AND WIRELESS DEVICES</vt:lpstr>
      <vt:lpstr>PowerPoint Presentation</vt:lpstr>
      <vt:lpstr>Security?</vt:lpstr>
      <vt:lpstr>Risk factor</vt:lpstr>
      <vt:lpstr>TRENDS IN MOBILE SECURITY</vt:lpstr>
      <vt:lpstr>Popular types of attacks against 3G mobile networks:</vt:lpstr>
      <vt:lpstr>Skull trojan </vt:lpstr>
      <vt:lpstr>Cabir worm</vt:lpstr>
      <vt:lpstr>Mosquito worm</vt:lpstr>
      <vt:lpstr>list of mobile vulnerabilities </vt:lpstr>
      <vt:lpstr>CREDIT CARD FRAUDS</vt:lpstr>
      <vt:lpstr>Credit Card Fraud</vt:lpstr>
      <vt:lpstr>SECURITY CHALLENGES POSED BY MOBILE DEVICES</vt:lpstr>
      <vt:lpstr>Well know challenges in mobile security:</vt:lpstr>
      <vt:lpstr>1.Registry settings for mobile devices:  example</vt:lpstr>
      <vt:lpstr>Managing the registry setting and configuration:</vt:lpstr>
      <vt:lpstr>Managing the registry setting and configuration:</vt:lpstr>
      <vt:lpstr>Example </vt:lpstr>
      <vt:lpstr>2. Authentication Service Security</vt:lpstr>
      <vt:lpstr>Eminent kinds of attacks on mobile devices:</vt:lpstr>
      <vt:lpstr>Push Attack</vt:lpstr>
      <vt:lpstr>Pull attack</vt:lpstr>
      <vt:lpstr>Crash attack</vt:lpstr>
      <vt:lpstr>3.Cryptographic Security for Mobile Devices:</vt:lpstr>
      <vt:lpstr>Example: Palm OS5</vt:lpstr>
      <vt:lpstr>4. LDAP security for hand held mobile computing devices</vt:lpstr>
      <vt:lpstr>LDAP directory Structure: simple tree structure</vt:lpstr>
      <vt:lpstr>5. RAS security for mobile devices</vt:lpstr>
      <vt:lpstr>RAS system security for Mobile device clients</vt:lpstr>
      <vt:lpstr>6. Media Player Control Security</vt:lpstr>
      <vt:lpstr>7. Networking API security for mobile computing applications</vt:lpstr>
      <vt:lpstr>ATTACKS ON MOBILE/ CELL PHONES</vt:lpstr>
      <vt:lpstr>Mobile phone theft</vt:lpstr>
      <vt:lpstr>Mobile phone theft</vt:lpstr>
      <vt:lpstr>PowerPoint Presentation</vt:lpstr>
      <vt:lpstr>How to Protect a Mobile Phone from Being Stolen</vt:lpstr>
      <vt:lpstr>         Contd..</vt:lpstr>
      <vt:lpstr>PowerPoint Presentation</vt:lpstr>
      <vt:lpstr>PowerPoint Presentation</vt:lpstr>
      <vt:lpstr>PowerPoint Presentation</vt:lpstr>
      <vt:lpstr>PowerPoint Presentation</vt:lpstr>
      <vt:lpstr>PowerPoint Presentation</vt:lpstr>
      <vt:lpstr>2. Mobile Viruses</vt:lpstr>
      <vt:lpstr>Mobile Phone Virus Hoax</vt:lpstr>
      <vt:lpstr>Mobile Phone Virus Hoax Example</vt:lpstr>
      <vt:lpstr>How to protect from mobile malware attacks</vt:lpstr>
      <vt:lpstr>3. Mishing</vt:lpstr>
      <vt:lpstr>Variants of Mishing</vt:lpstr>
      <vt:lpstr>Vishing </vt:lpstr>
      <vt:lpstr>Profitable uses of the information gained through a Vishing attack include:</vt:lpstr>
      <vt:lpstr>How Vishing works?</vt:lpstr>
      <vt:lpstr>Some examples</vt:lpstr>
      <vt:lpstr>How to protect from Vishing attack?</vt:lpstr>
      <vt:lpstr>Smishing </vt:lpstr>
      <vt:lpstr>How smishing works?</vt:lpstr>
      <vt:lpstr>Example </vt:lpstr>
      <vt:lpstr>How to protect from Smishing attacks?</vt:lpstr>
      <vt:lpstr>Hacking bluetooth</vt:lpstr>
      <vt:lpstr>Following are threats a person can face when his/her mobile phone gets bluesnarfed: </vt:lpstr>
      <vt:lpstr>Common attacks</vt:lpstr>
      <vt:lpstr>PowerPoint Presentation</vt:lpstr>
      <vt:lpstr>PowerPoint Presentation</vt:lpstr>
      <vt:lpstr>Common bluetooth attack tools</vt:lpstr>
      <vt:lpstr>MOBILE DEVICES: SECURITY IMPLICATIONS FOR ORGANIZATIONS</vt:lpstr>
      <vt:lpstr>1. Managing diversity and proliferation of Hand-Held devices</vt:lpstr>
      <vt:lpstr>Managing diversity and proliferation of Hand-Held devices</vt:lpstr>
      <vt:lpstr>Unconventional/ Stealth Storage devices</vt:lpstr>
      <vt:lpstr>Devicelock software</vt:lpstr>
      <vt:lpstr>Stealth storage devices</vt:lpstr>
      <vt:lpstr>PowerPoint Presentation</vt:lpstr>
      <vt:lpstr>3. Threats through lost and stolen devices</vt:lpstr>
      <vt:lpstr>4. Protecting data on lost devices</vt:lpstr>
      <vt:lpstr>5. Educating the Laptop users</vt:lpstr>
      <vt:lpstr>Organizational Measures for Handling Mobile Devices-Related Security Issues</vt:lpstr>
      <vt:lpstr>Encrypting Organizational Databases</vt:lpstr>
      <vt:lpstr>Including Mobile Devices in Security Strategy </vt:lpstr>
      <vt:lpstr>         Contd..</vt:lpstr>
      <vt:lpstr>Organizational Security Policies and Measures in Mobile Computing Era</vt:lpstr>
      <vt:lpstr>Importance of Security policies relating to Mobile Computing Devices.</vt:lpstr>
      <vt:lpstr>Operating Guidelines for Implementing Mobile Device Security.</vt:lpstr>
      <vt:lpstr>PowerPoint Presentation</vt:lpstr>
      <vt:lpstr>Organization policies for the user of Mobile hand-held devices.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36</cp:revision>
  <dcterms:created xsi:type="dcterms:W3CDTF">2019-12-07T06:31:25Z</dcterms:created>
  <dcterms:modified xsi:type="dcterms:W3CDTF">2020-05-09T01:54:31Z</dcterms:modified>
</cp:coreProperties>
</file>