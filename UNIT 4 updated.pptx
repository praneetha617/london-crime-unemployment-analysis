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8"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p:scale>
          <a:sx n="70" d="100"/>
          <a:sy n="70" d="100"/>
        </p:scale>
        <p:origin x="48"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136570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11917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8473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3997201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A5B38D-573C-45A8-BB2C-672B58CFFBBE}" type="datetimeFigureOut">
              <a:rPr lang="en-IN" smtClean="0"/>
              <a:t>09-05-2020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00377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A5B38D-573C-45A8-BB2C-672B58CFFBBE}" type="datetimeFigureOut">
              <a:rPr lang="en-IN" smtClean="0"/>
              <a:t>09-05-2020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60995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5B38D-573C-45A8-BB2C-672B58CFFBBE}" type="datetimeFigureOut">
              <a:rPr lang="en-IN" smtClean="0"/>
              <a:t>09-05-2020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20344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08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11044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2662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49829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5B38D-573C-45A8-BB2C-672B58CFFBBE}" type="datetimeFigureOut">
              <a:rPr lang="en-IN" smtClean="0"/>
              <a:t>09-05-2020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F02BB-4F70-4365-85D2-291E36C68A9D}" type="slidenum">
              <a:rPr lang="en-IN" smtClean="0"/>
              <a:t>‹#›</a:t>
            </a:fld>
            <a:endParaRPr lang="en-IN"/>
          </a:p>
        </p:txBody>
      </p:sp>
    </p:spTree>
    <p:extLst>
      <p:ext uri="{BB962C8B-B14F-4D97-AF65-F5344CB8AC3E}">
        <p14:creationId xmlns:p14="http://schemas.microsoft.com/office/powerpoint/2010/main" val="105793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2637" y="1365251"/>
            <a:ext cx="9144000" cy="2387600"/>
          </a:xfrm>
        </p:spPr>
        <p:txBody>
          <a:bodyPr/>
          <a:lstStyle/>
          <a:p>
            <a:r>
              <a:rPr lang="en-IN" dirty="0" smtClean="0"/>
              <a:t>CYBER SECURITY</a:t>
            </a:r>
            <a:endParaRPr lang="en-IN" dirty="0"/>
          </a:p>
        </p:txBody>
      </p:sp>
      <p:sp>
        <p:nvSpPr>
          <p:cNvPr id="3" name="Subtitle 2"/>
          <p:cNvSpPr>
            <a:spLocks noGrp="1"/>
          </p:cNvSpPr>
          <p:nvPr>
            <p:ph type="subTitle" idx="1"/>
          </p:nvPr>
        </p:nvSpPr>
        <p:spPr>
          <a:xfrm>
            <a:off x="1524000" y="3602038"/>
            <a:ext cx="9144000" cy="1655762"/>
          </a:xfrm>
        </p:spPr>
        <p:txBody>
          <a:bodyPr/>
          <a:lstStyle/>
          <a:p>
            <a:endParaRPr lang="en-IN" dirty="0" smtClean="0"/>
          </a:p>
          <a:p>
            <a:r>
              <a:rPr lang="en-IN" dirty="0" smtClean="0"/>
              <a:t>IV B.TECH II SEM</a:t>
            </a:r>
            <a:endParaRPr lang="en-IN" dirty="0"/>
          </a:p>
        </p:txBody>
      </p:sp>
    </p:spTree>
    <p:extLst>
      <p:ext uri="{BB962C8B-B14F-4D97-AF65-F5344CB8AC3E}">
        <p14:creationId xmlns:p14="http://schemas.microsoft.com/office/powerpoint/2010/main" val="1530834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3150" y="1900237"/>
            <a:ext cx="8229600" cy="2843213"/>
          </a:xfrm>
        </p:spPr>
        <p:txBody>
          <a:bodyPr>
            <a:normAutofit fontScale="90000"/>
          </a:bodyPr>
          <a:lstStyle/>
          <a:p>
            <a:r>
              <a:rPr lang="en-US" dirty="0" smtClean="0"/>
              <a:t> </a:t>
            </a:r>
            <a:br>
              <a:rPr lang="en-US" dirty="0" smtClean="0"/>
            </a:br>
            <a:r>
              <a:rPr lang="en-US" dirty="0" smtClean="0"/>
              <a:t>UNIT-4</a:t>
            </a:r>
            <a:br>
              <a:rPr lang="en-US" dirty="0" smtClean="0"/>
            </a:br>
            <a:r>
              <a:rPr lang="en-US" dirty="0" smtClean="0"/>
              <a:t>Forensic of Hand-Held Devices</a:t>
            </a:r>
            <a:endParaRPr lang="en-US" dirty="0"/>
          </a:p>
        </p:txBody>
      </p:sp>
    </p:spTree>
    <p:extLst>
      <p:ext uri="{BB962C8B-B14F-4D97-AF65-F5344CB8AC3E}">
        <p14:creationId xmlns:p14="http://schemas.microsoft.com/office/powerpoint/2010/main" val="10773962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IN" smtClean="0"/>
              <a:t>Syllabus</a:t>
            </a:r>
            <a:endParaRPr lang="en-IN"/>
          </a:p>
        </p:txBody>
      </p:sp>
      <p:sp>
        <p:nvSpPr>
          <p:cNvPr id="3" name="Content Placeholder 2"/>
          <p:cNvSpPr>
            <a:spLocks noGrp="1"/>
          </p:cNvSpPr>
          <p:nvPr>
            <p:ph idx="1"/>
          </p:nvPr>
        </p:nvSpPr>
        <p:spPr>
          <a:xfrm>
            <a:off x="1676400" y="1690688"/>
            <a:ext cx="10515600" cy="4351338"/>
          </a:xfrm>
        </p:spPr>
        <p:txBody>
          <a:bodyPr/>
          <a:lstStyle/>
          <a:p>
            <a:pPr marL="0" indent="0" algn="just">
              <a:buNone/>
            </a:pPr>
            <a:r>
              <a:rPr lang="en-US" b="1" dirty="0"/>
              <a:t>UNIT 4: </a:t>
            </a:r>
            <a:r>
              <a:rPr lang="en-US" b="1" dirty="0" smtClean="0"/>
              <a:t>Forensic </a:t>
            </a:r>
            <a:r>
              <a:rPr lang="en-US" b="1" dirty="0"/>
              <a:t>of Hand –Held Devices</a:t>
            </a:r>
            <a:r>
              <a:rPr lang="en-US" dirty="0"/>
              <a:t>-Understanding cell phone working characteristics- Hand-Held devices and digital forensic- Toolkits for Hand-Held device-Forensic of </a:t>
            </a:r>
            <a:r>
              <a:rPr lang="en-US" dirty="0" err="1"/>
              <a:t>i</a:t>
            </a:r>
            <a:r>
              <a:rPr lang="en-US" dirty="0"/>
              <a:t>-pod and digital music devices-Techno legal Challenges with evidence from hand-held Devices. Cases</a:t>
            </a:r>
            <a:endParaRPr lang="en-IN" dirty="0"/>
          </a:p>
        </p:txBody>
      </p:sp>
    </p:spTree>
    <p:extLst>
      <p:ext uri="{BB962C8B-B14F-4D97-AF65-F5344CB8AC3E}">
        <p14:creationId xmlns:p14="http://schemas.microsoft.com/office/powerpoint/2010/main" val="220176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6850" y="0"/>
            <a:ext cx="10515600" cy="1325563"/>
          </a:xfrm>
        </p:spPr>
        <p:txBody>
          <a:bodyPr/>
          <a:lstStyle/>
          <a:p>
            <a:r>
              <a:rPr lang="en-US" dirty="0" smtClean="0"/>
              <a:t>Learning Objectives</a:t>
            </a:r>
            <a:endParaRPr lang="en-US" dirty="0"/>
          </a:p>
        </p:txBody>
      </p:sp>
      <p:sp>
        <p:nvSpPr>
          <p:cNvPr id="3" name="Content Placeholder 2"/>
          <p:cNvSpPr>
            <a:spLocks noGrp="1"/>
          </p:cNvSpPr>
          <p:nvPr>
            <p:ph idx="1"/>
          </p:nvPr>
        </p:nvSpPr>
        <p:spPr>
          <a:xfrm>
            <a:off x="1981200" y="1935480"/>
            <a:ext cx="8229600" cy="4617720"/>
          </a:xfrm>
        </p:spPr>
        <p:txBody>
          <a:bodyPr>
            <a:normAutofit/>
          </a:bodyPr>
          <a:lstStyle/>
          <a:p>
            <a:pPr algn="just"/>
            <a:r>
              <a:rPr lang="en-US" dirty="0" smtClean="0"/>
              <a:t>Learn about different types of hand-held devices.</a:t>
            </a:r>
          </a:p>
          <a:p>
            <a:pPr algn="just"/>
            <a:r>
              <a:rPr lang="en-US" dirty="0" smtClean="0"/>
              <a:t>Get an overview of cell phone characteristics.</a:t>
            </a:r>
          </a:p>
          <a:p>
            <a:pPr algn="just"/>
            <a:r>
              <a:rPr lang="en-US" dirty="0" smtClean="0"/>
              <a:t>Understand the guidelines for cell phones forensics.</a:t>
            </a:r>
          </a:p>
          <a:p>
            <a:pPr algn="just"/>
            <a:r>
              <a:rPr lang="en-US" dirty="0" smtClean="0"/>
              <a:t>Understand the forensics aspects of </a:t>
            </a:r>
            <a:r>
              <a:rPr lang="en-US" dirty="0" err="1" smtClean="0"/>
              <a:t>iphone</a:t>
            </a:r>
            <a:r>
              <a:rPr lang="en-US" dirty="0" smtClean="0"/>
              <a:t>, </a:t>
            </a:r>
            <a:r>
              <a:rPr lang="en-US" dirty="0" err="1" smtClean="0"/>
              <a:t>ipod</a:t>
            </a:r>
            <a:r>
              <a:rPr lang="en-US" dirty="0" smtClean="0"/>
              <a:t>, printers and digital cameras.</a:t>
            </a:r>
          </a:p>
          <a:p>
            <a:pPr algn="just"/>
            <a:r>
              <a:rPr lang="en-US" dirty="0" smtClean="0"/>
              <a:t>Get an overview of tools used of the forensics of hand-held devices.</a:t>
            </a:r>
          </a:p>
          <a:p>
            <a:pPr algn="just"/>
            <a:r>
              <a:rPr lang="en-US" dirty="0" smtClean="0"/>
              <a:t>Learn about legal aspects involved in forensics.</a:t>
            </a:r>
          </a:p>
          <a:p>
            <a:pPr algn="just"/>
            <a:endParaRPr lang="en-US" dirty="0" smtClean="0"/>
          </a:p>
          <a:p>
            <a:pPr algn="just"/>
            <a:endParaRPr lang="en-US" dirty="0" smtClean="0"/>
          </a:p>
        </p:txBody>
      </p:sp>
    </p:spTree>
    <p:extLst>
      <p:ext uri="{BB962C8B-B14F-4D97-AF65-F5344CB8AC3E}">
        <p14:creationId xmlns:p14="http://schemas.microsoft.com/office/powerpoint/2010/main" val="5074503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pPr algn="just"/>
            <a:r>
              <a:rPr lang="en-IN" dirty="0" smtClean="0"/>
              <a:t>Introduction</a:t>
            </a:r>
            <a:endParaRPr lang="en-IN" dirty="0"/>
          </a:p>
        </p:txBody>
      </p:sp>
      <p:sp>
        <p:nvSpPr>
          <p:cNvPr id="3" name="Content Placeholder 2"/>
          <p:cNvSpPr>
            <a:spLocks noGrp="1"/>
          </p:cNvSpPr>
          <p:nvPr>
            <p:ph idx="1"/>
          </p:nvPr>
        </p:nvSpPr>
        <p:spPr>
          <a:xfrm>
            <a:off x="1681161" y="1571625"/>
            <a:ext cx="10177463" cy="4214813"/>
          </a:xfrm>
        </p:spPr>
        <p:txBody>
          <a:bodyPr>
            <a:normAutofit/>
          </a:bodyPr>
          <a:lstStyle/>
          <a:p>
            <a:pPr algn="just"/>
            <a:r>
              <a:rPr lang="en-IN" dirty="0" smtClean="0"/>
              <a:t>In this chapter we will address the forensics of small hand-held devices- mobile phones, </a:t>
            </a:r>
            <a:r>
              <a:rPr lang="en-IN" dirty="0" err="1" smtClean="0"/>
              <a:t>iphones</a:t>
            </a:r>
            <a:r>
              <a:rPr lang="en-IN" dirty="0" smtClean="0"/>
              <a:t>, </a:t>
            </a:r>
            <a:r>
              <a:rPr lang="en-IN" dirty="0" err="1" smtClean="0"/>
              <a:t>smartphones</a:t>
            </a:r>
            <a:r>
              <a:rPr lang="en-IN" dirty="0" smtClean="0"/>
              <a:t>, music and video players.</a:t>
            </a:r>
          </a:p>
          <a:p>
            <a:pPr marL="0" indent="0" algn="just">
              <a:buNone/>
            </a:pPr>
            <a:endParaRPr lang="en-IN" dirty="0" smtClean="0"/>
          </a:p>
          <a:p>
            <a:pPr algn="just"/>
            <a:r>
              <a:rPr lang="en-IN" dirty="0" smtClean="0"/>
              <a:t>In fact, “device forensics/hand-held forensics” has emerged as a specialized application of digital forensics.</a:t>
            </a:r>
          </a:p>
          <a:p>
            <a:pPr algn="just"/>
            <a:endParaRPr lang="en-IN" dirty="0" smtClean="0"/>
          </a:p>
          <a:p>
            <a:pPr algn="just"/>
            <a:r>
              <a:rPr lang="en-IN" dirty="0" smtClean="0"/>
              <a:t>This can be understood given the rise in workforce mobility and the spread of mobile computing.</a:t>
            </a:r>
            <a:endParaRPr lang="en-IN" dirty="0"/>
          </a:p>
        </p:txBody>
      </p:sp>
    </p:spTree>
    <p:extLst>
      <p:ext uri="{BB962C8B-B14F-4D97-AF65-F5344CB8AC3E}">
        <p14:creationId xmlns:p14="http://schemas.microsoft.com/office/powerpoint/2010/main" val="2003688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447800"/>
          </a:xfrm>
        </p:spPr>
        <p:txBody>
          <a:bodyPr>
            <a:normAutofit/>
          </a:bodyPr>
          <a:lstStyle/>
          <a:p>
            <a:r>
              <a:rPr lang="en-IN" dirty="0" smtClean="0"/>
              <a:t>Understanding Cell Phone Working Characteristics</a:t>
            </a:r>
            <a:endParaRPr lang="en-IN" dirty="0"/>
          </a:p>
        </p:txBody>
      </p:sp>
      <p:sp>
        <p:nvSpPr>
          <p:cNvPr id="3" name="Content Placeholder 2"/>
          <p:cNvSpPr>
            <a:spLocks noGrp="1"/>
          </p:cNvSpPr>
          <p:nvPr>
            <p:ph idx="1"/>
          </p:nvPr>
        </p:nvSpPr>
        <p:spPr>
          <a:xfrm>
            <a:off x="1643063" y="1600200"/>
            <a:ext cx="10015537" cy="4876800"/>
          </a:xfrm>
        </p:spPr>
        <p:txBody>
          <a:bodyPr>
            <a:normAutofit/>
          </a:bodyPr>
          <a:lstStyle/>
          <a:p>
            <a:pPr algn="just"/>
            <a:r>
              <a:rPr lang="en-IN" dirty="0" smtClean="0"/>
              <a:t>As crimes involving mobile devices are becoming increasingly common in the community, forensics and digital analysis of mobile phones is an area of interest.</a:t>
            </a:r>
          </a:p>
          <a:p>
            <a:pPr algn="just"/>
            <a:endParaRPr lang="en-IN" dirty="0" smtClean="0"/>
          </a:p>
          <a:p>
            <a:pPr algn="just"/>
            <a:r>
              <a:rPr lang="en-IN" dirty="0" smtClean="0"/>
              <a:t>The additional complexity comes from the ability of modern mobile phones to store reasonably large amount of information and makes them a very attractive target for criminals.</a:t>
            </a:r>
          </a:p>
          <a:p>
            <a:pPr algn="just"/>
            <a:endParaRPr lang="en-IN" dirty="0" smtClean="0"/>
          </a:p>
          <a:p>
            <a:pPr algn="just"/>
            <a:r>
              <a:rPr lang="en-IN" dirty="0" smtClean="0"/>
              <a:t>Let us overview the hardware and software capabilities of cell phones and their associated cellular networks.</a:t>
            </a:r>
            <a:endParaRPr lang="en-IN" dirty="0"/>
          </a:p>
        </p:txBody>
      </p:sp>
    </p:spTree>
    <p:extLst>
      <p:ext uri="{BB962C8B-B14F-4D97-AF65-F5344CB8AC3E}">
        <p14:creationId xmlns:p14="http://schemas.microsoft.com/office/powerpoint/2010/main" val="4177525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219200"/>
          </a:xfrm>
        </p:spPr>
        <p:txBody>
          <a:bodyPr>
            <a:normAutofit fontScale="90000"/>
          </a:bodyPr>
          <a:lstStyle/>
          <a:p>
            <a:r>
              <a:rPr lang="en-IN" dirty="0" smtClean="0"/>
              <a:t>Understanding the types of cellular Networks </a:t>
            </a:r>
            <a:endParaRPr lang="en-IN" dirty="0"/>
          </a:p>
        </p:txBody>
      </p:sp>
      <p:sp>
        <p:nvSpPr>
          <p:cNvPr id="3" name="Content Placeholder 2"/>
          <p:cNvSpPr>
            <a:spLocks noGrp="1"/>
          </p:cNvSpPr>
          <p:nvPr>
            <p:ph idx="1"/>
          </p:nvPr>
        </p:nvSpPr>
        <p:spPr>
          <a:xfrm>
            <a:off x="1681161" y="1557338"/>
            <a:ext cx="10248901" cy="4086225"/>
          </a:xfrm>
        </p:spPr>
        <p:txBody>
          <a:bodyPr/>
          <a:lstStyle/>
          <a:p>
            <a:pPr algn="just"/>
            <a:r>
              <a:rPr lang="en-IN" dirty="0" smtClean="0"/>
              <a:t>There are different types of cellular networks like AMPS( </a:t>
            </a:r>
            <a:r>
              <a:rPr lang="en-IN" dirty="0" err="1" smtClean="0"/>
              <a:t>Analog</a:t>
            </a:r>
            <a:r>
              <a:rPr lang="en-IN" dirty="0" smtClean="0"/>
              <a:t>), TDMA, GSM, CDMA, NTT </a:t>
            </a:r>
            <a:r>
              <a:rPr lang="en-IN" dirty="0" err="1" smtClean="0"/>
              <a:t>DoCoMo</a:t>
            </a:r>
            <a:r>
              <a:rPr lang="en-IN" dirty="0" smtClean="0"/>
              <a:t>, ETC., but most dominant type of digital cellular networks are </a:t>
            </a:r>
          </a:p>
          <a:p>
            <a:pPr lvl="1" algn="just"/>
            <a:r>
              <a:rPr lang="en-IN" dirty="0" smtClean="0"/>
              <a:t>Code Division Multiple Access (CDMA)</a:t>
            </a:r>
          </a:p>
          <a:p>
            <a:pPr lvl="1" algn="just"/>
            <a:r>
              <a:rPr lang="en-IN" dirty="0" smtClean="0"/>
              <a:t>Global System for Mobile Communication (GSM) Network</a:t>
            </a:r>
          </a:p>
          <a:p>
            <a:pPr lvl="1" algn="just"/>
            <a:endParaRPr lang="en-IN" dirty="0" smtClean="0"/>
          </a:p>
          <a:p>
            <a:pPr marL="0" lvl="1" indent="0" algn="just"/>
            <a:r>
              <a:rPr lang="en-IN" dirty="0" smtClean="0"/>
              <a:t>There are other common cellular networks like TDMA and Integrated Digital Enhanced Network (</a:t>
            </a:r>
            <a:r>
              <a:rPr lang="en-IN" dirty="0" err="1" smtClean="0"/>
              <a:t>iDEN</a:t>
            </a:r>
            <a:r>
              <a:rPr lang="en-IN" dirty="0" smtClean="0"/>
              <a:t>) network use a proprietary protocol designed by Motorola, while other follow standardized open protocols.</a:t>
            </a:r>
            <a:endParaRPr lang="en-IN" dirty="0"/>
          </a:p>
        </p:txBody>
      </p:sp>
    </p:spTree>
    <p:extLst>
      <p:ext uri="{BB962C8B-B14F-4D97-AF65-F5344CB8AC3E}">
        <p14:creationId xmlns:p14="http://schemas.microsoft.com/office/powerpoint/2010/main" val="13016623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1143000"/>
          </a:xfrm>
        </p:spPr>
        <p:txBody>
          <a:bodyPr/>
          <a:lstStyle/>
          <a:p>
            <a:r>
              <a:rPr lang="en-IN" dirty="0" smtClean="0"/>
              <a:t>NTT </a:t>
            </a:r>
            <a:r>
              <a:rPr lang="en-IN" dirty="0" err="1" smtClean="0"/>
              <a:t>DoCoMo</a:t>
            </a:r>
            <a:endParaRPr lang="en-IN" dirty="0"/>
          </a:p>
        </p:txBody>
      </p:sp>
      <p:sp>
        <p:nvSpPr>
          <p:cNvPr id="3" name="Content Placeholder 2"/>
          <p:cNvSpPr>
            <a:spLocks noGrp="1"/>
          </p:cNvSpPr>
          <p:nvPr>
            <p:ph idx="1"/>
          </p:nvPr>
        </p:nvSpPr>
        <p:spPr>
          <a:xfrm>
            <a:off x="1738313" y="1566863"/>
            <a:ext cx="10177462" cy="3805238"/>
          </a:xfrm>
        </p:spPr>
        <p:txBody>
          <a:bodyPr>
            <a:normAutofit/>
          </a:bodyPr>
          <a:lstStyle/>
          <a:p>
            <a:pPr algn="just"/>
            <a:r>
              <a:rPr lang="en-IN" sz="2400" dirty="0"/>
              <a:t>Digital Advanced Mobile Phone Service (D-AMPS) is the digital version of original standard for cellular telephone service.</a:t>
            </a:r>
          </a:p>
          <a:p>
            <a:pPr algn="just"/>
            <a:r>
              <a:rPr lang="en-IN" sz="2400" dirty="0" smtClean="0"/>
              <a:t>NTT </a:t>
            </a:r>
            <a:r>
              <a:rPr lang="en-IN" sz="2400" dirty="0"/>
              <a:t>DoCoMo is Japan’s largest wireless network carrier, they offer a service known as 2G Personal Digital Cellular and it was the first in the world to offer 3G service with their  Wideband Code Division Multiple Access (WCDMA)- based Freedom of Mobile Multimedia Access ( FOMA) network.</a:t>
            </a:r>
          </a:p>
          <a:p>
            <a:pPr algn="just"/>
            <a:r>
              <a:rPr lang="en-IN" sz="2400" dirty="0" smtClean="0"/>
              <a:t>WCDMA </a:t>
            </a:r>
            <a:r>
              <a:rPr lang="en-IN" sz="2400" dirty="0"/>
              <a:t>implementation is different although it is based on CDMA. CDMA uses one or more 1.25 MHz channels where as WCDMA uses two 5MHz channels.</a:t>
            </a:r>
          </a:p>
          <a:p>
            <a:pPr algn="just"/>
            <a:endParaRPr lang="en-IN" dirty="0"/>
          </a:p>
        </p:txBody>
      </p:sp>
    </p:spTree>
    <p:extLst>
      <p:ext uri="{BB962C8B-B14F-4D97-AF65-F5344CB8AC3E}">
        <p14:creationId xmlns:p14="http://schemas.microsoft.com/office/powerpoint/2010/main" val="2087305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686800" cy="743712"/>
          </a:xfrm>
        </p:spPr>
        <p:txBody>
          <a:bodyPr>
            <a:normAutofit fontScale="90000"/>
          </a:bodyPr>
          <a:lstStyle/>
          <a:p>
            <a:r>
              <a:rPr lang="en-IN" sz="4000" dirty="0"/>
              <a:t>Cell Phones: Hardware and Software features</a:t>
            </a:r>
            <a:endParaRPr lang="en-IN" dirty="0"/>
          </a:p>
        </p:txBody>
      </p:sp>
      <p:sp>
        <p:nvSpPr>
          <p:cNvPr id="3" name="Content Placeholder 2"/>
          <p:cNvSpPr>
            <a:spLocks noGrp="1"/>
          </p:cNvSpPr>
          <p:nvPr>
            <p:ph idx="1"/>
          </p:nvPr>
        </p:nvSpPr>
        <p:spPr>
          <a:xfrm>
            <a:off x="1724025" y="1600200"/>
            <a:ext cx="10363200" cy="4500563"/>
          </a:xfrm>
        </p:spPr>
        <p:txBody>
          <a:bodyPr/>
          <a:lstStyle/>
          <a:p>
            <a:r>
              <a:rPr lang="en-IN" dirty="0" smtClean="0"/>
              <a:t>Different devices have different technical and physical features/characteristics (e.g. Size, weight, processor speed and memory capacity). </a:t>
            </a:r>
          </a:p>
          <a:p>
            <a:endParaRPr lang="en-IN" dirty="0" smtClean="0"/>
          </a:p>
          <a:p>
            <a:r>
              <a:rPr lang="en-IN" dirty="0" err="1" smtClean="0"/>
              <a:t>Smartphones</a:t>
            </a:r>
            <a:r>
              <a:rPr lang="en-IN" dirty="0" smtClean="0"/>
              <a:t> are very high-end devices – they posses PDA-like capability for reviewing electronic documents.</a:t>
            </a:r>
          </a:p>
          <a:p>
            <a:endParaRPr lang="en-IN" dirty="0" smtClean="0"/>
          </a:p>
          <a:p>
            <a:r>
              <a:rPr lang="en-IN" dirty="0" err="1" smtClean="0"/>
              <a:t>Smartphones</a:t>
            </a:r>
            <a:r>
              <a:rPr lang="en-IN" dirty="0" smtClean="0"/>
              <a:t> are capable of running a wide variety of general and special purpose applications.</a:t>
            </a:r>
            <a:endParaRPr lang="en-IN" dirty="0"/>
          </a:p>
        </p:txBody>
      </p:sp>
    </p:spTree>
    <p:extLst>
      <p:ext uri="{BB962C8B-B14F-4D97-AF65-F5344CB8AC3E}">
        <p14:creationId xmlns:p14="http://schemas.microsoft.com/office/powerpoint/2010/main" val="1573650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r>
              <a:rPr lang="en-IN" sz="3200" dirty="0"/>
              <a:t>Hand-held Devices and Digital Forensics</a:t>
            </a:r>
          </a:p>
        </p:txBody>
      </p:sp>
      <p:sp>
        <p:nvSpPr>
          <p:cNvPr id="3" name="Content Placeholder 2"/>
          <p:cNvSpPr>
            <a:spLocks noGrp="1"/>
          </p:cNvSpPr>
          <p:nvPr>
            <p:ph idx="1"/>
          </p:nvPr>
        </p:nvSpPr>
        <p:spPr>
          <a:xfrm>
            <a:off x="1795462" y="1524000"/>
            <a:ext cx="10091737" cy="4562475"/>
          </a:xfrm>
        </p:spPr>
        <p:txBody>
          <a:bodyPr>
            <a:normAutofit lnSpcReduction="10000"/>
          </a:bodyPr>
          <a:lstStyle/>
          <a:p>
            <a:pPr algn="just"/>
            <a:r>
              <a:rPr lang="en-IN" dirty="0" smtClean="0"/>
              <a:t>Device forensics is a branch of computer forensics; it deals gathering digital evidence available in different types of devices such as mobile phones, PDA, iPod, printers, scanners, camera, fax machines, etc.</a:t>
            </a:r>
          </a:p>
          <a:p>
            <a:pPr algn="just"/>
            <a:endParaRPr lang="en-IN" dirty="0" smtClean="0"/>
          </a:p>
          <a:p>
            <a:pPr algn="just"/>
            <a:r>
              <a:rPr lang="en-IN" dirty="0" smtClean="0"/>
              <a:t>The normal computer forensics procedures is inadequate to identify and collect the evidence from these devices.</a:t>
            </a:r>
          </a:p>
          <a:p>
            <a:pPr algn="just"/>
            <a:endParaRPr lang="en-IN" dirty="0" smtClean="0"/>
          </a:p>
          <a:p>
            <a:pPr algn="just"/>
            <a:r>
              <a:rPr lang="en-IN" dirty="0" smtClean="0"/>
              <a:t>Sound forensics techniques along with systematic approach are essential for collecting evidence in such devices and to ensure its admissibility in a court of law.</a:t>
            </a:r>
          </a:p>
          <a:p>
            <a:pPr algn="just"/>
            <a:endParaRPr lang="en-IN" dirty="0"/>
          </a:p>
        </p:txBody>
      </p:sp>
    </p:spTree>
    <p:extLst>
      <p:ext uri="{BB962C8B-B14F-4D97-AF65-F5344CB8AC3E}">
        <p14:creationId xmlns:p14="http://schemas.microsoft.com/office/powerpoint/2010/main" val="124486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r>
              <a:rPr lang="en-IN" sz="3200" dirty="0"/>
              <a:t>Mobile Phone Forensics</a:t>
            </a:r>
          </a:p>
        </p:txBody>
      </p:sp>
      <p:sp>
        <p:nvSpPr>
          <p:cNvPr id="3" name="Content Placeholder 2"/>
          <p:cNvSpPr>
            <a:spLocks noGrp="1"/>
          </p:cNvSpPr>
          <p:nvPr>
            <p:ph idx="1"/>
          </p:nvPr>
        </p:nvSpPr>
        <p:spPr>
          <a:xfrm>
            <a:off x="1609724" y="1524000"/>
            <a:ext cx="9991725" cy="4705350"/>
          </a:xfrm>
        </p:spPr>
        <p:txBody>
          <a:bodyPr/>
          <a:lstStyle/>
          <a:p>
            <a:pPr algn="just"/>
            <a:r>
              <a:rPr lang="en-IN" dirty="0" smtClean="0"/>
              <a:t>Mobile phone forensics is the science of recovering digital evidence from a mobile phone under forensically sound conditions using accepted methods.</a:t>
            </a:r>
          </a:p>
          <a:p>
            <a:pPr algn="just"/>
            <a:endParaRPr lang="en-IN" dirty="0" smtClean="0"/>
          </a:p>
          <a:p>
            <a:pPr algn="just"/>
            <a:r>
              <a:rPr lang="en-IN" dirty="0" smtClean="0"/>
              <a:t>Features of cellular networks constitute a critical aspect of cell phone forensics, since logs of usage and other data are maintained there.</a:t>
            </a:r>
          </a:p>
          <a:p>
            <a:pPr algn="just"/>
            <a:endParaRPr lang="en-IN" dirty="0" smtClean="0"/>
          </a:p>
          <a:p>
            <a:pPr algn="just"/>
            <a:r>
              <a:rPr lang="en-IN" dirty="0" smtClean="0"/>
              <a:t>Cell phones forensics includes the analysis of both SIM and Phone Memory; each requires separate procedure to deal with.</a:t>
            </a:r>
            <a:endParaRPr lang="en-IN" dirty="0"/>
          </a:p>
        </p:txBody>
      </p:sp>
    </p:spTree>
    <p:extLst>
      <p:ext uri="{BB962C8B-B14F-4D97-AF65-F5344CB8AC3E}">
        <p14:creationId xmlns:p14="http://schemas.microsoft.com/office/powerpoint/2010/main" val="2817376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652588" y="1566863"/>
            <a:ext cx="10034588" cy="4633913"/>
          </a:xfrm>
        </p:spPr>
        <p:txBody>
          <a:bodyPr>
            <a:normAutofit lnSpcReduction="10000"/>
          </a:bodyPr>
          <a:lstStyle/>
          <a:p>
            <a:pPr algn="just"/>
            <a:r>
              <a:rPr lang="en-IN" dirty="0" smtClean="0"/>
              <a:t>Every time a cell phone is Switched ON or a call is made, the IMEI(International Mobile Equipment Identity) number is transmitted out to the network provider where it gets tailed against and information directory called Equipment Identity Register(EIR).</a:t>
            </a:r>
          </a:p>
          <a:p>
            <a:pPr algn="just"/>
            <a:endParaRPr lang="en-IN" dirty="0" smtClean="0"/>
          </a:p>
          <a:p>
            <a:pPr algn="just"/>
            <a:r>
              <a:rPr lang="en-IN" dirty="0" smtClean="0"/>
              <a:t>Using EIR information, a telecom company can locate a particular cell phone by pinpointing its proximity to the nearest tower.</a:t>
            </a:r>
          </a:p>
          <a:p>
            <a:pPr algn="just"/>
            <a:endParaRPr lang="en-IN" dirty="0" smtClean="0"/>
          </a:p>
          <a:p>
            <a:pPr algn="just"/>
            <a:r>
              <a:rPr lang="en-IN" dirty="0" smtClean="0"/>
              <a:t>In special case like theft, the telecom company can also block the particular cell phone reducing it to a piece of plastic junk.</a:t>
            </a:r>
            <a:endParaRPr lang="en-IN" dirty="0"/>
          </a:p>
        </p:txBody>
      </p:sp>
    </p:spTree>
    <p:extLst>
      <p:ext uri="{BB962C8B-B14F-4D97-AF65-F5344CB8AC3E}">
        <p14:creationId xmlns:p14="http://schemas.microsoft.com/office/powerpoint/2010/main" val="2088821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766886" y="1524000"/>
            <a:ext cx="10234613" cy="4476750"/>
          </a:xfrm>
        </p:spPr>
        <p:txBody>
          <a:bodyPr/>
          <a:lstStyle/>
          <a:p>
            <a:pPr algn="just"/>
            <a:r>
              <a:rPr lang="en-IN" dirty="0" smtClean="0"/>
              <a:t>A point to note that not all activities with a mobile phone lead to impact on radio and fixed mobile networks.</a:t>
            </a:r>
          </a:p>
          <a:p>
            <a:pPr algn="just"/>
            <a:endParaRPr lang="en-IN" dirty="0" smtClean="0"/>
          </a:p>
          <a:p>
            <a:pPr algn="just"/>
            <a:r>
              <a:rPr lang="en-IN" dirty="0" smtClean="0"/>
              <a:t>Network records are not limited to billing records; therefore cell site analysis should not be excluded when you are considering this model.</a:t>
            </a:r>
          </a:p>
          <a:p>
            <a:pPr algn="just"/>
            <a:endParaRPr lang="en-IN" dirty="0" smtClean="0"/>
          </a:p>
          <a:p>
            <a:pPr algn="just"/>
            <a:r>
              <a:rPr lang="en-IN" dirty="0" smtClean="0"/>
              <a:t>Mobile devices specially refer to cellular (or mobile ) phones, PDAs and Smartphone; not USB drives or memory sticks.</a:t>
            </a:r>
            <a:endParaRPr lang="en-IN" dirty="0"/>
          </a:p>
        </p:txBody>
      </p:sp>
    </p:spTree>
    <p:extLst>
      <p:ext uri="{BB962C8B-B14F-4D97-AF65-F5344CB8AC3E}">
        <p14:creationId xmlns:p14="http://schemas.microsoft.com/office/powerpoint/2010/main" val="206745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738312" y="1524000"/>
            <a:ext cx="10148888" cy="4648200"/>
          </a:xfrm>
        </p:spPr>
        <p:txBody>
          <a:bodyPr>
            <a:normAutofit/>
          </a:bodyPr>
          <a:lstStyle/>
          <a:p>
            <a:r>
              <a:rPr lang="en-IN" dirty="0" smtClean="0"/>
              <a:t>Mobile Device representation comes in various forms:</a:t>
            </a:r>
          </a:p>
          <a:p>
            <a:pPr lvl="1"/>
            <a:r>
              <a:rPr lang="en-IN" b="1" dirty="0" smtClean="0"/>
              <a:t>1. Cellular phones</a:t>
            </a:r>
          </a:p>
          <a:p>
            <a:pPr lvl="2"/>
            <a:r>
              <a:rPr lang="en-IN" dirty="0" smtClean="0"/>
              <a:t>CDMA: typically handset only;</a:t>
            </a:r>
          </a:p>
          <a:p>
            <a:pPr lvl="2"/>
            <a:r>
              <a:rPr lang="en-IN" dirty="0" smtClean="0"/>
              <a:t>GSM: handset and </a:t>
            </a:r>
            <a:r>
              <a:rPr lang="en-IN" dirty="0" err="1" smtClean="0"/>
              <a:t>sim</a:t>
            </a:r>
            <a:r>
              <a:rPr lang="en-IN" dirty="0" smtClean="0"/>
              <a:t>;</a:t>
            </a:r>
          </a:p>
          <a:p>
            <a:pPr lvl="2"/>
            <a:r>
              <a:rPr lang="en-IN" dirty="0" err="1" smtClean="0"/>
              <a:t>iDEN</a:t>
            </a:r>
            <a:r>
              <a:rPr lang="en-IN" dirty="0" smtClean="0"/>
              <a:t>: handset and </a:t>
            </a:r>
            <a:r>
              <a:rPr lang="en-IN" dirty="0" err="1" smtClean="0"/>
              <a:t>sim</a:t>
            </a:r>
            <a:r>
              <a:rPr lang="en-IN" dirty="0" smtClean="0"/>
              <a:t>;</a:t>
            </a:r>
          </a:p>
          <a:p>
            <a:pPr marL="541338" lvl="2" indent="-90488">
              <a:buNone/>
            </a:pPr>
            <a:r>
              <a:rPr lang="en-IN" b="1" dirty="0" smtClean="0"/>
              <a:t>2. PDAs</a:t>
            </a:r>
          </a:p>
          <a:p>
            <a:pPr lvl="2"/>
            <a:r>
              <a:rPr lang="en-IN" dirty="0" smtClean="0"/>
              <a:t>Palm Pilots(palm OS)</a:t>
            </a:r>
          </a:p>
          <a:p>
            <a:pPr lvl="2"/>
            <a:r>
              <a:rPr lang="en-IN" dirty="0" smtClean="0"/>
              <a:t>Packet PC’s( Windows CE, Windows Mobile)</a:t>
            </a:r>
          </a:p>
          <a:p>
            <a:pPr lvl="2"/>
            <a:r>
              <a:rPr lang="en-IN" dirty="0" smtClean="0"/>
              <a:t>Blackberry’s(RIM OS) that contain no radio( Cellular) capability;</a:t>
            </a:r>
          </a:p>
          <a:p>
            <a:pPr lvl="2"/>
            <a:r>
              <a:rPr lang="en-IN" dirty="0" smtClean="0"/>
              <a:t>Others(Linux, Newton).</a:t>
            </a:r>
          </a:p>
          <a:p>
            <a:pPr lvl="2"/>
            <a:endParaRPr lang="en-IN" dirty="0" smtClean="0"/>
          </a:p>
          <a:p>
            <a:pPr lvl="2" indent="-463550">
              <a:buNone/>
            </a:pPr>
            <a:r>
              <a:rPr lang="en-IN" b="1" dirty="0" smtClean="0"/>
              <a:t>3. </a:t>
            </a:r>
            <a:r>
              <a:rPr lang="en-IN" b="1" dirty="0" err="1" smtClean="0"/>
              <a:t>Smartphones</a:t>
            </a:r>
            <a:r>
              <a:rPr lang="en-IN" b="1" dirty="0" smtClean="0"/>
              <a:t>: </a:t>
            </a:r>
            <a:r>
              <a:rPr lang="en-IN" dirty="0" smtClean="0"/>
              <a:t>They are the hybrid between 1 and 2 have radio capability.</a:t>
            </a:r>
            <a:endParaRPr lang="en-IN" dirty="0"/>
          </a:p>
        </p:txBody>
      </p:sp>
    </p:spTree>
    <p:extLst>
      <p:ext uri="{BB962C8B-B14F-4D97-AF65-F5344CB8AC3E}">
        <p14:creationId xmlns:p14="http://schemas.microsoft.com/office/powerpoint/2010/main" val="2241641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r>
              <a:rPr lang="en-IN" sz="4000" dirty="0"/>
              <a:t>PDA Forensics</a:t>
            </a:r>
            <a:endParaRPr lang="en-IN" sz="3200" dirty="0"/>
          </a:p>
        </p:txBody>
      </p:sp>
      <p:sp>
        <p:nvSpPr>
          <p:cNvPr id="3" name="Content Placeholder 2"/>
          <p:cNvSpPr>
            <a:spLocks noGrp="1"/>
          </p:cNvSpPr>
          <p:nvPr>
            <p:ph idx="1"/>
          </p:nvPr>
        </p:nvSpPr>
        <p:spPr>
          <a:xfrm>
            <a:off x="1695449" y="1524000"/>
            <a:ext cx="10334625" cy="4562475"/>
          </a:xfrm>
        </p:spPr>
        <p:txBody>
          <a:bodyPr>
            <a:normAutofit fontScale="92500"/>
          </a:bodyPr>
          <a:lstStyle/>
          <a:p>
            <a:pPr algn="just"/>
            <a:r>
              <a:rPr lang="en-IN" dirty="0" smtClean="0"/>
              <a:t>PDAs are no longer just electronic devices holding personal information, appointments and address book.</a:t>
            </a:r>
          </a:p>
          <a:p>
            <a:pPr algn="just"/>
            <a:endParaRPr lang="en-IN" dirty="0" smtClean="0"/>
          </a:p>
          <a:p>
            <a:pPr algn="just"/>
            <a:r>
              <a:rPr lang="en-IN" dirty="0" smtClean="0"/>
              <a:t>Modern PDAs are hybrid devices integrating wireless, Bluetooth, infrared, Wi-Fi, camera, GPS, basic computing capabilities, Internet, etc., in addition to the standard PIM ( Personal Information Manger) features.</a:t>
            </a:r>
          </a:p>
          <a:p>
            <a:pPr algn="just"/>
            <a:endParaRPr lang="en-IN" dirty="0" smtClean="0"/>
          </a:p>
          <a:p>
            <a:pPr algn="just"/>
            <a:r>
              <a:rPr lang="en-IN" dirty="0" smtClean="0"/>
              <a:t>The major components of PDA are the </a:t>
            </a:r>
          </a:p>
          <a:p>
            <a:pPr lvl="1" algn="just"/>
            <a:r>
              <a:rPr lang="en-IN" dirty="0" smtClean="0"/>
              <a:t>Microprocessor ( Pocket sized)</a:t>
            </a:r>
          </a:p>
          <a:p>
            <a:pPr lvl="1" algn="just"/>
            <a:r>
              <a:rPr lang="en-IN" dirty="0" smtClean="0"/>
              <a:t>Input device ( most common is touch screen)</a:t>
            </a:r>
          </a:p>
          <a:p>
            <a:pPr lvl="1" algn="just"/>
            <a:r>
              <a:rPr lang="en-IN" dirty="0" smtClean="0"/>
              <a:t>OS </a:t>
            </a:r>
            <a:endParaRPr lang="en-IN" dirty="0"/>
          </a:p>
        </p:txBody>
      </p:sp>
    </p:spTree>
    <p:extLst>
      <p:ext uri="{BB962C8B-B14F-4D97-AF65-F5344CB8AC3E}">
        <p14:creationId xmlns:p14="http://schemas.microsoft.com/office/powerpoint/2010/main" val="1689307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809750" y="1524000"/>
            <a:ext cx="10191750" cy="4576763"/>
          </a:xfrm>
        </p:spPr>
        <p:txBody>
          <a:bodyPr>
            <a:normAutofit fontScale="92500" lnSpcReduction="10000"/>
          </a:bodyPr>
          <a:lstStyle/>
          <a:p>
            <a:r>
              <a:rPr lang="en-IN" dirty="0" smtClean="0"/>
              <a:t>Basically a PDA contains a processor, ROM, RAM and other ports for connecting the PDA to computer system.</a:t>
            </a:r>
          </a:p>
          <a:p>
            <a:endParaRPr lang="en-IN" dirty="0" smtClean="0"/>
          </a:p>
          <a:p>
            <a:r>
              <a:rPr lang="en-IN" dirty="0" smtClean="0"/>
              <a:t>ROM stores OS of the PDA, RAM stores the handler’s data and works with battery power.</a:t>
            </a:r>
          </a:p>
          <a:p>
            <a:endParaRPr lang="en-IN" dirty="0" smtClean="0"/>
          </a:p>
          <a:p>
            <a:r>
              <a:rPr lang="en-IN" dirty="0" smtClean="0"/>
              <a:t>Compact flash and secure digital slots assist cards of memory and wireless communication.</a:t>
            </a:r>
          </a:p>
          <a:p>
            <a:endParaRPr lang="en-IN" dirty="0" smtClean="0"/>
          </a:p>
          <a:p>
            <a:r>
              <a:rPr lang="en-IN" dirty="0" smtClean="0"/>
              <a:t>Users mainly use PDAs for storing data in various formats, access the internet, send and receive E-Mails.</a:t>
            </a:r>
          </a:p>
          <a:p>
            <a:endParaRPr lang="en-IN" dirty="0" smtClean="0"/>
          </a:p>
        </p:txBody>
      </p:sp>
    </p:spTree>
    <p:extLst>
      <p:ext uri="{BB962C8B-B14F-4D97-AF65-F5344CB8AC3E}">
        <p14:creationId xmlns:p14="http://schemas.microsoft.com/office/powerpoint/2010/main" val="886029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781175" y="1543050"/>
            <a:ext cx="10210800" cy="4286250"/>
          </a:xfrm>
        </p:spPr>
        <p:txBody>
          <a:bodyPr/>
          <a:lstStyle/>
          <a:p>
            <a:r>
              <a:rPr lang="en-IN" dirty="0" smtClean="0"/>
              <a:t>Hackers can hack these devices or use these devices, instead of using a computer, to hack user’s devices or other computers.</a:t>
            </a:r>
          </a:p>
          <a:p>
            <a:endParaRPr lang="en-IN" dirty="0" smtClean="0"/>
          </a:p>
          <a:p>
            <a:r>
              <a:rPr lang="en-IN" dirty="0" smtClean="0"/>
              <a:t>Therefore, there exists a need for having forensics tools not only for computers but also for these devices.</a:t>
            </a:r>
          </a:p>
          <a:p>
            <a:endParaRPr lang="en-IN" dirty="0" smtClean="0"/>
          </a:p>
          <a:p>
            <a:r>
              <a:rPr lang="en-IN" dirty="0" smtClean="0"/>
              <a:t>PDA forensic tools are listed in the table and the forensics phase supported by each of those tools is mentioned in the last three columns.</a:t>
            </a:r>
          </a:p>
          <a:p>
            <a:endParaRPr lang="en-IN" dirty="0"/>
          </a:p>
        </p:txBody>
      </p:sp>
    </p:spTree>
    <p:extLst>
      <p:ext uri="{BB962C8B-B14F-4D97-AF65-F5344CB8AC3E}">
        <p14:creationId xmlns:p14="http://schemas.microsoft.com/office/powerpoint/2010/main" val="2300571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endParaRPr lang="en-IN" sz="3200" dirty="0"/>
          </a:p>
        </p:txBody>
      </p:sp>
      <p:sp>
        <p:nvSpPr>
          <p:cNvPr id="3" name="Content Placeholder 2"/>
          <p:cNvSpPr>
            <a:spLocks noGrp="1"/>
          </p:cNvSpPr>
          <p:nvPr>
            <p:ph idx="1"/>
          </p:nvPr>
        </p:nvSpPr>
        <p:spPr>
          <a:xfrm>
            <a:off x="1666874" y="1538287"/>
            <a:ext cx="10048875" cy="4833938"/>
          </a:xfrm>
        </p:spPr>
        <p:txBody>
          <a:bodyPr>
            <a:normAutofit fontScale="92500" lnSpcReduction="20000"/>
          </a:bodyPr>
          <a:lstStyle/>
          <a:p>
            <a:pPr algn="just"/>
            <a:r>
              <a:rPr lang="en-IN" dirty="0" smtClean="0"/>
              <a:t>There are limited number of variety of toolkits for available for PDA’s and a range of devices over which they can operate is typically narrowed to only the most popular families of PDA Devices like Pocket PC and Palm OS.</a:t>
            </a:r>
          </a:p>
          <a:p>
            <a:pPr algn="just"/>
            <a:endParaRPr lang="en-IN" dirty="0" smtClean="0"/>
          </a:p>
          <a:p>
            <a:pPr algn="just"/>
            <a:r>
              <a:rPr lang="en-IN" dirty="0" smtClean="0"/>
              <a:t>The tools require that the examiner has full access t to the device without any authentication mechanism.</a:t>
            </a:r>
          </a:p>
          <a:p>
            <a:pPr algn="just"/>
            <a:endParaRPr lang="en-IN" dirty="0" smtClean="0"/>
          </a:p>
          <a:p>
            <a:pPr algn="just"/>
            <a:r>
              <a:rPr lang="en-IN" dirty="0" smtClean="0"/>
              <a:t>Evidence residing in PDA is of highly volatile and can easily altered or damaged.</a:t>
            </a:r>
          </a:p>
          <a:p>
            <a:pPr algn="just"/>
            <a:endParaRPr lang="en-IN" dirty="0" smtClean="0"/>
          </a:p>
          <a:p>
            <a:pPr algn="just"/>
            <a:r>
              <a:rPr lang="en-IN" dirty="0" smtClean="0"/>
              <a:t>Sound Forensics techniques with a systematic approach are required for collecting the evidence residing on a PDA.</a:t>
            </a:r>
            <a:endParaRPr lang="en-IN" dirty="0"/>
          </a:p>
        </p:txBody>
      </p:sp>
    </p:spTree>
    <p:extLst>
      <p:ext uri="{BB962C8B-B14F-4D97-AF65-F5344CB8AC3E}">
        <p14:creationId xmlns:p14="http://schemas.microsoft.com/office/powerpoint/2010/main" val="2061506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Autofit/>
          </a:bodyPr>
          <a:lstStyle/>
          <a:p>
            <a:r>
              <a:rPr lang="en-IN" sz="4000" dirty="0"/>
              <a:t>Printer Forensics</a:t>
            </a:r>
          </a:p>
        </p:txBody>
      </p:sp>
      <p:sp>
        <p:nvSpPr>
          <p:cNvPr id="3" name="Content Placeholder 2"/>
          <p:cNvSpPr>
            <a:spLocks noGrp="1"/>
          </p:cNvSpPr>
          <p:nvPr>
            <p:ph idx="1"/>
          </p:nvPr>
        </p:nvSpPr>
        <p:spPr>
          <a:xfrm>
            <a:off x="1781174" y="1524000"/>
            <a:ext cx="10120313" cy="3762375"/>
          </a:xfrm>
        </p:spPr>
        <p:txBody>
          <a:bodyPr>
            <a:normAutofit lnSpcReduction="10000"/>
          </a:bodyPr>
          <a:lstStyle/>
          <a:p>
            <a:r>
              <a:rPr lang="en-IN" dirty="0" smtClean="0"/>
              <a:t>One may wonder how printers can pose security risk?</a:t>
            </a:r>
          </a:p>
          <a:p>
            <a:endParaRPr lang="en-IN" dirty="0" smtClean="0"/>
          </a:p>
          <a:p>
            <a:r>
              <a:rPr lang="en-IN" dirty="0" smtClean="0"/>
              <a:t>Printers are generally considered to be hand-held device s although </a:t>
            </a:r>
            <a:r>
              <a:rPr lang="en-IN" dirty="0" err="1" smtClean="0"/>
              <a:t>protable</a:t>
            </a:r>
            <a:r>
              <a:rPr lang="en-IN" dirty="0" smtClean="0"/>
              <a:t> printers are now </a:t>
            </a:r>
            <a:r>
              <a:rPr lang="en-IN" dirty="0" err="1" smtClean="0"/>
              <a:t>avaible</a:t>
            </a:r>
            <a:r>
              <a:rPr lang="en-IN" dirty="0" smtClean="0"/>
              <a:t> in the market.</a:t>
            </a:r>
          </a:p>
          <a:p>
            <a:endParaRPr lang="en-IN" dirty="0" smtClean="0"/>
          </a:p>
          <a:p>
            <a:r>
              <a:rPr lang="en-IN" dirty="0" smtClean="0"/>
              <a:t>Printers too present security challenges; printers are no more than just dump devices especially in the network printer era.</a:t>
            </a:r>
          </a:p>
          <a:p>
            <a:pPr>
              <a:buNone/>
            </a:pPr>
            <a:r>
              <a:rPr lang="en-IN" dirty="0" smtClean="0"/>
              <a:t>                                                                      </a:t>
            </a:r>
            <a:endParaRPr lang="en-IN" dirty="0"/>
          </a:p>
        </p:txBody>
      </p:sp>
    </p:spTree>
    <p:extLst>
      <p:ext uri="{BB962C8B-B14F-4D97-AF65-F5344CB8AC3E}">
        <p14:creationId xmlns:p14="http://schemas.microsoft.com/office/powerpoint/2010/main" val="1315003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533400"/>
          </a:xfrm>
        </p:spPr>
        <p:txBody>
          <a:bodyPr>
            <a:normAutofit fontScale="90000"/>
          </a:bodyPr>
          <a:lstStyle/>
          <a:p>
            <a:endParaRPr lang="en-IN" dirty="0"/>
          </a:p>
        </p:txBody>
      </p:sp>
      <p:sp>
        <p:nvSpPr>
          <p:cNvPr id="3" name="Content Placeholder 2"/>
          <p:cNvSpPr>
            <a:spLocks noGrp="1"/>
          </p:cNvSpPr>
          <p:nvPr>
            <p:ph idx="1"/>
          </p:nvPr>
        </p:nvSpPr>
        <p:spPr>
          <a:xfrm>
            <a:off x="1724025" y="1571624"/>
            <a:ext cx="10248900" cy="4695825"/>
          </a:xfrm>
        </p:spPr>
        <p:txBody>
          <a:bodyPr>
            <a:normAutofit fontScale="92500" lnSpcReduction="10000"/>
          </a:bodyPr>
          <a:lstStyle/>
          <a:p>
            <a:pPr algn="just"/>
            <a:r>
              <a:rPr lang="en-IN" dirty="0" smtClean="0"/>
              <a:t>Normally Printers  are simply installed and, as long as they work, nobody pays any attention to them until it is time to reload paper or replace the toner cartridge.</a:t>
            </a:r>
          </a:p>
          <a:p>
            <a:pPr algn="just"/>
            <a:endParaRPr lang="en-IN" dirty="0" smtClean="0"/>
          </a:p>
          <a:p>
            <a:pPr algn="just"/>
            <a:r>
              <a:rPr lang="en-IN" dirty="0" smtClean="0"/>
              <a:t>It should be noted that most of these printers are dormant bombs, ripe for any simple attack by even the most novice hacker.</a:t>
            </a:r>
          </a:p>
          <a:p>
            <a:pPr algn="just"/>
            <a:endParaRPr lang="en-IN" dirty="0" smtClean="0"/>
          </a:p>
          <a:p>
            <a:pPr algn="just"/>
            <a:r>
              <a:rPr lang="en-IN" dirty="0" smtClean="0"/>
              <a:t>Some printers have embedded windows systems that are interfacing the network.</a:t>
            </a:r>
          </a:p>
          <a:p>
            <a:pPr algn="just"/>
            <a:endParaRPr lang="en-IN" dirty="0" smtClean="0"/>
          </a:p>
          <a:p>
            <a:pPr algn="just"/>
            <a:r>
              <a:rPr lang="en-IN" dirty="0" smtClean="0"/>
              <a:t>Modern day printers have computer-like characteristics with internal storage, FTP uploading, Simple Network Management Protocol ( SNMP).</a:t>
            </a:r>
          </a:p>
          <a:p>
            <a:pPr algn="just"/>
            <a:endParaRPr lang="en-IN" dirty="0" smtClean="0"/>
          </a:p>
          <a:p>
            <a:pPr algn="just"/>
            <a:endParaRPr lang="en-IN" dirty="0"/>
          </a:p>
        </p:txBody>
      </p:sp>
    </p:spTree>
    <p:extLst>
      <p:ext uri="{BB962C8B-B14F-4D97-AF65-F5344CB8AC3E}">
        <p14:creationId xmlns:p14="http://schemas.microsoft.com/office/powerpoint/2010/main" val="2211242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762000"/>
          </a:xfrm>
        </p:spPr>
        <p:txBody>
          <a:bodyPr>
            <a:normAutofit/>
          </a:bodyPr>
          <a:lstStyle/>
          <a:p>
            <a:endParaRPr lang="en-IN" dirty="0"/>
          </a:p>
        </p:txBody>
      </p:sp>
      <p:sp>
        <p:nvSpPr>
          <p:cNvPr id="3" name="Content Placeholder 2"/>
          <p:cNvSpPr>
            <a:spLocks noGrp="1"/>
          </p:cNvSpPr>
          <p:nvPr>
            <p:ph idx="1"/>
          </p:nvPr>
        </p:nvSpPr>
        <p:spPr>
          <a:xfrm>
            <a:off x="1695450" y="1447800"/>
            <a:ext cx="10206038" cy="4810125"/>
          </a:xfrm>
        </p:spPr>
        <p:txBody>
          <a:bodyPr>
            <a:normAutofit/>
          </a:bodyPr>
          <a:lstStyle/>
          <a:p>
            <a:pPr algn="just"/>
            <a:r>
              <a:rPr lang="en-IN" dirty="0" smtClean="0"/>
              <a:t>Most of the multifunctional printers </a:t>
            </a:r>
            <a:r>
              <a:rPr lang="en-IN" dirty="0" err="1" smtClean="0"/>
              <a:t>canperform</a:t>
            </a:r>
            <a:r>
              <a:rPr lang="en-IN" dirty="0" smtClean="0"/>
              <a:t> one or more of </a:t>
            </a:r>
            <a:r>
              <a:rPr lang="en-IN" dirty="0" err="1" smtClean="0"/>
              <a:t>thes</a:t>
            </a:r>
            <a:r>
              <a:rPr lang="en-IN" dirty="0" smtClean="0"/>
              <a:t> tasks like </a:t>
            </a:r>
          </a:p>
          <a:p>
            <a:pPr lvl="1" algn="just"/>
            <a:r>
              <a:rPr lang="en-IN" dirty="0" smtClean="0"/>
              <a:t>Sending E-Mail</a:t>
            </a:r>
          </a:p>
          <a:p>
            <a:pPr lvl="1" algn="just"/>
            <a:r>
              <a:rPr lang="en-IN" dirty="0" smtClean="0"/>
              <a:t>Sending fax</a:t>
            </a:r>
          </a:p>
          <a:p>
            <a:pPr lvl="1" algn="just"/>
            <a:r>
              <a:rPr lang="en-IN" dirty="0" smtClean="0"/>
              <a:t>Printing</a:t>
            </a:r>
          </a:p>
          <a:p>
            <a:pPr lvl="1" algn="just"/>
            <a:r>
              <a:rPr lang="en-IN" dirty="0" smtClean="0"/>
              <a:t>Photocopying</a:t>
            </a:r>
          </a:p>
          <a:p>
            <a:pPr lvl="1" algn="just"/>
            <a:endParaRPr lang="en-IN" dirty="0" smtClean="0"/>
          </a:p>
          <a:p>
            <a:pPr marL="0" lvl="1" indent="0" algn="just">
              <a:tabLst>
                <a:tab pos="0" algn="l"/>
              </a:tabLst>
            </a:pPr>
            <a:r>
              <a:rPr lang="en-IN" dirty="0" smtClean="0"/>
              <a:t>Confidential/sensitive data can flow to printers which often escape security attention.</a:t>
            </a:r>
          </a:p>
          <a:p>
            <a:pPr marL="0" lvl="1" indent="0" algn="just">
              <a:tabLst>
                <a:tab pos="0" algn="l"/>
              </a:tabLst>
            </a:pPr>
            <a:endParaRPr lang="en-IN" dirty="0" smtClean="0"/>
          </a:p>
          <a:p>
            <a:pPr marL="0" lvl="1" indent="0" algn="just">
              <a:tabLst>
                <a:tab pos="0" algn="l"/>
              </a:tabLst>
            </a:pPr>
            <a:r>
              <a:rPr lang="en-IN" dirty="0" smtClean="0"/>
              <a:t>  At a minimum, hackers can access </a:t>
            </a:r>
            <a:r>
              <a:rPr lang="en-IN" dirty="0" err="1" smtClean="0"/>
              <a:t>clasified</a:t>
            </a:r>
            <a:r>
              <a:rPr lang="en-IN" dirty="0" smtClean="0"/>
              <a:t> information sent to the printers.</a:t>
            </a:r>
            <a:endParaRPr lang="en-IN" dirty="0"/>
          </a:p>
        </p:txBody>
      </p:sp>
    </p:spTree>
    <p:extLst>
      <p:ext uri="{BB962C8B-B14F-4D97-AF65-F5344CB8AC3E}">
        <p14:creationId xmlns:p14="http://schemas.microsoft.com/office/powerpoint/2010/main" val="3556623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533400"/>
          </a:xfrm>
        </p:spPr>
        <p:txBody>
          <a:bodyPr>
            <a:normAutofit fontScale="90000"/>
          </a:bodyPr>
          <a:lstStyle/>
          <a:p>
            <a:endParaRPr lang="en-IN" dirty="0"/>
          </a:p>
        </p:txBody>
      </p:sp>
      <p:sp>
        <p:nvSpPr>
          <p:cNvPr id="3" name="Content Placeholder 2"/>
          <p:cNvSpPr>
            <a:spLocks noGrp="1"/>
          </p:cNvSpPr>
          <p:nvPr>
            <p:ph idx="1"/>
          </p:nvPr>
        </p:nvSpPr>
        <p:spPr>
          <a:xfrm>
            <a:off x="1638299" y="1362075"/>
            <a:ext cx="10348913" cy="4967288"/>
          </a:xfrm>
        </p:spPr>
        <p:txBody>
          <a:bodyPr>
            <a:normAutofit/>
          </a:bodyPr>
          <a:lstStyle/>
          <a:p>
            <a:pPr algn="just"/>
            <a:r>
              <a:rPr lang="en-IN" dirty="0" smtClean="0"/>
              <a:t>Possible attacks though printer are as </a:t>
            </a:r>
            <a:r>
              <a:rPr lang="en-IN" dirty="0" smtClean="0"/>
              <a:t>follow:</a:t>
            </a:r>
          </a:p>
          <a:p>
            <a:pPr marL="457200" lvl="1" indent="0" algn="just">
              <a:buNone/>
            </a:pPr>
            <a:r>
              <a:rPr lang="en-IN" dirty="0" smtClean="0"/>
              <a:t>1. modifying IP address of the printers to an unused address on the same subnet.</a:t>
            </a:r>
          </a:p>
          <a:p>
            <a:pPr marL="457200" lvl="1" indent="0" algn="just">
              <a:buNone/>
            </a:pPr>
            <a:r>
              <a:rPr lang="en-IN" dirty="0" smtClean="0"/>
              <a:t>2</a:t>
            </a:r>
            <a:r>
              <a:rPr lang="en-IN" dirty="0" smtClean="0"/>
              <a:t>. Changing IP address of the target machine to the previous IP address of the printer.</a:t>
            </a:r>
          </a:p>
          <a:p>
            <a:pPr marL="457200" lvl="1" indent="0" algn="just">
              <a:buNone/>
            </a:pPr>
            <a:r>
              <a:rPr lang="en-IN" dirty="0" smtClean="0"/>
              <a:t>3</a:t>
            </a:r>
            <a:r>
              <a:rPr lang="en-IN" dirty="0" smtClean="0"/>
              <a:t>. Capturing all traffic sent over port 9100 to the IP address to which end users are configured to print. The attacker can keep collecting print jobs until it is found out.</a:t>
            </a:r>
          </a:p>
          <a:p>
            <a:pPr marL="457200" lvl="1" indent="0" algn="just">
              <a:buNone/>
            </a:pPr>
            <a:r>
              <a:rPr lang="en-IN" dirty="0" smtClean="0"/>
              <a:t>4. Forwarding all print jobs onto the new </a:t>
            </a:r>
            <a:r>
              <a:rPr lang="en-IN" dirty="0" err="1" smtClean="0"/>
              <a:t>Ip</a:t>
            </a:r>
            <a:r>
              <a:rPr lang="en-IN" dirty="0" smtClean="0"/>
              <a:t> address of the printer, when the end-user who submitted the job goes to the printer in question to collect the print job, he/she finds that it has been processed as normal.</a:t>
            </a:r>
          </a:p>
          <a:p>
            <a:pPr marL="0" lvl="1" indent="0" algn="just"/>
            <a:endParaRPr lang="en-IN" dirty="0" smtClean="0"/>
          </a:p>
          <a:p>
            <a:pPr marL="0" lvl="1" indent="0" algn="just"/>
            <a:r>
              <a:rPr lang="en-IN" dirty="0" smtClean="0"/>
              <a:t>All this happens so fast that the end-user would hardly suspect anything.</a:t>
            </a:r>
          </a:p>
          <a:p>
            <a:pPr lvl="1" algn="just"/>
            <a:endParaRPr lang="en-IN" dirty="0" smtClean="0"/>
          </a:p>
          <a:p>
            <a:pPr lvl="1" algn="just"/>
            <a:endParaRPr lang="en-IN" dirty="0" smtClean="0"/>
          </a:p>
          <a:p>
            <a:pPr lvl="1" algn="just"/>
            <a:endParaRPr lang="en-IN" dirty="0"/>
          </a:p>
        </p:txBody>
      </p:sp>
    </p:spTree>
    <p:extLst>
      <p:ext uri="{BB962C8B-B14F-4D97-AF65-F5344CB8AC3E}">
        <p14:creationId xmlns:p14="http://schemas.microsoft.com/office/powerpoint/2010/main" val="2313818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52599" y="1557337"/>
            <a:ext cx="10277475" cy="4743451"/>
          </a:xfrm>
        </p:spPr>
        <p:txBody>
          <a:bodyPr>
            <a:normAutofit fontScale="85000" lnSpcReduction="10000"/>
          </a:bodyPr>
          <a:lstStyle/>
          <a:p>
            <a:pPr algn="just"/>
            <a:r>
              <a:rPr lang="en-IN" dirty="0" smtClean="0"/>
              <a:t>Despite  the increase in e-Mail and other forms of digital communications, the use of printed documents continues to increase every year.</a:t>
            </a:r>
          </a:p>
          <a:p>
            <a:pPr algn="just"/>
            <a:endParaRPr lang="en-IN" dirty="0" smtClean="0"/>
          </a:p>
          <a:p>
            <a:pPr algn="just"/>
            <a:r>
              <a:rPr lang="en-IN" dirty="0" smtClean="0"/>
              <a:t>Printed material often comes handy as a useful accessory to many criminals and terrorist acts; for example  document forgery  or document alteration  used for purpose of identity theft, security or recording transactions.</a:t>
            </a:r>
          </a:p>
          <a:p>
            <a:pPr algn="just"/>
            <a:endParaRPr lang="en-IN" dirty="0" smtClean="0"/>
          </a:p>
          <a:p>
            <a:pPr algn="just"/>
            <a:r>
              <a:rPr lang="en-IN" dirty="0" smtClean="0"/>
              <a:t>Investigators would like to determine that a fake invoice or any other business documents  created on a certain brand and model of printers.</a:t>
            </a:r>
          </a:p>
          <a:p>
            <a:pPr algn="just"/>
            <a:endParaRPr lang="en-IN" dirty="0" smtClean="0"/>
          </a:p>
          <a:p>
            <a:pPr algn="just"/>
            <a:r>
              <a:rPr lang="en-IN" dirty="0" smtClean="0"/>
              <a:t>No Two printers of the same model will behave in the exact same pattern. This is because the mechanical parts that make the printer will not be 100% equivalent.</a:t>
            </a:r>
          </a:p>
          <a:p>
            <a:pPr algn="just"/>
            <a:endParaRPr lang="en-IN" dirty="0" smtClean="0"/>
          </a:p>
          <a:p>
            <a:pPr algn="just"/>
            <a:endParaRPr lang="en-IN" dirty="0" smtClean="0"/>
          </a:p>
          <a:p>
            <a:pPr algn="just"/>
            <a:endParaRPr lang="en-IN" dirty="0" smtClean="0"/>
          </a:p>
          <a:p>
            <a:pPr algn="just"/>
            <a:endParaRPr lang="en-IN" dirty="0" smtClean="0"/>
          </a:p>
          <a:p>
            <a:pPr algn="just"/>
            <a:endParaRPr lang="en-IN" dirty="0" smtClean="0"/>
          </a:p>
          <a:p>
            <a:pPr algn="just"/>
            <a:endParaRPr lang="en-IN" dirty="0"/>
          </a:p>
        </p:txBody>
      </p:sp>
    </p:spTree>
    <p:extLst>
      <p:ext uri="{BB962C8B-B14F-4D97-AF65-F5344CB8AC3E}">
        <p14:creationId xmlns:p14="http://schemas.microsoft.com/office/powerpoint/2010/main" val="3660904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r>
              <a:rPr lang="en-IN" dirty="0" smtClean="0"/>
              <a:t>Scanner Forensics</a:t>
            </a:r>
            <a:endParaRPr lang="en-IN" dirty="0"/>
          </a:p>
        </p:txBody>
      </p:sp>
      <p:sp>
        <p:nvSpPr>
          <p:cNvPr id="3" name="Content Placeholder 2"/>
          <p:cNvSpPr>
            <a:spLocks noGrp="1"/>
          </p:cNvSpPr>
          <p:nvPr>
            <p:ph idx="1"/>
          </p:nvPr>
        </p:nvSpPr>
        <p:spPr>
          <a:xfrm>
            <a:off x="1709736" y="1614487"/>
            <a:ext cx="10134601" cy="4500563"/>
          </a:xfrm>
        </p:spPr>
        <p:txBody>
          <a:bodyPr/>
          <a:lstStyle/>
          <a:p>
            <a:r>
              <a:rPr lang="en-IN" dirty="0" smtClean="0"/>
              <a:t>Today, a large portion of digital image data is available. Acquisition devices such as digital cameras and scanners are used to create that data.</a:t>
            </a:r>
          </a:p>
          <a:p>
            <a:endParaRPr lang="en-IN" dirty="0" smtClean="0"/>
          </a:p>
          <a:p>
            <a:r>
              <a:rPr lang="en-IN" dirty="0" smtClean="0"/>
              <a:t>Even while cameras are useful reproduction devices, scanners are used for capturing hardcopy art in more controlled scenarios.</a:t>
            </a:r>
          </a:p>
          <a:p>
            <a:endParaRPr lang="en-IN" dirty="0" smtClean="0"/>
          </a:p>
          <a:p>
            <a:r>
              <a:rPr lang="en-IN" dirty="0" smtClean="0"/>
              <a:t> Moreover, authentication of scanned images is necessity in most forensics scenarios.</a:t>
            </a:r>
            <a:endParaRPr lang="en-IN" dirty="0"/>
          </a:p>
        </p:txBody>
      </p:sp>
    </p:spTree>
    <p:extLst>
      <p:ext uri="{BB962C8B-B14F-4D97-AF65-F5344CB8AC3E}">
        <p14:creationId xmlns:p14="http://schemas.microsoft.com/office/powerpoint/2010/main" val="1290384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063" y="295275"/>
            <a:ext cx="8229600" cy="685800"/>
          </a:xfrm>
        </p:spPr>
        <p:txBody>
          <a:bodyPr>
            <a:normAutofit fontScale="90000"/>
          </a:bodyPr>
          <a:lstStyle/>
          <a:p>
            <a:endParaRPr lang="en-IN" dirty="0"/>
          </a:p>
        </p:txBody>
      </p:sp>
      <p:sp>
        <p:nvSpPr>
          <p:cNvPr id="3" name="Content Placeholder 2"/>
          <p:cNvSpPr>
            <a:spLocks noGrp="1"/>
          </p:cNvSpPr>
          <p:nvPr>
            <p:ph idx="1"/>
          </p:nvPr>
        </p:nvSpPr>
        <p:spPr>
          <a:xfrm>
            <a:off x="1681163" y="1576388"/>
            <a:ext cx="10234612" cy="4852988"/>
          </a:xfrm>
        </p:spPr>
        <p:txBody>
          <a:bodyPr>
            <a:normAutofit fontScale="92500" lnSpcReduction="20000"/>
          </a:bodyPr>
          <a:lstStyle/>
          <a:p>
            <a:pPr algn="just"/>
            <a:r>
              <a:rPr lang="en-IN" dirty="0" smtClean="0"/>
              <a:t>Even if only scanned image samples are used, with a robust scanner identifier it should be possible to determine the brand/model of the scanner used to capture individual scanned images.</a:t>
            </a:r>
          </a:p>
          <a:p>
            <a:pPr algn="just"/>
            <a:endParaRPr lang="en-IN" dirty="0" smtClean="0"/>
          </a:p>
          <a:p>
            <a:pPr algn="just"/>
            <a:r>
              <a:rPr lang="en-IN" dirty="0" smtClean="0"/>
              <a:t>An approach for such scanner identification is based on statistical features of scanning noise.</a:t>
            </a:r>
          </a:p>
          <a:p>
            <a:pPr algn="just"/>
            <a:endParaRPr lang="en-IN" dirty="0" smtClean="0"/>
          </a:p>
          <a:p>
            <a:pPr algn="just"/>
            <a:r>
              <a:rPr lang="en-IN" dirty="0" smtClean="0"/>
              <a:t>scanning  noise of the images can be done from multiple perspectives, including image de-noising, wavelet analysis, and neighbourhood prediction.</a:t>
            </a:r>
          </a:p>
          <a:p>
            <a:pPr algn="just"/>
            <a:endParaRPr lang="en-IN" dirty="0" smtClean="0"/>
          </a:p>
          <a:p>
            <a:pPr algn="just"/>
            <a:r>
              <a:rPr lang="en-IN" dirty="0" smtClean="0"/>
              <a:t>Whenever a new digital device enters the market, a forensics methodology has to evolve to deal </a:t>
            </a:r>
            <a:r>
              <a:rPr lang="en-IN" dirty="0" err="1" smtClean="0"/>
              <a:t>withit</a:t>
            </a:r>
            <a:r>
              <a:rPr lang="en-IN" dirty="0" smtClean="0"/>
              <a:t>.</a:t>
            </a:r>
            <a:endParaRPr lang="en-IN" dirty="0"/>
          </a:p>
        </p:txBody>
      </p:sp>
    </p:spTree>
    <p:extLst>
      <p:ext uri="{BB962C8B-B14F-4D97-AF65-F5344CB8AC3E}">
        <p14:creationId xmlns:p14="http://schemas.microsoft.com/office/powerpoint/2010/main" val="3467560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r>
              <a:rPr lang="en-IN" dirty="0" smtClean="0"/>
              <a:t>Smart Phone Forensics</a:t>
            </a:r>
            <a:endParaRPr lang="en-IN" dirty="0"/>
          </a:p>
        </p:txBody>
      </p:sp>
      <p:sp>
        <p:nvSpPr>
          <p:cNvPr id="3" name="Content Placeholder 2"/>
          <p:cNvSpPr>
            <a:spLocks noGrp="1"/>
          </p:cNvSpPr>
          <p:nvPr>
            <p:ph idx="1"/>
          </p:nvPr>
        </p:nvSpPr>
        <p:spPr>
          <a:xfrm>
            <a:off x="1709736" y="1519237"/>
            <a:ext cx="10277475" cy="4824413"/>
          </a:xfrm>
        </p:spPr>
        <p:txBody>
          <a:bodyPr>
            <a:normAutofit fontScale="92500" lnSpcReduction="10000"/>
          </a:bodyPr>
          <a:lstStyle/>
          <a:p>
            <a:r>
              <a:rPr lang="en-IN" dirty="0" smtClean="0"/>
              <a:t>The main reason for rising popularity of Smart phone is their high functionality that comes in a relatively low-cost device.</a:t>
            </a:r>
          </a:p>
          <a:p>
            <a:endParaRPr lang="en-IN" dirty="0" smtClean="0"/>
          </a:p>
          <a:p>
            <a:r>
              <a:rPr lang="en-IN" dirty="0" smtClean="0"/>
              <a:t>The market of smart phones is growing rapidly, better than that for mobile phone market.</a:t>
            </a:r>
          </a:p>
          <a:p>
            <a:endParaRPr lang="en-IN" dirty="0" smtClean="0"/>
          </a:p>
          <a:p>
            <a:r>
              <a:rPr lang="en-IN" dirty="0" smtClean="0"/>
              <a:t>Feature-wise a Smartphone is a hand-held pc. It has various facilities</a:t>
            </a:r>
          </a:p>
          <a:p>
            <a:pPr lvl="1"/>
            <a:r>
              <a:rPr lang="en-IN" dirty="0" smtClean="0"/>
              <a:t> It works as a cell phone</a:t>
            </a:r>
          </a:p>
          <a:p>
            <a:pPr lvl="1"/>
            <a:r>
              <a:rPr lang="en-IN" dirty="0" smtClean="0"/>
              <a:t>It has got a full-fledged address book, planner, messenger,  photo and video camera.</a:t>
            </a:r>
          </a:p>
          <a:p>
            <a:pPr lvl="1"/>
            <a:r>
              <a:rPr lang="en-IN" dirty="0" smtClean="0"/>
              <a:t>It has GPS facility</a:t>
            </a:r>
          </a:p>
          <a:p>
            <a:pPr lvl="1"/>
            <a:r>
              <a:rPr lang="en-IN" dirty="0" smtClean="0"/>
              <a:t>Web based applications can be accessed</a:t>
            </a:r>
          </a:p>
          <a:p>
            <a:pPr lvl="1"/>
            <a:r>
              <a:rPr lang="en-IN" dirty="0" smtClean="0"/>
              <a:t>It is a platform for  third party applications.</a:t>
            </a:r>
            <a:endParaRPr lang="en-IN" dirty="0"/>
          </a:p>
        </p:txBody>
      </p:sp>
    </p:spTree>
    <p:extLst>
      <p:ext uri="{BB962C8B-B14F-4D97-AF65-F5344CB8AC3E}">
        <p14:creationId xmlns:p14="http://schemas.microsoft.com/office/powerpoint/2010/main" val="66233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24024" y="1447800"/>
            <a:ext cx="10206039" cy="4052888"/>
          </a:xfrm>
        </p:spPr>
        <p:txBody>
          <a:bodyPr/>
          <a:lstStyle/>
          <a:p>
            <a:r>
              <a:rPr lang="en-IN" dirty="0" smtClean="0"/>
              <a:t> Enterprises evaluate Smartphone's as the main device for certain types of field workers for the following three reasons:</a:t>
            </a:r>
          </a:p>
          <a:p>
            <a:endParaRPr lang="en-IN" dirty="0" smtClean="0"/>
          </a:p>
          <a:p>
            <a:pPr marL="457200" lvl="1" indent="0">
              <a:buNone/>
            </a:pPr>
            <a:r>
              <a:rPr lang="en-IN" dirty="0" smtClean="0"/>
              <a:t>1. They have an always connected status.</a:t>
            </a:r>
          </a:p>
          <a:p>
            <a:pPr marL="457200" lvl="1" indent="0">
              <a:buNone/>
            </a:pPr>
            <a:r>
              <a:rPr lang="en-IN" dirty="0" smtClean="0"/>
              <a:t>2. They have the ability to act as a user’s primary communication terminal.</a:t>
            </a:r>
          </a:p>
          <a:p>
            <a:pPr marL="457200" lvl="1" indent="0">
              <a:buNone/>
            </a:pPr>
            <a:r>
              <a:rPr lang="en-IN" dirty="0" smtClean="0"/>
              <a:t>3. They can be the platform for mobilizing eEnterprise applications.</a:t>
            </a:r>
            <a:endParaRPr lang="en-IN" dirty="0"/>
          </a:p>
        </p:txBody>
      </p:sp>
    </p:spTree>
    <p:extLst>
      <p:ext uri="{BB962C8B-B14F-4D97-AF65-F5344CB8AC3E}">
        <p14:creationId xmlns:p14="http://schemas.microsoft.com/office/powerpoint/2010/main" val="4056115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38312" y="1447800"/>
            <a:ext cx="10263187" cy="4724400"/>
          </a:xfrm>
        </p:spPr>
        <p:txBody>
          <a:bodyPr>
            <a:normAutofit/>
          </a:bodyPr>
          <a:lstStyle/>
          <a:p>
            <a:r>
              <a:rPr lang="en-IN" dirty="0" smtClean="0"/>
              <a:t>Smartphone has the basic information such as IMEI number, hardware and software version numbers with which the phone operates, and the network information.</a:t>
            </a:r>
          </a:p>
          <a:p>
            <a:endParaRPr lang="en-IN" dirty="0" smtClean="0"/>
          </a:p>
          <a:p>
            <a:r>
              <a:rPr lang="en-IN" dirty="0" smtClean="0"/>
              <a:t>The event log of Smartphone includes records of events such as incoming and outgoing calls, missed alls, history, sent and receive messages history, GPRS and </a:t>
            </a:r>
            <a:r>
              <a:rPr lang="en-IN" dirty="0" err="1" smtClean="0"/>
              <a:t>wi-fi</a:t>
            </a:r>
            <a:r>
              <a:rPr lang="en-IN" dirty="0" smtClean="0"/>
              <a:t> sessions etc.,</a:t>
            </a:r>
          </a:p>
          <a:p>
            <a:endParaRPr lang="en-IN" dirty="0" smtClean="0"/>
          </a:p>
          <a:p>
            <a:r>
              <a:rPr lang="en-IN" dirty="0" smtClean="0"/>
              <a:t>The SIM card of a </a:t>
            </a:r>
            <a:r>
              <a:rPr lang="en-IN" dirty="0" err="1" smtClean="0"/>
              <a:t>smartphone</a:t>
            </a:r>
            <a:r>
              <a:rPr lang="en-IN" dirty="0" smtClean="0"/>
              <a:t> contains International Mobile Subscriber Identity ( IMSI), phone numbers, SMS messages. </a:t>
            </a:r>
          </a:p>
          <a:p>
            <a:endParaRPr lang="en-IN" dirty="0" smtClean="0"/>
          </a:p>
          <a:p>
            <a:endParaRPr lang="en-IN" dirty="0" smtClean="0"/>
          </a:p>
          <a:p>
            <a:endParaRPr lang="en-IN" dirty="0" smtClean="0"/>
          </a:p>
          <a:p>
            <a:endParaRPr lang="en-IN" dirty="0"/>
          </a:p>
        </p:txBody>
      </p:sp>
    </p:spTree>
    <p:extLst>
      <p:ext uri="{BB962C8B-B14F-4D97-AF65-F5344CB8AC3E}">
        <p14:creationId xmlns:p14="http://schemas.microsoft.com/office/powerpoint/2010/main" val="551390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r>
              <a:rPr lang="en-IN" smtClean="0"/>
              <a:t>                                           </a:t>
            </a:r>
            <a:endParaRPr lang="en-IN" dirty="0"/>
          </a:p>
        </p:txBody>
      </p:sp>
      <p:sp>
        <p:nvSpPr>
          <p:cNvPr id="3" name="Content Placeholder 2"/>
          <p:cNvSpPr>
            <a:spLocks noGrp="1"/>
          </p:cNvSpPr>
          <p:nvPr>
            <p:ph idx="1"/>
          </p:nvPr>
        </p:nvSpPr>
        <p:spPr>
          <a:xfrm>
            <a:off x="1752600" y="1447800"/>
            <a:ext cx="10306050" cy="4810125"/>
          </a:xfrm>
        </p:spPr>
        <p:txBody>
          <a:bodyPr>
            <a:normAutofit lnSpcReduction="10000"/>
          </a:bodyPr>
          <a:lstStyle/>
          <a:p>
            <a:pPr algn="just"/>
            <a:r>
              <a:rPr lang="en-IN" dirty="0" smtClean="0"/>
              <a:t>The address book in the </a:t>
            </a:r>
            <a:r>
              <a:rPr lang="en-IN" dirty="0" err="1" smtClean="0"/>
              <a:t>smartphone</a:t>
            </a:r>
            <a:r>
              <a:rPr lang="en-IN" dirty="0" smtClean="0"/>
              <a:t> can hold this information as part of contacts information – Name fields, nick name, photo, personal ringtone, postal address, E-mail address, company, department, job title, etc.,</a:t>
            </a:r>
          </a:p>
          <a:p>
            <a:pPr algn="just"/>
            <a:endParaRPr lang="en-IN" dirty="0" smtClean="0"/>
          </a:p>
          <a:p>
            <a:pPr algn="just"/>
            <a:r>
              <a:rPr lang="en-IN" dirty="0" smtClean="0"/>
              <a:t>The planner in the Smartphone also has people’s task-related information ( task description, deadlines, priority, completion time and data, etc.,).</a:t>
            </a:r>
          </a:p>
          <a:p>
            <a:pPr algn="just"/>
            <a:endParaRPr lang="en-IN" dirty="0" smtClean="0"/>
          </a:p>
          <a:p>
            <a:pPr algn="just"/>
            <a:r>
              <a:rPr lang="en-IN" dirty="0" smtClean="0"/>
              <a:t>Besides lost personal and sensitive information in the event of the Smartphone being stolen, it also gives avenues to investigators for forensics analysis in the case of crime.</a:t>
            </a:r>
          </a:p>
          <a:p>
            <a:pPr algn="just"/>
            <a:endParaRPr lang="en-IN" dirty="0"/>
          </a:p>
        </p:txBody>
      </p:sp>
    </p:spTree>
    <p:extLst>
      <p:ext uri="{BB962C8B-B14F-4D97-AF65-F5344CB8AC3E}">
        <p14:creationId xmlns:p14="http://schemas.microsoft.com/office/powerpoint/2010/main" val="2166847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r>
              <a:rPr lang="en-IN" dirty="0" smtClean="0"/>
              <a:t>iPhone Forensics </a:t>
            </a:r>
            <a:endParaRPr lang="en-IN" dirty="0"/>
          </a:p>
        </p:txBody>
      </p:sp>
      <p:sp>
        <p:nvSpPr>
          <p:cNvPr id="3" name="Content Placeholder 2"/>
          <p:cNvSpPr>
            <a:spLocks noGrp="1"/>
          </p:cNvSpPr>
          <p:nvPr>
            <p:ph idx="1"/>
          </p:nvPr>
        </p:nvSpPr>
        <p:spPr>
          <a:xfrm>
            <a:off x="1695450" y="1447800"/>
            <a:ext cx="10248900" cy="4724400"/>
          </a:xfrm>
        </p:spPr>
        <p:txBody>
          <a:bodyPr/>
          <a:lstStyle/>
          <a:p>
            <a:pPr algn="just"/>
            <a:r>
              <a:rPr lang="en-IN" dirty="0" smtClean="0"/>
              <a:t>iPhone was introduced by Apple Inc. In January 2007. Since then, Apple has sold more than 33 millions </a:t>
            </a:r>
            <a:r>
              <a:rPr lang="en-IN" dirty="0" err="1" smtClean="0"/>
              <a:t>iPhones</a:t>
            </a:r>
            <a:r>
              <a:rPr lang="en-IN" dirty="0" smtClean="0"/>
              <a:t> and has now surpassed RIM(Blackberry) as the third largest provider of </a:t>
            </a:r>
            <a:r>
              <a:rPr lang="en-IN" dirty="0" err="1" smtClean="0"/>
              <a:t>SmartPhones</a:t>
            </a:r>
            <a:r>
              <a:rPr lang="en-IN" dirty="0" smtClean="0"/>
              <a:t>.</a:t>
            </a:r>
          </a:p>
          <a:p>
            <a:pPr algn="just"/>
            <a:endParaRPr lang="en-IN" dirty="0" smtClean="0"/>
          </a:p>
          <a:p>
            <a:pPr algn="just"/>
            <a:r>
              <a:rPr lang="en-IN" dirty="0" smtClean="0"/>
              <a:t>The Apple iPhone already has a significant footprint in forensics investigations, going by the number of cases that appear.</a:t>
            </a:r>
          </a:p>
          <a:p>
            <a:pPr algn="just"/>
            <a:endParaRPr lang="en-IN" dirty="0" smtClean="0"/>
          </a:p>
          <a:p>
            <a:pPr algn="just"/>
            <a:r>
              <a:rPr lang="en-IN" dirty="0" smtClean="0"/>
              <a:t>The iPhone has an active ethical hacking community that is engaged in research and has yielded tools to support forensics investigations.</a:t>
            </a:r>
          </a:p>
          <a:p>
            <a:pPr algn="just"/>
            <a:endParaRPr lang="en-IN" dirty="0" smtClean="0"/>
          </a:p>
          <a:p>
            <a:pPr algn="just"/>
            <a:endParaRPr lang="en-IN" dirty="0"/>
          </a:p>
        </p:txBody>
      </p:sp>
    </p:spTree>
    <p:extLst>
      <p:ext uri="{BB962C8B-B14F-4D97-AF65-F5344CB8AC3E}">
        <p14:creationId xmlns:p14="http://schemas.microsoft.com/office/powerpoint/2010/main" val="2472560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52600" y="1557338"/>
            <a:ext cx="10206038" cy="4429125"/>
          </a:xfrm>
        </p:spPr>
        <p:txBody>
          <a:bodyPr>
            <a:normAutofit/>
          </a:bodyPr>
          <a:lstStyle/>
          <a:p>
            <a:pPr algn="just"/>
            <a:r>
              <a:rPr lang="en-IN" dirty="0" smtClean="0"/>
              <a:t>The iPhone comprises four layers including the core OS, the Core Service API, the Media Layer, and the Cocoa Tough Layer.</a:t>
            </a:r>
          </a:p>
          <a:p>
            <a:pPr algn="just"/>
            <a:endParaRPr lang="en-IN" dirty="0" smtClean="0"/>
          </a:p>
          <a:p>
            <a:pPr algn="just"/>
            <a:r>
              <a:rPr lang="en-IN" dirty="0" smtClean="0"/>
              <a:t>The iPhone is designed to communicate with a computer via an interface called the Apple File Communication (AFC) Protocol.</a:t>
            </a:r>
          </a:p>
          <a:p>
            <a:pPr algn="just"/>
            <a:endParaRPr lang="en-IN" dirty="0" smtClean="0"/>
          </a:p>
          <a:p>
            <a:pPr algn="just"/>
            <a:r>
              <a:rPr lang="en-IN" dirty="0" smtClean="0"/>
              <a:t>This protocol is a serial port protocol that uses a framework called Mobile Device installed with iTunes. This is responsible for things such as copying music and photos and installing firmware updates.</a:t>
            </a:r>
            <a:endParaRPr lang="en-IN" dirty="0"/>
          </a:p>
        </p:txBody>
      </p:sp>
    </p:spTree>
    <p:extLst>
      <p:ext uri="{BB962C8B-B14F-4D97-AF65-F5344CB8AC3E}">
        <p14:creationId xmlns:p14="http://schemas.microsoft.com/office/powerpoint/2010/main" val="3714221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09736" y="1519238"/>
            <a:ext cx="10348913" cy="4567238"/>
          </a:xfrm>
        </p:spPr>
        <p:txBody>
          <a:bodyPr>
            <a:normAutofit/>
          </a:bodyPr>
          <a:lstStyle/>
          <a:p>
            <a:pPr algn="just"/>
            <a:r>
              <a:rPr lang="en-IN" dirty="0" smtClean="0"/>
              <a:t>Like any forensics investigations, there are several approaches to use the acquisition and analysis of information.</a:t>
            </a:r>
          </a:p>
          <a:p>
            <a:pPr algn="just"/>
            <a:endParaRPr lang="en-IN" dirty="0" smtClean="0"/>
          </a:p>
          <a:p>
            <a:pPr algn="just"/>
            <a:r>
              <a:rPr lang="en-IN" dirty="0" smtClean="0"/>
              <a:t>Forensics techniques utilized with iPhone are listed below:</a:t>
            </a:r>
          </a:p>
          <a:p>
            <a:pPr algn="just"/>
            <a:endParaRPr lang="en-IN" dirty="0" smtClean="0"/>
          </a:p>
          <a:p>
            <a:pPr marL="0" indent="0" algn="just">
              <a:buNone/>
            </a:pPr>
            <a:r>
              <a:rPr lang="en-IN" dirty="0" smtClean="0"/>
              <a:t>1. </a:t>
            </a:r>
            <a:r>
              <a:rPr lang="en-IN" b="1" dirty="0" smtClean="0"/>
              <a:t>Acquire data directly from the iPhone: </a:t>
            </a:r>
            <a:r>
              <a:rPr lang="en-IN" dirty="0" smtClean="0"/>
              <a:t>Many analysts prefer this method rather than recovering files from the computer. In this the forensics analysts needs to understand how acquisition occurs if the iPhone is modified in any way and what is the procedure it is unable to acquire.  </a:t>
            </a:r>
            <a:endParaRPr lang="en-IN" dirty="0"/>
          </a:p>
        </p:txBody>
      </p:sp>
    </p:spTree>
    <p:extLst>
      <p:ext uri="{BB962C8B-B14F-4D97-AF65-F5344CB8AC3E}">
        <p14:creationId xmlns:p14="http://schemas.microsoft.com/office/powerpoint/2010/main" val="2225193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52599" y="1447800"/>
            <a:ext cx="10291763" cy="4738688"/>
          </a:xfrm>
        </p:spPr>
        <p:txBody>
          <a:bodyPr>
            <a:normAutofit/>
          </a:bodyPr>
          <a:lstStyle/>
          <a:p>
            <a:pPr marL="0" indent="0" algn="just">
              <a:buNone/>
            </a:pPr>
            <a:r>
              <a:rPr lang="en-IN" dirty="0" smtClean="0"/>
              <a:t>2. </a:t>
            </a:r>
            <a:r>
              <a:rPr lang="en-IN" b="1" dirty="0" smtClean="0"/>
              <a:t>Acquiring a backup or logical copy of the iPhone file system using Apple’s protocol: </a:t>
            </a:r>
            <a:r>
              <a:rPr lang="en-IN" dirty="0" smtClean="0"/>
              <a:t>With this procedure the analyst can read files form the iPhone using Apple’s synchronization protocol. </a:t>
            </a:r>
          </a:p>
          <a:p>
            <a:pPr algn="just"/>
            <a:r>
              <a:rPr lang="en-IN" dirty="0" smtClean="0"/>
              <a:t>Key information is stored in </a:t>
            </a:r>
            <a:r>
              <a:rPr lang="en-IN" dirty="0" err="1" smtClean="0"/>
              <a:t>SQLite</a:t>
            </a:r>
            <a:r>
              <a:rPr lang="en-IN" dirty="0" smtClean="0"/>
              <a:t> databases. By using this protocol by querying the database directly, the analyst, most of the times, is able to recover more information such as deleted messages and E-Mail messages.</a:t>
            </a:r>
          </a:p>
          <a:p>
            <a:pPr marL="0" indent="0" algn="just">
              <a:buNone/>
            </a:pPr>
            <a:r>
              <a:rPr lang="en-IN" dirty="0" smtClean="0"/>
              <a:t>3. </a:t>
            </a:r>
            <a:r>
              <a:rPr lang="en-IN" b="1" dirty="0" smtClean="0"/>
              <a:t>Physical bit-by-bit copy:  </a:t>
            </a:r>
            <a:r>
              <a:rPr lang="en-IN" dirty="0" smtClean="0"/>
              <a:t>a physical bit-by-bit copy of file system is created. This approach has a potential for largest amount of data recovered, the process is quite complicated and require modifying the system partition of the iPhone.</a:t>
            </a:r>
            <a:endParaRPr lang="en-IN" b="1" dirty="0"/>
          </a:p>
        </p:txBody>
      </p:sp>
    </p:spTree>
    <p:extLst>
      <p:ext uri="{BB962C8B-B14F-4D97-AF65-F5344CB8AC3E}">
        <p14:creationId xmlns:p14="http://schemas.microsoft.com/office/powerpoint/2010/main" val="2587410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normAutofit fontScale="90000"/>
          </a:bodyPr>
          <a:lstStyle/>
          <a:p>
            <a:r>
              <a:rPr lang="en-IN" dirty="0" smtClean="0"/>
              <a:t>Challenges in Forensics of the Digital Images and Still Camera</a:t>
            </a:r>
            <a:endParaRPr lang="en-IN" dirty="0"/>
          </a:p>
        </p:txBody>
      </p:sp>
      <p:sp>
        <p:nvSpPr>
          <p:cNvPr id="3" name="Content Placeholder 2"/>
          <p:cNvSpPr>
            <a:spLocks noGrp="1"/>
          </p:cNvSpPr>
          <p:nvPr>
            <p:ph idx="1"/>
          </p:nvPr>
        </p:nvSpPr>
        <p:spPr>
          <a:xfrm>
            <a:off x="1781175" y="1576388"/>
            <a:ext cx="10248900" cy="4652962"/>
          </a:xfrm>
        </p:spPr>
        <p:txBody>
          <a:bodyPr>
            <a:normAutofit fontScale="92500" lnSpcReduction="10000"/>
          </a:bodyPr>
          <a:lstStyle/>
          <a:p>
            <a:pPr algn="just"/>
            <a:r>
              <a:rPr lang="en-IN" dirty="0" smtClean="0"/>
              <a:t>Forensics image processing, over the years, has expanded to more areas, including questioned documents examination; tire  impression, footwear, and tool mark examination.</a:t>
            </a:r>
          </a:p>
          <a:p>
            <a:pPr algn="just"/>
            <a:endParaRPr lang="en-IN" dirty="0" smtClean="0"/>
          </a:p>
          <a:p>
            <a:pPr algn="just"/>
            <a:r>
              <a:rPr lang="en-IN" dirty="0" smtClean="0"/>
              <a:t>As technology progressed, video analysis moved to digital realm, resulting into new tools and the need for experts with specialized knowledge in image processing. </a:t>
            </a:r>
          </a:p>
          <a:p>
            <a:pPr algn="just"/>
            <a:endParaRPr lang="en-IN" dirty="0" smtClean="0"/>
          </a:p>
          <a:p>
            <a:pPr algn="just"/>
            <a:r>
              <a:rPr lang="en-IN" dirty="0" smtClean="0"/>
              <a:t>Image rendering graphics capabilities allow us to apply Fast Fourier Transformation to eliminate patterned backgrounds, apply </a:t>
            </a:r>
            <a:r>
              <a:rPr lang="en-IN" dirty="0" err="1" smtClean="0"/>
              <a:t>deconvolution</a:t>
            </a:r>
            <a:r>
              <a:rPr lang="en-IN" dirty="0" smtClean="0"/>
              <a:t> to correct motion blur or poor focus and utilize frame averaging to eliminate noise from a sequence of images. </a:t>
            </a:r>
            <a:endParaRPr lang="en-IN" dirty="0"/>
          </a:p>
        </p:txBody>
      </p:sp>
    </p:spTree>
    <p:extLst>
      <p:ext uri="{BB962C8B-B14F-4D97-AF65-F5344CB8AC3E}">
        <p14:creationId xmlns:p14="http://schemas.microsoft.com/office/powerpoint/2010/main" val="795726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695449" y="1447800"/>
            <a:ext cx="10220325" cy="4838700"/>
          </a:xfrm>
        </p:spPr>
        <p:txBody>
          <a:bodyPr/>
          <a:lstStyle/>
          <a:p>
            <a:r>
              <a:rPr lang="en-IN" dirty="0" smtClean="0"/>
              <a:t>During a forensic investigation, the experts may come across a number of digital photographs like property documents, photos of a personal.</a:t>
            </a:r>
          </a:p>
          <a:p>
            <a:endParaRPr lang="en-IN" dirty="0" smtClean="0"/>
          </a:p>
          <a:p>
            <a:r>
              <a:rPr lang="en-IN" dirty="0" smtClean="0"/>
              <a:t>The Integrity of digital image is a paramount in the forensic field. Court makes decisions affecting an individual’s liberty based, in part, on image presented as evidence.</a:t>
            </a:r>
          </a:p>
          <a:p>
            <a:endParaRPr lang="en-IN" dirty="0" smtClean="0"/>
          </a:p>
          <a:p>
            <a:r>
              <a:rPr lang="en-IN" dirty="0" smtClean="0"/>
              <a:t>As it is frequency necessary to make corrections and adjustments to images, it is important to maintain the integrity of images from capture to final usage.</a:t>
            </a:r>
            <a:endParaRPr lang="en-IN" dirty="0"/>
          </a:p>
        </p:txBody>
      </p:sp>
    </p:spTree>
    <p:extLst>
      <p:ext uri="{BB962C8B-B14F-4D97-AF65-F5344CB8AC3E}">
        <p14:creationId xmlns:p14="http://schemas.microsoft.com/office/powerpoint/2010/main" val="949203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695450" y="1557338"/>
            <a:ext cx="10206038" cy="5410200"/>
          </a:xfrm>
        </p:spPr>
        <p:txBody>
          <a:bodyPr/>
          <a:lstStyle/>
          <a:p>
            <a:pPr algn="just"/>
            <a:r>
              <a:rPr lang="en-IN" dirty="0" smtClean="0"/>
              <a:t>With modern image processing technologies and photo processing software tools available, changing/manipulating digital images is no more difficult. </a:t>
            </a:r>
          </a:p>
          <a:p>
            <a:pPr algn="just"/>
            <a:endParaRPr lang="en-IN" dirty="0" smtClean="0"/>
          </a:p>
          <a:p>
            <a:pPr algn="just"/>
            <a:r>
              <a:rPr lang="en-IN" dirty="0" smtClean="0"/>
              <a:t>There are two main interests in “Image Forensics” namely, source identification, and forgery detection.</a:t>
            </a:r>
          </a:p>
          <a:p>
            <a:pPr algn="just"/>
            <a:endParaRPr lang="en-IN" dirty="0" smtClean="0"/>
          </a:p>
          <a:p>
            <a:pPr algn="just"/>
            <a:r>
              <a:rPr lang="en-IN" dirty="0" smtClean="0"/>
              <a:t>Major challenges in identifying Original or Master image, as in digital images there is no digital “Negative”, like Photographic Negative.</a:t>
            </a:r>
            <a:endParaRPr lang="en-IN" dirty="0"/>
          </a:p>
        </p:txBody>
      </p:sp>
    </p:spTree>
    <p:extLst>
      <p:ext uri="{BB962C8B-B14F-4D97-AF65-F5344CB8AC3E}">
        <p14:creationId xmlns:p14="http://schemas.microsoft.com/office/powerpoint/2010/main" val="969170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52599" y="1500187"/>
            <a:ext cx="10163175" cy="4772026"/>
          </a:xfrm>
        </p:spPr>
        <p:txBody>
          <a:bodyPr>
            <a:normAutofit lnSpcReduction="10000"/>
          </a:bodyPr>
          <a:lstStyle/>
          <a:p>
            <a:pPr algn="just"/>
            <a:r>
              <a:rPr lang="en-IN" dirty="0" smtClean="0"/>
              <a:t>It is important to be able to determine the means by which a digital image has been created, for example, digital camera, scanner, generative algorithms, etc,.</a:t>
            </a:r>
          </a:p>
          <a:p>
            <a:pPr algn="just"/>
            <a:endParaRPr lang="en-IN" dirty="0" smtClean="0"/>
          </a:p>
          <a:p>
            <a:pPr algn="just"/>
            <a:r>
              <a:rPr lang="en-IN" dirty="0" smtClean="0"/>
              <a:t>Image source identification may include one of the following approaches:</a:t>
            </a:r>
          </a:p>
          <a:p>
            <a:pPr marL="457200" lvl="1" indent="0" algn="just">
              <a:buNone/>
            </a:pPr>
            <a:r>
              <a:rPr lang="en-IN" dirty="0" smtClean="0"/>
              <a:t>1. Verifying and evaluating the image statistics that are inherent to real-life scenarios and objects.</a:t>
            </a:r>
          </a:p>
          <a:p>
            <a:pPr marL="457200" lvl="1" indent="0" algn="just">
              <a:buNone/>
            </a:pPr>
            <a:r>
              <a:rPr lang="en-IN" dirty="0" smtClean="0"/>
              <a:t>2. detecting, classifying and measuring the qualities of spatial structures ( colour, texture, edge structure) of the image.</a:t>
            </a:r>
          </a:p>
          <a:p>
            <a:pPr marL="457200" lvl="1" indent="0" algn="just">
              <a:buNone/>
            </a:pPr>
            <a:r>
              <a:rPr lang="en-IN" dirty="0" smtClean="0"/>
              <a:t>3. Identifying signatures to detect traces of certain types of operations used in image generation process by possible sources.</a:t>
            </a:r>
            <a:endParaRPr lang="en-IN" dirty="0"/>
          </a:p>
        </p:txBody>
      </p:sp>
    </p:spTree>
    <p:extLst>
      <p:ext uri="{BB962C8B-B14F-4D97-AF65-F5344CB8AC3E}">
        <p14:creationId xmlns:p14="http://schemas.microsoft.com/office/powerpoint/2010/main" val="3506809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219200"/>
          </a:xfrm>
        </p:spPr>
        <p:txBody>
          <a:bodyPr>
            <a:normAutofit fontScale="90000"/>
          </a:bodyPr>
          <a:lstStyle/>
          <a:p>
            <a:r>
              <a:rPr lang="en-IN" dirty="0" smtClean="0"/>
              <a:t>Forensics of the BlackBerry Wireless Devices</a:t>
            </a:r>
            <a:endParaRPr lang="en-IN" dirty="0"/>
          </a:p>
        </p:txBody>
      </p:sp>
      <p:sp>
        <p:nvSpPr>
          <p:cNvPr id="3" name="Content Placeholder 2"/>
          <p:cNvSpPr>
            <a:spLocks noGrp="1"/>
          </p:cNvSpPr>
          <p:nvPr>
            <p:ph idx="1"/>
          </p:nvPr>
        </p:nvSpPr>
        <p:spPr>
          <a:xfrm>
            <a:off x="1981199" y="1524000"/>
            <a:ext cx="10048875" cy="4800600"/>
          </a:xfrm>
        </p:spPr>
        <p:txBody>
          <a:bodyPr>
            <a:normAutofit lnSpcReduction="10000"/>
          </a:bodyPr>
          <a:lstStyle/>
          <a:p>
            <a:pPr algn="just"/>
            <a:r>
              <a:rPr lang="en-IN" dirty="0" smtClean="0"/>
              <a:t>The First Blackberry device was introduced in 1999 – it was meant o be a two way pager. In 2002 the more commonly known Smartphone BlackBerry was released.</a:t>
            </a:r>
          </a:p>
          <a:p>
            <a:pPr algn="just"/>
            <a:endParaRPr lang="en-IN" dirty="0" smtClean="0"/>
          </a:p>
          <a:p>
            <a:pPr algn="just"/>
            <a:r>
              <a:rPr lang="en-IN" dirty="0" smtClean="0"/>
              <a:t>The device supports push E-Mail, mobile telephone, text messaging, Internet faxing, web browsing and other wireless information services.</a:t>
            </a:r>
          </a:p>
          <a:p>
            <a:pPr algn="just"/>
            <a:endParaRPr lang="en-IN" dirty="0" smtClean="0"/>
          </a:p>
          <a:p>
            <a:pPr algn="just"/>
            <a:r>
              <a:rPr lang="en-IN" dirty="0" smtClean="0"/>
              <a:t>The BlackBerry device is equipped with the Research In Motion (RIM) software implementation of proprietary wireless-oriented protocols;</a:t>
            </a:r>
            <a:endParaRPr lang="en-IN" dirty="0"/>
          </a:p>
        </p:txBody>
      </p:sp>
    </p:spTree>
    <p:extLst>
      <p:ext uri="{BB962C8B-B14F-4D97-AF65-F5344CB8AC3E}">
        <p14:creationId xmlns:p14="http://schemas.microsoft.com/office/powerpoint/2010/main" val="1909755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695449" y="1447800"/>
            <a:ext cx="10291763" cy="4695825"/>
          </a:xfrm>
        </p:spPr>
        <p:txBody>
          <a:bodyPr>
            <a:normAutofit lnSpcReduction="10000"/>
          </a:bodyPr>
          <a:lstStyle/>
          <a:p>
            <a:pPr algn="just"/>
            <a:r>
              <a:rPr lang="en-IN" dirty="0" smtClean="0"/>
              <a:t>The BlackBerry (RIM) device is always ON and participants in some form of wireless push technology. As a result of this, the BlackBerry (RIM) does not require some form of desktop synchronization like PDA does. </a:t>
            </a:r>
          </a:p>
          <a:p>
            <a:pPr algn="just"/>
            <a:endParaRPr lang="en-IN" dirty="0" smtClean="0"/>
          </a:p>
          <a:p>
            <a:pPr algn="just"/>
            <a:r>
              <a:rPr lang="en-IN" dirty="0" smtClean="0"/>
              <a:t>The BlackBerry (RIM) device has an integrated Wireless modem allowing device to communicate over the BellSouth Intelligent Wireless Network. </a:t>
            </a:r>
          </a:p>
          <a:p>
            <a:pPr algn="just"/>
            <a:endParaRPr lang="en-IN" dirty="0" smtClean="0"/>
          </a:p>
          <a:p>
            <a:pPr algn="just"/>
            <a:r>
              <a:rPr lang="en-IN" dirty="0" smtClean="0"/>
              <a:t>The device uses a strong encryption scheme to safeguard confidentiality and authenticity of data.</a:t>
            </a:r>
          </a:p>
          <a:p>
            <a:pPr algn="just"/>
            <a:endParaRPr lang="en-IN" dirty="0"/>
          </a:p>
        </p:txBody>
      </p:sp>
    </p:spTree>
    <p:extLst>
      <p:ext uri="{BB962C8B-B14F-4D97-AF65-F5344CB8AC3E}">
        <p14:creationId xmlns:p14="http://schemas.microsoft.com/office/powerpoint/2010/main" val="2240756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809750" y="1447800"/>
            <a:ext cx="10191750" cy="4095750"/>
          </a:xfrm>
        </p:spPr>
        <p:txBody>
          <a:bodyPr/>
          <a:lstStyle/>
          <a:p>
            <a:pPr algn="just"/>
            <a:r>
              <a:rPr lang="en-IN" dirty="0" smtClean="0"/>
              <a:t>From  a forensics perspective the RIM device shares the same evidentiary  value as any other PDA. However, the RIM is always ON; wireless push technology adds a unique dimension to forensics examination.</a:t>
            </a:r>
          </a:p>
          <a:p>
            <a:pPr algn="just"/>
            <a:endParaRPr lang="en-IN" dirty="0" smtClean="0"/>
          </a:p>
          <a:p>
            <a:pPr algn="just"/>
            <a:r>
              <a:rPr lang="en-IN" dirty="0" smtClean="0"/>
              <a:t>Changing and updating data no longer requires  desktop synchronization. The more time it spends with its owner, the grater the chance that it will more accurately reflect and tell a story about that person.</a:t>
            </a:r>
          </a:p>
          <a:p>
            <a:pPr algn="just"/>
            <a:endParaRPr lang="en-IN" dirty="0" smtClean="0"/>
          </a:p>
          <a:p>
            <a:pPr algn="just"/>
            <a:endParaRPr lang="en-IN" dirty="0"/>
          </a:p>
        </p:txBody>
      </p:sp>
    </p:spTree>
    <p:extLst>
      <p:ext uri="{BB962C8B-B14F-4D97-AF65-F5344CB8AC3E}">
        <p14:creationId xmlns:p14="http://schemas.microsoft.com/office/powerpoint/2010/main" val="1863651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09737" y="1557337"/>
            <a:ext cx="10320338" cy="4314826"/>
          </a:xfrm>
        </p:spPr>
        <p:txBody>
          <a:bodyPr/>
          <a:lstStyle/>
          <a:p>
            <a:pPr algn="just"/>
            <a:r>
              <a:rPr lang="en-IN" dirty="0" smtClean="0"/>
              <a:t>The care to be taken during the acquisition phase in BlackBerry forensics is :</a:t>
            </a:r>
          </a:p>
          <a:p>
            <a:pPr algn="just"/>
            <a:endParaRPr lang="en-IN" dirty="0" smtClean="0"/>
          </a:p>
          <a:p>
            <a:pPr marL="0" indent="0" algn="just">
              <a:buNone/>
            </a:pPr>
            <a:r>
              <a:rPr lang="en-IN" dirty="0" smtClean="0"/>
              <a:t>1. If the RIM is OFF, leave it OFF: if the unit is OFF at the time of acquisition, the investigators needs to take the unit to the shielded location before attempting to switch ON. If the shield location is nor readily available, a safe room should be used to block the signal well enough to prevent the data push.  One important thing to consider is having a unit available that can be used to walk the network and area to test the coverage, looking for weak coverage areas to use.</a:t>
            </a:r>
            <a:endParaRPr lang="en-IN" dirty="0"/>
          </a:p>
        </p:txBody>
      </p:sp>
    </p:spTree>
    <p:extLst>
      <p:ext uri="{BB962C8B-B14F-4D97-AF65-F5344CB8AC3E}">
        <p14:creationId xmlns:p14="http://schemas.microsoft.com/office/powerpoint/2010/main" val="1080940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24025" y="1600200"/>
            <a:ext cx="10148888" cy="4257675"/>
          </a:xfrm>
        </p:spPr>
        <p:txBody>
          <a:bodyPr/>
          <a:lstStyle/>
          <a:p>
            <a:pPr marL="0" indent="0" algn="just">
              <a:buNone/>
            </a:pPr>
            <a:r>
              <a:rPr lang="en-IN" dirty="0" smtClean="0"/>
              <a:t>2. IF the RIM is ON, turn the radio OFF: IF the blackberry device under examination is in the ON state then you need to take the device to secure location and disable or turn OFF the radio before beginning the forensics examination.</a:t>
            </a:r>
          </a:p>
          <a:p>
            <a:pPr algn="just"/>
            <a:endParaRPr lang="en-IN" dirty="0" smtClean="0"/>
          </a:p>
          <a:p>
            <a:pPr marL="0" indent="0" algn="just">
              <a:buNone/>
            </a:pPr>
            <a:r>
              <a:rPr lang="en-IN" dirty="0" smtClean="0"/>
              <a:t>3. If RIM is password protected, get the password: When it comes to password protection one important thing to consider is the fact that the password itself is not stored on the device. The only thing that is stored on the device is a hashing of the plain text password. This is similar to the storage used by the majority of OS out there. </a:t>
            </a:r>
          </a:p>
          <a:p>
            <a:pPr algn="just"/>
            <a:endParaRPr lang="en-IN" dirty="0" smtClean="0"/>
          </a:p>
          <a:p>
            <a:pPr algn="just"/>
            <a:endParaRPr lang="en-IN" dirty="0"/>
          </a:p>
        </p:txBody>
      </p:sp>
    </p:spTree>
    <p:extLst>
      <p:ext uri="{BB962C8B-B14F-4D97-AF65-F5344CB8AC3E}">
        <p14:creationId xmlns:p14="http://schemas.microsoft.com/office/powerpoint/2010/main" val="2715431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85800"/>
          </a:xfrm>
        </p:spPr>
        <p:txBody>
          <a:bodyPr>
            <a:normAutofit fontScale="90000"/>
          </a:bodyPr>
          <a:lstStyle/>
          <a:p>
            <a:endParaRPr lang="en-IN" dirty="0"/>
          </a:p>
        </p:txBody>
      </p:sp>
      <p:sp>
        <p:nvSpPr>
          <p:cNvPr id="3" name="Content Placeholder 2"/>
          <p:cNvSpPr>
            <a:spLocks noGrp="1"/>
          </p:cNvSpPr>
          <p:nvPr>
            <p:ph idx="1"/>
          </p:nvPr>
        </p:nvSpPr>
        <p:spPr>
          <a:xfrm>
            <a:off x="1709737" y="1643062"/>
            <a:ext cx="10206037" cy="4171951"/>
          </a:xfrm>
        </p:spPr>
        <p:txBody>
          <a:bodyPr/>
          <a:lstStyle/>
          <a:p>
            <a:pPr algn="just"/>
            <a:r>
              <a:rPr lang="en-IN" dirty="0" smtClean="0"/>
              <a:t>As the BlackBerry is an always ON push message device, information can be pushed to the unit through its radio antenna at any time, potentially overwriting previous “ deleted” data. </a:t>
            </a:r>
          </a:p>
          <a:p>
            <a:pPr algn="just"/>
            <a:endParaRPr lang="en-IN" dirty="0" smtClean="0"/>
          </a:p>
          <a:p>
            <a:pPr algn="just"/>
            <a:r>
              <a:rPr lang="en-IN" dirty="0" smtClean="0"/>
              <a:t>Without warning, applications such as E-Mail client, instant messaging, wireless calendar and any number of third party applications may receive information which makes the forensics investigators attempt to obtain unaltered file system much more difficult.</a:t>
            </a:r>
            <a:endParaRPr lang="en-IN" dirty="0"/>
          </a:p>
        </p:txBody>
      </p:sp>
    </p:spTree>
    <p:extLst>
      <p:ext uri="{BB962C8B-B14F-4D97-AF65-F5344CB8AC3E}">
        <p14:creationId xmlns:p14="http://schemas.microsoft.com/office/powerpoint/2010/main" val="4224211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487</TotalTime>
  <Words>3359</Words>
  <Application>Microsoft Office PowerPoint</Application>
  <PresentationFormat>Widescreen</PresentationFormat>
  <Paragraphs>251</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CYBER SECURITY</vt:lpstr>
      <vt:lpstr>  UNIT-4 Forensic of Hand-Held Devices</vt:lpstr>
      <vt:lpstr>Syllabus</vt:lpstr>
      <vt:lpstr>Learning Objectives</vt:lpstr>
      <vt:lpstr>Introduction</vt:lpstr>
      <vt:lpstr>Understanding Cell Phone Working Characteristics</vt:lpstr>
      <vt:lpstr>Understanding the types of cellular Networks </vt:lpstr>
      <vt:lpstr>NTT DoCoMo</vt:lpstr>
      <vt:lpstr>Cell Phones: Hardware and Software features</vt:lpstr>
      <vt:lpstr>Hand-held Devices and Digital Forensics</vt:lpstr>
      <vt:lpstr>Mobile Phone Forensics</vt:lpstr>
      <vt:lpstr>PowerPoint Presentation</vt:lpstr>
      <vt:lpstr>PowerPoint Presentation</vt:lpstr>
      <vt:lpstr>PowerPoint Presentation</vt:lpstr>
      <vt:lpstr>PDA Forensics</vt:lpstr>
      <vt:lpstr>PowerPoint Presentation</vt:lpstr>
      <vt:lpstr>PowerPoint Presentation</vt:lpstr>
      <vt:lpstr>PowerPoint Presentation</vt:lpstr>
      <vt:lpstr>Printer Forensics</vt:lpstr>
      <vt:lpstr>PowerPoint Presentation</vt:lpstr>
      <vt:lpstr>PowerPoint Presentation</vt:lpstr>
      <vt:lpstr>PowerPoint Presentation</vt:lpstr>
      <vt:lpstr>PowerPoint Presentation</vt:lpstr>
      <vt:lpstr>Scanner Forensics</vt:lpstr>
      <vt:lpstr>PowerPoint Presentation</vt:lpstr>
      <vt:lpstr>Smart Phone Forensics</vt:lpstr>
      <vt:lpstr>PowerPoint Presentation</vt:lpstr>
      <vt:lpstr>PowerPoint Presentation</vt:lpstr>
      <vt:lpstr>                                           </vt:lpstr>
      <vt:lpstr>iPhone Forensics </vt:lpstr>
      <vt:lpstr>PowerPoint Presentation</vt:lpstr>
      <vt:lpstr>PowerPoint Presentation</vt:lpstr>
      <vt:lpstr>PowerPoint Presentation</vt:lpstr>
      <vt:lpstr>Challenges in Forensics of the Digital Images and Still Camera</vt:lpstr>
      <vt:lpstr>PowerPoint Presentation</vt:lpstr>
      <vt:lpstr>PowerPoint Presentation</vt:lpstr>
      <vt:lpstr>PowerPoint Presentation</vt:lpstr>
      <vt:lpstr>Forensics of the BlackBerry Wireless Devices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28</cp:revision>
  <dcterms:created xsi:type="dcterms:W3CDTF">2019-12-07T06:31:25Z</dcterms:created>
  <dcterms:modified xsi:type="dcterms:W3CDTF">2020-05-09T01:53:19Z</dcterms:modified>
</cp:coreProperties>
</file>